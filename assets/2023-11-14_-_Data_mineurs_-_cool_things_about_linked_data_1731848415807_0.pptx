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4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5.xml" ContentType="application/vnd.openxmlformats-officedocument.theme+xml"/>
  <Override PartName="/ppt/slideLayouts/slideLayout25.xml" ContentType="application/vnd.openxmlformats-officedocument.presentationml.slideLayout+xml"/>
  <Override PartName="/ppt/theme/theme6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66" r:id="rId5"/>
    <p:sldMasterId id="2147483682" r:id="rId6"/>
    <p:sldMasterId id="2147483802" r:id="rId7"/>
    <p:sldMasterId id="2147483785" r:id="rId8"/>
    <p:sldMasterId id="2147483773" r:id="rId9"/>
    <p:sldMasterId id="2147483774" r:id="rId10"/>
  </p:sldMasterIdLst>
  <p:notesMasterIdLst>
    <p:notesMasterId r:id="rId32"/>
  </p:notesMasterIdLst>
  <p:sldIdLst>
    <p:sldId id="256" r:id="rId11"/>
    <p:sldId id="2147376936" r:id="rId12"/>
    <p:sldId id="2147376937" r:id="rId13"/>
    <p:sldId id="2147376935" r:id="rId14"/>
    <p:sldId id="2147376928" r:id="rId15"/>
    <p:sldId id="2147376938" r:id="rId16"/>
    <p:sldId id="2147376939" r:id="rId17"/>
    <p:sldId id="2147376940" r:id="rId18"/>
    <p:sldId id="2147376933" r:id="rId19"/>
    <p:sldId id="2147376951" r:id="rId20"/>
    <p:sldId id="2147376941" r:id="rId21"/>
    <p:sldId id="2147376942" r:id="rId22"/>
    <p:sldId id="2147376944" r:id="rId23"/>
    <p:sldId id="2147376943" r:id="rId24"/>
    <p:sldId id="2147376945" r:id="rId25"/>
    <p:sldId id="2147376946" r:id="rId26"/>
    <p:sldId id="2147376947" r:id="rId27"/>
    <p:sldId id="2147376948" r:id="rId28"/>
    <p:sldId id="2147376950" r:id="rId29"/>
    <p:sldId id="2147376949" r:id="rId30"/>
    <p:sldId id="263" r:id="rId31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7ABDBE4-D3DA-4391-9FC3-F451EE7E5A5D}">
          <p14:sldIdLst>
            <p14:sldId id="256"/>
            <p14:sldId id="2147376936"/>
            <p14:sldId id="2147376937"/>
            <p14:sldId id="2147376935"/>
            <p14:sldId id="2147376928"/>
            <p14:sldId id="2147376938"/>
            <p14:sldId id="2147376939"/>
            <p14:sldId id="2147376940"/>
            <p14:sldId id="2147376933"/>
            <p14:sldId id="2147376951"/>
            <p14:sldId id="2147376941"/>
            <p14:sldId id="2147376942"/>
            <p14:sldId id="2147376944"/>
            <p14:sldId id="2147376943"/>
            <p14:sldId id="2147376945"/>
            <p14:sldId id="2147376946"/>
            <p14:sldId id="2147376947"/>
            <p14:sldId id="2147376948"/>
            <p14:sldId id="2147376950"/>
            <p14:sldId id="2147376949"/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32" userDrawn="1">
          <p15:clr>
            <a:srgbClr val="A4A3A4"/>
          </p15:clr>
        </p15:guide>
        <p15:guide id="2" pos="4089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anden Auweele Mathias" initials="VAM" lastIdx="6" clrIdx="0">
    <p:extLst>
      <p:ext uri="{19B8F6BF-5375-455C-9EA6-DF929625EA0E}">
        <p15:presenceInfo xmlns:p15="http://schemas.microsoft.com/office/powerpoint/2012/main" userId="S::mathias.vandenauweele@infrabel.be::dddcb3b8-0dc8-4962-8c48-adc0cff5df2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1FF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B3EC55-7D35-4231-B373-8E1EF90A9086}" v="50" dt="2023-11-13T23:00:18.8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056" autoAdjust="0"/>
    <p:restoredTop sz="90452" autoAdjust="0"/>
  </p:normalViewPr>
  <p:slideViewPr>
    <p:cSldViewPr snapToGrid="0" snapToObjects="1">
      <p:cViewPr varScale="1">
        <p:scale>
          <a:sx n="111" d="100"/>
          <a:sy n="111" d="100"/>
        </p:scale>
        <p:origin x="168" y="67"/>
      </p:cViewPr>
      <p:guideLst>
        <p:guide orient="horz" pos="232"/>
        <p:guide pos="4089"/>
      </p:guideLst>
    </p:cSldViewPr>
  </p:slideViewPr>
  <p:outlineViewPr>
    <p:cViewPr>
      <p:scale>
        <a:sx n="33" d="100"/>
        <a:sy n="33" d="100"/>
      </p:scale>
      <p:origin x="0" y="-732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slide" Target="slides/slide16.xml"/><Relationship Id="rId21" Type="http://schemas.openxmlformats.org/officeDocument/2006/relationships/slide" Target="slides/slide11.xml"/><Relationship Id="rId34" Type="http://schemas.openxmlformats.org/officeDocument/2006/relationships/presProps" Target="presProp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slide" Target="slides/slide15.xml"/><Relationship Id="rId33" Type="http://schemas.openxmlformats.org/officeDocument/2006/relationships/commentAuthors" Target="commentAuthors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6.xml"/><Relationship Id="rId20" Type="http://schemas.openxmlformats.org/officeDocument/2006/relationships/slide" Target="slides/slide10.xml"/><Relationship Id="rId29" Type="http://schemas.openxmlformats.org/officeDocument/2006/relationships/slide" Target="slides/slide19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1.xml"/><Relationship Id="rId24" Type="http://schemas.openxmlformats.org/officeDocument/2006/relationships/slide" Target="slides/slide14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slide" Target="slides/slide18.xml"/><Relationship Id="rId36" Type="http://schemas.openxmlformats.org/officeDocument/2006/relationships/theme" Target="theme/theme1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9.xml"/><Relationship Id="rId31" Type="http://schemas.openxmlformats.org/officeDocument/2006/relationships/slide" Target="slides/slide2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slide" Target="slides/slide17.xml"/><Relationship Id="rId30" Type="http://schemas.openxmlformats.org/officeDocument/2006/relationships/slide" Target="slides/slide20.xml"/><Relationship Id="rId35" Type="http://schemas.openxmlformats.org/officeDocument/2006/relationships/viewProps" Target="viewProps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2669430774278213"/>
          <c:y val="6.4020477285141306E-2"/>
          <c:w val="0.34805142904212483"/>
          <c:h val="0.79864982223883096"/>
        </c:manualLayout>
      </c:layout>
      <c:doughnutChart>
        <c:varyColors val="1"/>
        <c:ser>
          <c:idx val="0"/>
          <c:order val="0"/>
          <c:tx>
            <c:strRef>
              <c:f>Blad1!$B$1</c:f>
              <c:strCache>
                <c:ptCount val="1"/>
                <c:pt idx="0">
                  <c:v>Content</c:v>
                </c:pt>
              </c:strCache>
            </c:strRef>
          </c:tx>
          <c:dPt>
            <c:idx val="0"/>
            <c:bubble3D val="0"/>
            <c:spPr>
              <a:solidFill>
                <a:schemeClr val="bg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79D-4A31-B152-16E17B9B2E51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79D-4A31-B152-16E17B9B2E51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79D-4A31-B152-16E17B9B2E51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79D-4A31-B152-16E17B9B2E5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nl-BE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Blad1!$A$2:$A$5</c:f>
              <c:strCache>
                <c:ptCount val="4"/>
                <c:pt idx="0">
                  <c:v>Info 1</c:v>
                </c:pt>
                <c:pt idx="1">
                  <c:v>Info 2</c:v>
                </c:pt>
                <c:pt idx="2">
                  <c:v>Info 3</c:v>
                </c:pt>
                <c:pt idx="3">
                  <c:v>Info 4</c:v>
                </c:pt>
              </c:strCache>
            </c:strRef>
          </c:cat>
          <c:val>
            <c:numRef>
              <c:f>Blad1!$B$2:$B$5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79D-4A31-B152-16E17B9B2E51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75"/>
      </c:doughnutChart>
      <c:spPr>
        <a:noFill/>
        <a:ln w="25400">
          <a:noFill/>
        </a:ln>
        <a:effectLst/>
      </c:spPr>
    </c:plotArea>
    <c:legend>
      <c:legendPos val="b"/>
      <c:layout>
        <c:manualLayout>
          <c:xMode val="edge"/>
          <c:yMode val="edge"/>
          <c:x val="0.17686950459317588"/>
          <c:y val="0.94075897558207255"/>
          <c:w val="0.64382386212338205"/>
          <c:h val="5.924110698251526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accent2"/>
              </a:solidFill>
              <a:latin typeface="+mn-lt"/>
              <a:ea typeface="+mn-ea"/>
              <a:cs typeface="+mn-cs"/>
            </a:defRPr>
          </a:pPr>
          <a:endParaRPr lang="nl-BE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nl-BE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Blad1!$B$1</c:f>
              <c:strCache>
                <c:ptCount val="1"/>
                <c:pt idx="0">
                  <c:v>Info 1</c:v>
                </c:pt>
              </c:strCache>
            </c:strRef>
          </c:tx>
          <c:spPr>
            <a:solidFill>
              <a:schemeClr val="bg2"/>
            </a:solidFill>
            <a:ln>
              <a:noFill/>
            </a:ln>
            <a:effectLst/>
          </c:spPr>
          <c:invertIfNegative val="0"/>
          <c:cat>
            <c:strRef>
              <c:f>Blad1!$A$2:$A$5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Blad1!$B$2:$B$5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263-4A30-B373-70E72F91DFD9}"/>
            </c:ext>
          </c:extLst>
        </c:ser>
        <c:ser>
          <c:idx val="1"/>
          <c:order val="1"/>
          <c:tx>
            <c:strRef>
              <c:f>Blad1!$C$1</c:f>
              <c:strCache>
                <c:ptCount val="1"/>
                <c:pt idx="0">
                  <c:v>Info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Blad1!$A$2:$A$5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Blad1!$C$2:$C$5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263-4A30-B373-70E72F91DFD9}"/>
            </c:ext>
          </c:extLst>
        </c:ser>
        <c:ser>
          <c:idx val="2"/>
          <c:order val="2"/>
          <c:tx>
            <c:strRef>
              <c:f>Blad1!$D$1</c:f>
              <c:strCache>
                <c:ptCount val="1"/>
                <c:pt idx="0">
                  <c:v>Info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Blad1!$A$2:$A$5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Blad1!$D$2:$D$5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263-4A30-B373-70E72F91DF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45526527"/>
        <c:axId val="446502015"/>
      </c:barChart>
      <c:catAx>
        <c:axId val="4455265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nl-BE"/>
          </a:p>
        </c:txPr>
        <c:crossAx val="446502015"/>
        <c:crosses val="autoZero"/>
        <c:auto val="1"/>
        <c:lblAlgn val="ctr"/>
        <c:lblOffset val="100"/>
        <c:noMultiLvlLbl val="0"/>
      </c:catAx>
      <c:valAx>
        <c:axId val="4465020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nl-BE"/>
          </a:p>
        </c:txPr>
        <c:crossAx val="4455265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5656188484251966"/>
          <c:y val="0.94359979722392262"/>
          <c:w val="0.28375110728346459"/>
          <c:h val="5.377182796442169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nl-BE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600"/>
      </a:pPr>
      <a:endParaRPr lang="nl-B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5640B5-F1E4-CB44-89AF-B521291F69F7}" type="datetimeFigureOut">
              <a:rPr lang="nl-BE" smtClean="0"/>
              <a:t>14/11/2023</a:t>
            </a:fld>
            <a:endParaRPr lang="nl-BE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C0A393-39A7-5C44-9942-E5E6E3DB97A7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7592223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C0A393-39A7-5C44-9942-E5E6E3DB97A7}" type="slidenum">
              <a:rPr lang="nl-BE" smtClean="0"/>
              <a:t>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1303925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C0A393-39A7-5C44-9942-E5E6E3DB97A7}" type="slidenum">
              <a:rPr lang="nl-BE" smtClean="0"/>
              <a:t>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5380602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C0A393-39A7-5C44-9942-E5E6E3DB97A7}" type="slidenum">
              <a:rPr lang="nl-BE" smtClean="0"/>
              <a:t>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7835243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C0A393-39A7-5C44-9942-E5E6E3DB97A7}" type="slidenum">
              <a:rPr lang="nl-BE" smtClean="0"/>
              <a:t>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6841561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C0A393-39A7-5C44-9942-E5E6E3DB97A7}" type="slidenum">
              <a:rPr lang="nl-BE" smtClean="0"/>
              <a:t>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6969063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C0A393-39A7-5C44-9942-E5E6E3DB97A7}" type="slidenum">
              <a:rPr lang="nl-BE" smtClean="0"/>
              <a:t>8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902661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C0A393-39A7-5C44-9942-E5E6E3DB97A7}" type="slidenum">
              <a:rPr lang="nl-BE" smtClean="0"/>
              <a:t>9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9866796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BE"/>
              <a:t>I was asked to give an executive summary on what Linked data is. I was told to keep it as simple as possible. </a:t>
            </a:r>
            <a:endParaRPr lang="nl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C0A393-39A7-5C44-9942-E5E6E3DB97A7}" type="slidenum">
              <a:rPr lang="nl-BE" smtClean="0"/>
              <a:t>20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259075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7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Afbeelding 11">
            <a:extLst>
              <a:ext uri="{FF2B5EF4-FFF2-40B4-BE49-F238E27FC236}">
                <a16:creationId xmlns:a16="http://schemas.microsoft.com/office/drawing/2014/main" id="{D6D0D3FB-DE49-5D46-81B2-9E2BF69EA71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6094801" cy="6858000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25F0BD56-BAEA-294C-A452-3A606BC1BB2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5200" y="5551200"/>
            <a:ext cx="1306800" cy="1306800"/>
          </a:xfrm>
          <a:prstGeom prst="rect">
            <a:avLst/>
          </a:prstGeom>
        </p:spPr>
      </p:pic>
      <p:pic>
        <p:nvPicPr>
          <p:cNvPr id="18" name="Afbeelding 17">
            <a:extLst>
              <a:ext uri="{FF2B5EF4-FFF2-40B4-BE49-F238E27FC236}">
                <a16:creationId xmlns:a16="http://schemas.microsoft.com/office/drawing/2014/main" id="{3699229F-CF47-3F4D-BC39-7FDF25373FD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306800" cy="1306800"/>
          </a:xfrm>
          <a:prstGeom prst="rect">
            <a:avLst/>
          </a:prstGeom>
        </p:spPr>
      </p:pic>
      <p:sp>
        <p:nvSpPr>
          <p:cNvPr id="21" name="Titel 28">
            <a:extLst>
              <a:ext uri="{FF2B5EF4-FFF2-40B4-BE49-F238E27FC236}">
                <a16:creationId xmlns:a16="http://schemas.microsoft.com/office/drawing/2014/main" id="{933B33C8-5E8A-AB48-80BF-55E43960DC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11600" y="2052836"/>
            <a:ext cx="5268913" cy="2343711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55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BE" dirty="0"/>
              <a:t>New Infrabel </a:t>
            </a:r>
            <a:br>
              <a:rPr lang="nl-BE" dirty="0"/>
            </a:br>
            <a:r>
              <a:rPr lang="nl-BE" dirty="0"/>
              <a:t>PPT Template</a:t>
            </a:r>
          </a:p>
        </p:txBody>
      </p:sp>
      <p:sp>
        <p:nvSpPr>
          <p:cNvPr id="22" name="Tijdelijke aanduiding voor tekst 32">
            <a:extLst>
              <a:ext uri="{FF2B5EF4-FFF2-40B4-BE49-F238E27FC236}">
                <a16:creationId xmlns:a16="http://schemas.microsoft.com/office/drawing/2014/main" id="{16040426-B7BF-2844-BAE3-149DEB867A2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11600" y="4594546"/>
            <a:ext cx="5268913" cy="3540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500" b="1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nl-BE" dirty="0" err="1"/>
              <a:t>Subtitle</a:t>
            </a:r>
            <a:endParaRPr lang="nl-BE" dirty="0"/>
          </a:p>
        </p:txBody>
      </p:sp>
      <p:sp>
        <p:nvSpPr>
          <p:cNvPr id="26" name="Tijdelijke aanduiding voor tekst 32">
            <a:extLst>
              <a:ext uri="{FF2B5EF4-FFF2-40B4-BE49-F238E27FC236}">
                <a16:creationId xmlns:a16="http://schemas.microsoft.com/office/drawing/2014/main" id="{B4D9616B-DA26-1A47-9747-A7181BAF80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11600" y="5551200"/>
            <a:ext cx="4406478" cy="3540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 b="0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nl-BE" dirty="0"/>
              <a:t>Speakers</a:t>
            </a:r>
          </a:p>
        </p:txBody>
      </p:sp>
      <p:pic>
        <p:nvPicPr>
          <p:cNvPr id="10" name="Afbeelding 26">
            <a:extLst>
              <a:ext uri="{FF2B5EF4-FFF2-40B4-BE49-F238E27FC236}">
                <a16:creationId xmlns:a16="http://schemas.microsoft.com/office/drawing/2014/main" id="{3F72C7A5-9320-A14F-BAE2-587C7594BD2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1288" y="689498"/>
            <a:ext cx="2024544" cy="330621"/>
          </a:xfrm>
          <a:prstGeom prst="rect">
            <a:avLst/>
          </a:prstGeom>
        </p:spPr>
      </p:pic>
      <p:sp>
        <p:nvSpPr>
          <p:cNvPr id="11" name="Tijdelijke aanduiding voor tekst 32">
            <a:extLst>
              <a:ext uri="{FF2B5EF4-FFF2-40B4-BE49-F238E27FC236}">
                <a16:creationId xmlns:a16="http://schemas.microsoft.com/office/drawing/2014/main" id="{7024A828-DDA5-D64F-BDF2-3A4452BAEF4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11600" y="5936945"/>
            <a:ext cx="2522779" cy="3540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 b="0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nl-BE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14918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tekst 32">
            <a:extLst>
              <a:ext uri="{FF2B5EF4-FFF2-40B4-BE49-F238E27FC236}">
                <a16:creationId xmlns:a16="http://schemas.microsoft.com/office/drawing/2014/main" id="{7024A828-DDA5-D64F-BDF2-3A4452BAEF4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11600" y="5936945"/>
            <a:ext cx="2522779" cy="3540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 b="0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nl-BE" dirty="0"/>
              <a:t>Date</a:t>
            </a:r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D0BB3378-C5FD-0E42-8B0F-1E66EE15FED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6094801" cy="6852214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F68E521F-019F-1C4A-8728-05640385332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5200" y="5551200"/>
            <a:ext cx="1306800" cy="1306800"/>
          </a:xfrm>
          <a:prstGeom prst="rect">
            <a:avLst/>
          </a:prstGeom>
        </p:spPr>
      </p:pic>
      <p:pic>
        <p:nvPicPr>
          <p:cNvPr id="18" name="Afbeelding 17">
            <a:extLst>
              <a:ext uri="{FF2B5EF4-FFF2-40B4-BE49-F238E27FC236}">
                <a16:creationId xmlns:a16="http://schemas.microsoft.com/office/drawing/2014/main" id="{56E3B219-2633-CA4F-8AF5-DBB60C08548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306800" cy="1306800"/>
          </a:xfrm>
          <a:prstGeom prst="rect">
            <a:avLst/>
          </a:prstGeom>
        </p:spPr>
      </p:pic>
      <p:sp>
        <p:nvSpPr>
          <p:cNvPr id="21" name="Titel 28">
            <a:extLst>
              <a:ext uri="{FF2B5EF4-FFF2-40B4-BE49-F238E27FC236}">
                <a16:creationId xmlns:a16="http://schemas.microsoft.com/office/drawing/2014/main" id="{C64D2338-5654-1F4A-9C62-121157932F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11600" y="2052836"/>
            <a:ext cx="5268913" cy="2343711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55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BE" dirty="0"/>
              <a:t>New Infrabel </a:t>
            </a:r>
            <a:br>
              <a:rPr lang="nl-BE" dirty="0"/>
            </a:br>
            <a:r>
              <a:rPr lang="nl-BE" dirty="0"/>
              <a:t>PPT Template</a:t>
            </a:r>
          </a:p>
        </p:txBody>
      </p:sp>
      <p:sp>
        <p:nvSpPr>
          <p:cNvPr id="22" name="Tijdelijke aanduiding voor tekst 32">
            <a:extLst>
              <a:ext uri="{FF2B5EF4-FFF2-40B4-BE49-F238E27FC236}">
                <a16:creationId xmlns:a16="http://schemas.microsoft.com/office/drawing/2014/main" id="{7B97786C-8004-0943-991A-184A22C0CD5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11600" y="4594546"/>
            <a:ext cx="5268913" cy="3540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500" b="1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nl-BE" dirty="0" err="1"/>
              <a:t>Subtitle</a:t>
            </a:r>
            <a:endParaRPr lang="nl-BE" dirty="0"/>
          </a:p>
        </p:txBody>
      </p:sp>
      <p:sp>
        <p:nvSpPr>
          <p:cNvPr id="26" name="Tijdelijke aanduiding voor tekst 32">
            <a:extLst>
              <a:ext uri="{FF2B5EF4-FFF2-40B4-BE49-F238E27FC236}">
                <a16:creationId xmlns:a16="http://schemas.microsoft.com/office/drawing/2014/main" id="{7024A828-DDA5-D64F-BDF2-3A4452BAEF4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11600" y="5551200"/>
            <a:ext cx="4406478" cy="3540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 b="0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nl-BE" dirty="0"/>
              <a:t>Speakers</a:t>
            </a:r>
          </a:p>
        </p:txBody>
      </p:sp>
      <p:pic>
        <p:nvPicPr>
          <p:cNvPr id="10" name="Afbeelding 26">
            <a:extLst>
              <a:ext uri="{FF2B5EF4-FFF2-40B4-BE49-F238E27FC236}">
                <a16:creationId xmlns:a16="http://schemas.microsoft.com/office/drawing/2014/main" id="{3F72C7A5-9320-A14F-BAE2-587C7594BD2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1288" y="689498"/>
            <a:ext cx="2024544" cy="330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7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0"/>
            <a:ext cx="6094801" cy="6858000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25F0BD56-BAEA-294C-A452-3A606BC1BB2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5200" y="5551200"/>
            <a:ext cx="1306800" cy="1306800"/>
          </a:xfrm>
          <a:prstGeom prst="rect">
            <a:avLst/>
          </a:prstGeom>
        </p:spPr>
      </p:pic>
      <p:pic>
        <p:nvPicPr>
          <p:cNvPr id="18" name="Afbeelding 17">
            <a:extLst>
              <a:ext uri="{FF2B5EF4-FFF2-40B4-BE49-F238E27FC236}">
                <a16:creationId xmlns:a16="http://schemas.microsoft.com/office/drawing/2014/main" id="{3699229F-CF47-3F4D-BC39-7FDF25373FD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306800" cy="1306800"/>
          </a:xfrm>
          <a:prstGeom prst="rect">
            <a:avLst/>
          </a:prstGeom>
        </p:spPr>
      </p:pic>
      <p:sp>
        <p:nvSpPr>
          <p:cNvPr id="21" name="Titel 28">
            <a:extLst>
              <a:ext uri="{FF2B5EF4-FFF2-40B4-BE49-F238E27FC236}">
                <a16:creationId xmlns:a16="http://schemas.microsoft.com/office/drawing/2014/main" id="{933B33C8-5E8A-AB48-80BF-55E43960DC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11600" y="2052836"/>
            <a:ext cx="5268913" cy="2343711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55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BE" dirty="0"/>
              <a:t>New Infrabel </a:t>
            </a:r>
            <a:br>
              <a:rPr lang="nl-BE" dirty="0"/>
            </a:br>
            <a:r>
              <a:rPr lang="nl-BE" dirty="0"/>
              <a:t>PPT Template</a:t>
            </a:r>
          </a:p>
        </p:txBody>
      </p:sp>
      <p:sp>
        <p:nvSpPr>
          <p:cNvPr id="22" name="Tijdelijke aanduiding voor tekst 32">
            <a:extLst>
              <a:ext uri="{FF2B5EF4-FFF2-40B4-BE49-F238E27FC236}">
                <a16:creationId xmlns:a16="http://schemas.microsoft.com/office/drawing/2014/main" id="{16040426-B7BF-2844-BAE3-149DEB867A2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11600" y="4594546"/>
            <a:ext cx="5268913" cy="3540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500" b="1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nl-BE" dirty="0" err="1"/>
              <a:t>Subtitle</a:t>
            </a:r>
            <a:endParaRPr lang="nl-BE" dirty="0"/>
          </a:p>
        </p:txBody>
      </p:sp>
      <p:sp>
        <p:nvSpPr>
          <p:cNvPr id="26" name="Tijdelijke aanduiding voor tekst 32">
            <a:extLst>
              <a:ext uri="{FF2B5EF4-FFF2-40B4-BE49-F238E27FC236}">
                <a16:creationId xmlns:a16="http://schemas.microsoft.com/office/drawing/2014/main" id="{B4D9616B-DA26-1A47-9747-A7181BAF80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11600" y="5551200"/>
            <a:ext cx="4406478" cy="3540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 b="0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nl-BE" dirty="0"/>
              <a:t>Speakers</a:t>
            </a:r>
          </a:p>
        </p:txBody>
      </p:sp>
      <p:pic>
        <p:nvPicPr>
          <p:cNvPr id="10" name="Afbeelding 26">
            <a:extLst>
              <a:ext uri="{FF2B5EF4-FFF2-40B4-BE49-F238E27FC236}">
                <a16:creationId xmlns:a16="http://schemas.microsoft.com/office/drawing/2014/main" id="{3F72C7A5-9320-A14F-BAE2-587C7594BD2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1288" y="689498"/>
            <a:ext cx="2024544" cy="330621"/>
          </a:xfrm>
          <a:prstGeom prst="rect">
            <a:avLst/>
          </a:prstGeom>
        </p:spPr>
      </p:pic>
      <p:sp>
        <p:nvSpPr>
          <p:cNvPr id="11" name="Tijdelijke aanduiding voor tekst 32">
            <a:extLst>
              <a:ext uri="{FF2B5EF4-FFF2-40B4-BE49-F238E27FC236}">
                <a16:creationId xmlns:a16="http://schemas.microsoft.com/office/drawing/2014/main" id="{7024A828-DDA5-D64F-BDF2-3A4452BAEF4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11600" y="5936945"/>
            <a:ext cx="2522779" cy="3540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 b="0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nl-BE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851318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6094801" cy="6858000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25F0BD56-BAEA-294C-A452-3A606BC1BB2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5200" y="5551200"/>
            <a:ext cx="1306800" cy="1306800"/>
          </a:xfrm>
          <a:prstGeom prst="rect">
            <a:avLst/>
          </a:prstGeom>
        </p:spPr>
      </p:pic>
      <p:pic>
        <p:nvPicPr>
          <p:cNvPr id="18" name="Afbeelding 17">
            <a:extLst>
              <a:ext uri="{FF2B5EF4-FFF2-40B4-BE49-F238E27FC236}">
                <a16:creationId xmlns:a16="http://schemas.microsoft.com/office/drawing/2014/main" id="{3699229F-CF47-3F4D-BC39-7FDF25373FD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306800" cy="1306800"/>
          </a:xfrm>
          <a:prstGeom prst="rect">
            <a:avLst/>
          </a:prstGeom>
        </p:spPr>
      </p:pic>
      <p:sp>
        <p:nvSpPr>
          <p:cNvPr id="21" name="Titel 28">
            <a:extLst>
              <a:ext uri="{FF2B5EF4-FFF2-40B4-BE49-F238E27FC236}">
                <a16:creationId xmlns:a16="http://schemas.microsoft.com/office/drawing/2014/main" id="{933B33C8-5E8A-AB48-80BF-55E43960DC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11600" y="2052836"/>
            <a:ext cx="5268913" cy="2343711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55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BE" dirty="0"/>
              <a:t>New Infrabel </a:t>
            </a:r>
            <a:br>
              <a:rPr lang="nl-BE" dirty="0"/>
            </a:br>
            <a:r>
              <a:rPr lang="nl-BE" dirty="0"/>
              <a:t>PPT Template</a:t>
            </a:r>
          </a:p>
        </p:txBody>
      </p:sp>
      <p:sp>
        <p:nvSpPr>
          <p:cNvPr id="22" name="Tijdelijke aanduiding voor tekst 32">
            <a:extLst>
              <a:ext uri="{FF2B5EF4-FFF2-40B4-BE49-F238E27FC236}">
                <a16:creationId xmlns:a16="http://schemas.microsoft.com/office/drawing/2014/main" id="{16040426-B7BF-2844-BAE3-149DEB867A2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11600" y="4594546"/>
            <a:ext cx="5268913" cy="3540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500" b="1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nl-BE" dirty="0" err="1"/>
              <a:t>Subtitle</a:t>
            </a:r>
            <a:endParaRPr lang="nl-BE" dirty="0"/>
          </a:p>
        </p:txBody>
      </p:sp>
      <p:sp>
        <p:nvSpPr>
          <p:cNvPr id="26" name="Tijdelijke aanduiding voor tekst 32">
            <a:extLst>
              <a:ext uri="{FF2B5EF4-FFF2-40B4-BE49-F238E27FC236}">
                <a16:creationId xmlns:a16="http://schemas.microsoft.com/office/drawing/2014/main" id="{B4D9616B-DA26-1A47-9747-A7181BAF80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11600" y="5551200"/>
            <a:ext cx="4406478" cy="3540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 b="0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nl-BE" dirty="0"/>
              <a:t>Speakers</a:t>
            </a:r>
          </a:p>
        </p:txBody>
      </p:sp>
      <p:pic>
        <p:nvPicPr>
          <p:cNvPr id="10" name="Afbeelding 26">
            <a:extLst>
              <a:ext uri="{FF2B5EF4-FFF2-40B4-BE49-F238E27FC236}">
                <a16:creationId xmlns:a16="http://schemas.microsoft.com/office/drawing/2014/main" id="{3F72C7A5-9320-A14F-BAE2-587C7594BD2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1288" y="689498"/>
            <a:ext cx="2024544" cy="330621"/>
          </a:xfrm>
          <a:prstGeom prst="rect">
            <a:avLst/>
          </a:prstGeom>
        </p:spPr>
      </p:pic>
      <p:sp>
        <p:nvSpPr>
          <p:cNvPr id="11" name="Tijdelijke aanduiding voor tekst 32">
            <a:extLst>
              <a:ext uri="{FF2B5EF4-FFF2-40B4-BE49-F238E27FC236}">
                <a16:creationId xmlns:a16="http://schemas.microsoft.com/office/drawing/2014/main" id="{7024A828-DDA5-D64F-BDF2-3A4452BAEF4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11600" y="5936945"/>
            <a:ext cx="2522779" cy="3540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 b="0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nl-BE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1751749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6094801" cy="6858000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25F0BD56-BAEA-294C-A452-3A606BC1BB2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5200" y="5551200"/>
            <a:ext cx="1306800" cy="1306800"/>
          </a:xfrm>
          <a:prstGeom prst="rect">
            <a:avLst/>
          </a:prstGeom>
        </p:spPr>
      </p:pic>
      <p:pic>
        <p:nvPicPr>
          <p:cNvPr id="18" name="Afbeelding 17">
            <a:extLst>
              <a:ext uri="{FF2B5EF4-FFF2-40B4-BE49-F238E27FC236}">
                <a16:creationId xmlns:a16="http://schemas.microsoft.com/office/drawing/2014/main" id="{3699229F-CF47-3F4D-BC39-7FDF25373FD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306800" cy="1306800"/>
          </a:xfrm>
          <a:prstGeom prst="rect">
            <a:avLst/>
          </a:prstGeom>
        </p:spPr>
      </p:pic>
      <p:sp>
        <p:nvSpPr>
          <p:cNvPr id="21" name="Titel 28">
            <a:extLst>
              <a:ext uri="{FF2B5EF4-FFF2-40B4-BE49-F238E27FC236}">
                <a16:creationId xmlns:a16="http://schemas.microsoft.com/office/drawing/2014/main" id="{933B33C8-5E8A-AB48-80BF-55E43960DC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11600" y="2052836"/>
            <a:ext cx="5268913" cy="2343711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55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BE" dirty="0"/>
              <a:t>New Infrabel </a:t>
            </a:r>
            <a:br>
              <a:rPr lang="nl-BE" dirty="0"/>
            </a:br>
            <a:r>
              <a:rPr lang="nl-BE" dirty="0"/>
              <a:t>PPT Template</a:t>
            </a:r>
          </a:p>
        </p:txBody>
      </p:sp>
      <p:sp>
        <p:nvSpPr>
          <p:cNvPr id="22" name="Tijdelijke aanduiding voor tekst 32">
            <a:extLst>
              <a:ext uri="{FF2B5EF4-FFF2-40B4-BE49-F238E27FC236}">
                <a16:creationId xmlns:a16="http://schemas.microsoft.com/office/drawing/2014/main" id="{16040426-B7BF-2844-BAE3-149DEB867A2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11600" y="4594546"/>
            <a:ext cx="5268913" cy="3540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500" b="1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nl-BE" dirty="0" err="1"/>
              <a:t>Subtitle</a:t>
            </a:r>
            <a:endParaRPr lang="nl-BE" dirty="0"/>
          </a:p>
        </p:txBody>
      </p:sp>
      <p:sp>
        <p:nvSpPr>
          <p:cNvPr id="26" name="Tijdelijke aanduiding voor tekst 32">
            <a:extLst>
              <a:ext uri="{FF2B5EF4-FFF2-40B4-BE49-F238E27FC236}">
                <a16:creationId xmlns:a16="http://schemas.microsoft.com/office/drawing/2014/main" id="{B4D9616B-DA26-1A47-9747-A7181BAF80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11600" y="5551200"/>
            <a:ext cx="4406478" cy="3540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 b="0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nl-BE" dirty="0"/>
              <a:t>Speakers</a:t>
            </a:r>
          </a:p>
        </p:txBody>
      </p:sp>
      <p:pic>
        <p:nvPicPr>
          <p:cNvPr id="10" name="Afbeelding 26">
            <a:extLst>
              <a:ext uri="{FF2B5EF4-FFF2-40B4-BE49-F238E27FC236}">
                <a16:creationId xmlns:a16="http://schemas.microsoft.com/office/drawing/2014/main" id="{3F72C7A5-9320-A14F-BAE2-587C7594BD2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1288" y="689498"/>
            <a:ext cx="2024544" cy="330621"/>
          </a:xfrm>
          <a:prstGeom prst="rect">
            <a:avLst/>
          </a:prstGeom>
        </p:spPr>
      </p:pic>
      <p:sp>
        <p:nvSpPr>
          <p:cNvPr id="11" name="Tijdelijke aanduiding voor tekst 32">
            <a:extLst>
              <a:ext uri="{FF2B5EF4-FFF2-40B4-BE49-F238E27FC236}">
                <a16:creationId xmlns:a16="http://schemas.microsoft.com/office/drawing/2014/main" id="{7024A828-DDA5-D64F-BDF2-3A4452BAEF4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11600" y="5936945"/>
            <a:ext cx="2522779" cy="3540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 b="0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nl-BE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1405297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Afbeelding 13">
            <a:extLst>
              <a:ext uri="{FF2B5EF4-FFF2-40B4-BE49-F238E27FC236}">
                <a16:creationId xmlns:a16="http://schemas.microsoft.com/office/drawing/2014/main" id="{D4219415-A53B-2B41-90B9-5BABB65294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5200" y="5551200"/>
            <a:ext cx="1306800" cy="1306800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3AE94913-E972-EE41-AB37-F6C7F66F312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306800" cy="1306800"/>
          </a:xfrm>
          <a:prstGeom prst="rect">
            <a:avLst/>
          </a:prstGeom>
        </p:spPr>
      </p:pic>
      <p:pic>
        <p:nvPicPr>
          <p:cNvPr id="16" name="Afbeelding 15">
            <a:extLst>
              <a:ext uri="{FF2B5EF4-FFF2-40B4-BE49-F238E27FC236}">
                <a16:creationId xmlns:a16="http://schemas.microsoft.com/office/drawing/2014/main" id="{C78BD40C-9F65-7846-9B08-0C3F7E8879B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400" y="5877000"/>
            <a:ext cx="2006045" cy="327600"/>
          </a:xfrm>
          <a:prstGeom prst="rect">
            <a:avLst/>
          </a:prstGeom>
        </p:spPr>
      </p:pic>
      <p:sp>
        <p:nvSpPr>
          <p:cNvPr id="19" name="Titel 28">
            <a:extLst>
              <a:ext uri="{FF2B5EF4-FFF2-40B4-BE49-F238E27FC236}">
                <a16:creationId xmlns:a16="http://schemas.microsoft.com/office/drawing/2014/main" id="{42A5EE27-DBC1-6A40-8B8E-82EA9D3E76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95605" y="1797222"/>
            <a:ext cx="7800789" cy="2343711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5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BE" dirty="0"/>
              <a:t>New Infrabel </a:t>
            </a:r>
            <a:br>
              <a:rPr lang="nl-BE" dirty="0"/>
            </a:br>
            <a:r>
              <a:rPr lang="nl-BE" dirty="0"/>
              <a:t>PPT Template</a:t>
            </a:r>
          </a:p>
        </p:txBody>
      </p:sp>
      <p:sp>
        <p:nvSpPr>
          <p:cNvPr id="20" name="Tijdelijke aanduiding voor tekst 32">
            <a:extLst>
              <a:ext uri="{FF2B5EF4-FFF2-40B4-BE49-F238E27FC236}">
                <a16:creationId xmlns:a16="http://schemas.microsoft.com/office/drawing/2014/main" id="{6DACC24D-78C0-C14E-B9A6-23AFD9BFC3B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95606" y="4180122"/>
            <a:ext cx="7800788" cy="3540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2500" b="1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nl-BE" dirty="0" err="1"/>
              <a:t>Subtitle</a:t>
            </a:r>
            <a:endParaRPr lang="nl-BE" dirty="0"/>
          </a:p>
        </p:txBody>
      </p:sp>
      <p:sp>
        <p:nvSpPr>
          <p:cNvPr id="25" name="Tijdelijke aanduiding voor tekst 32">
            <a:extLst>
              <a:ext uri="{FF2B5EF4-FFF2-40B4-BE49-F238E27FC236}">
                <a16:creationId xmlns:a16="http://schemas.microsoft.com/office/drawing/2014/main" id="{CB788083-CA0D-D24B-8B18-9F58675CCEE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92760" y="5871600"/>
            <a:ext cx="4406400" cy="3528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800" b="0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nl-BE" dirty="0"/>
              <a:t>Speakers</a:t>
            </a:r>
          </a:p>
        </p:txBody>
      </p:sp>
      <p:sp>
        <p:nvSpPr>
          <p:cNvPr id="9" name="Tijdelijke aanduiding voor tekst 32">
            <a:extLst>
              <a:ext uri="{FF2B5EF4-FFF2-40B4-BE49-F238E27FC236}">
                <a16:creationId xmlns:a16="http://schemas.microsoft.com/office/drawing/2014/main" id="{7024A828-DDA5-D64F-BDF2-3A4452BAEF4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68937" y="5871600"/>
            <a:ext cx="1627457" cy="3528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1800" b="0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nl-BE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177358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Tex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dianummer 5">
            <a:extLst>
              <a:ext uri="{FF2B5EF4-FFF2-40B4-BE49-F238E27FC236}">
                <a16:creationId xmlns:a16="http://schemas.microsoft.com/office/drawing/2014/main" id="{71FAD9FF-DCB0-7A4C-BC0D-214903CE75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4965" y="6492875"/>
            <a:ext cx="5652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 b="0" i="0">
                <a:solidFill>
                  <a:schemeClr val="accent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070B80B4-B953-6547-A044-6E303DFD4AF3}" type="slidenum">
              <a:rPr lang="nl-BE" smtClean="0"/>
              <a:pPr/>
              <a:t>‹#›</a:t>
            </a:fld>
            <a:endParaRPr lang="nl-BE" dirty="0"/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9673617" y="154522"/>
            <a:ext cx="2237174" cy="360363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00" baseline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1. Chapter title</a:t>
            </a:r>
            <a:endParaRPr lang="en-GB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20"/>
          </p:nvPr>
        </p:nvSpPr>
        <p:spPr>
          <a:xfrm>
            <a:off x="666572" y="1779340"/>
            <a:ext cx="10858858" cy="4518909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24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65113" indent="-228600">
              <a:lnSpc>
                <a:spcPct val="100000"/>
              </a:lnSpc>
              <a:buClr>
                <a:srgbClr val="00B0F0"/>
              </a:buClr>
              <a:defRPr sz="24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623888" indent="-228600">
              <a:lnSpc>
                <a:spcPct val="100000"/>
              </a:lnSpc>
              <a:buClr>
                <a:srgbClr val="00B0F0"/>
              </a:buClr>
              <a:buFont typeface="Calibri Light" panose="020F0302020204030204" pitchFamily="34" charset="0"/>
              <a:buChar char="̶"/>
              <a:defRPr sz="24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896938" indent="-228600">
              <a:lnSpc>
                <a:spcPct val="100000"/>
              </a:lnSpc>
              <a:buClr>
                <a:srgbClr val="00B0F0"/>
              </a:buClr>
              <a:buFont typeface="Courier New" panose="02070309020205020404" pitchFamily="49" charset="0"/>
              <a:buChar char="o"/>
              <a:defRPr sz="24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2400"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BFBC100F-BA8E-FA44-81D9-DCCFC96E831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6572" y="845232"/>
            <a:ext cx="10858858" cy="478554"/>
          </a:xfrm>
          <a:prstGeom prst="rect">
            <a:avLst/>
          </a:prstGeom>
        </p:spPr>
        <p:txBody>
          <a:bodyPr anchor="t" anchorCtr="0"/>
          <a:lstStyle>
            <a:lvl1pPr marL="0" indent="0" algn="l">
              <a:buNone/>
              <a:defRPr sz="36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Title Slide Left Align</a:t>
            </a:r>
          </a:p>
        </p:txBody>
      </p:sp>
    </p:spTree>
    <p:extLst>
      <p:ext uri="{BB962C8B-B14F-4D97-AF65-F5344CB8AC3E}">
        <p14:creationId xmlns:p14="http://schemas.microsoft.com/office/powerpoint/2010/main" val="3202750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F36FC954-2F44-964F-86CF-E29D3A207F4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24025" y="1568450"/>
            <a:ext cx="9180409" cy="3721100"/>
          </a:xfrm>
          <a:prstGeom prst="rect">
            <a:avLst/>
          </a:prstGeom>
        </p:spPr>
        <p:txBody>
          <a:bodyPr anchor="ctr"/>
          <a:lstStyle>
            <a:lvl1pPr marL="514350" indent="-514350">
              <a:buClr>
                <a:schemeClr val="accent2"/>
              </a:buClr>
              <a:buSzPct val="50000"/>
              <a:buFont typeface="+mj-lt"/>
              <a:buAutoNum type="arabicPeriod"/>
              <a:defRPr sz="55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nl-NL" dirty="0" err="1"/>
              <a:t>Chaptertitle</a:t>
            </a:r>
            <a:endParaRPr lang="nl-NL" dirty="0"/>
          </a:p>
          <a:p>
            <a:pPr lvl="0"/>
            <a:r>
              <a:rPr lang="nl-NL" dirty="0" err="1"/>
              <a:t>Chapter</a:t>
            </a:r>
            <a:r>
              <a:rPr lang="nl-BE" dirty="0" err="1"/>
              <a:t>title</a:t>
            </a:r>
            <a:endParaRPr lang="nl-BE" dirty="0"/>
          </a:p>
          <a:p>
            <a:pPr lvl="0"/>
            <a:r>
              <a:rPr lang="nl-NL" dirty="0" err="1"/>
              <a:t>Chapter</a:t>
            </a:r>
            <a:r>
              <a:rPr lang="nl-BE" dirty="0" err="1"/>
              <a:t>title</a:t>
            </a:r>
            <a:endParaRPr lang="nl-BE" dirty="0"/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34A00E1B-6954-564A-AF5B-F8E0E075402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5200" y="5551200"/>
            <a:ext cx="1306800" cy="1306800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38DA4520-533D-FC46-B423-04FB72E2414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306800" cy="130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071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28">
            <a:extLst>
              <a:ext uri="{FF2B5EF4-FFF2-40B4-BE49-F238E27FC236}">
                <a16:creationId xmlns:a16="http://schemas.microsoft.com/office/drawing/2014/main" id="{60C35238-2B0F-7647-BA98-57300A635E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31079" y="2505041"/>
            <a:ext cx="9180612" cy="1847917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75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NL" dirty="0" err="1"/>
              <a:t>Chapter</a:t>
            </a:r>
            <a:br>
              <a:rPr lang="nl-NL" dirty="0"/>
            </a:br>
            <a:r>
              <a:rPr lang="nl-NL" dirty="0" err="1"/>
              <a:t>title</a:t>
            </a:r>
            <a:endParaRPr lang="nl-BE" dirty="0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C43E66E9-C5E4-1A45-8CF8-36B426F1397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" y="0"/>
            <a:ext cx="1306800" cy="1306800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A3ADF651-E558-EB41-9E20-DB7BFFC662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5200" y="5551200"/>
            <a:ext cx="1306800" cy="130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84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Afbeelding 7">
            <a:extLst>
              <a:ext uri="{FF2B5EF4-FFF2-40B4-BE49-F238E27FC236}">
                <a16:creationId xmlns:a16="http://schemas.microsoft.com/office/drawing/2014/main" id="{C43E66E9-C5E4-1A45-8CF8-36B426F1397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" y="0"/>
            <a:ext cx="1306800" cy="1306800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A3ADF651-E558-EB41-9E20-DB7BFFC662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5200" y="5551200"/>
            <a:ext cx="1306800" cy="1306800"/>
          </a:xfrm>
          <a:prstGeom prst="rect">
            <a:avLst/>
          </a:prstGeom>
        </p:spPr>
      </p:pic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D3D7F391-6CD7-3445-99D8-816D3EA1D40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306797" y="2439096"/>
            <a:ext cx="9578403" cy="177922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100000"/>
              </a:lnSpc>
              <a:buNone/>
              <a:defRPr sz="36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</a:lstStyle>
          <a:p>
            <a:r>
              <a:rPr lang="nl-BE" dirty="0" err="1"/>
              <a:t>This</a:t>
            </a:r>
            <a:r>
              <a:rPr lang="nl-BE" dirty="0"/>
              <a:t> is a quote slide.</a:t>
            </a:r>
          </a:p>
          <a:p>
            <a:r>
              <a:rPr lang="nl-BE" dirty="0"/>
              <a:t>— xxx</a:t>
            </a:r>
            <a:endParaRPr lang="fr-FR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E689B9A-DB81-B14F-9356-30B5390865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4965" y="6492875"/>
            <a:ext cx="5652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 b="0" i="0">
                <a:solidFill>
                  <a:schemeClr val="accent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070B80B4-B953-6547-A044-6E303DFD4AF3}" type="slidenum">
              <a:rPr lang="nl-BE" smtClean="0"/>
              <a:pPr/>
              <a:t>‹#›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575080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dianummer 5">
            <a:extLst>
              <a:ext uri="{FF2B5EF4-FFF2-40B4-BE49-F238E27FC236}">
                <a16:creationId xmlns:a16="http://schemas.microsoft.com/office/drawing/2014/main" id="{C8024A50-C834-4B4C-8F86-86D51C05A4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4965" y="6492875"/>
            <a:ext cx="5652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 b="0" i="0">
                <a:solidFill>
                  <a:schemeClr val="accent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070B80B4-B953-6547-A044-6E303DFD4AF3}" type="slidenum">
              <a:rPr lang="nl-BE" smtClean="0"/>
              <a:pPr/>
              <a:t>‹#›</a:t>
            </a:fld>
            <a:endParaRPr lang="nl-BE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9673617" y="154522"/>
            <a:ext cx="2237174" cy="360363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00" baseline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1. Chapter 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446179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3" userDrawn="1">
          <p15:clr>
            <a:srgbClr val="FBAE40"/>
          </p15:clr>
        </p15:guide>
        <p15:guide id="2" pos="7446" userDrawn="1">
          <p15:clr>
            <a:srgbClr val="FBAE40"/>
          </p15:clr>
        </p15:guide>
        <p15:guide id="3" orient="horz" pos="368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9673617" y="154522"/>
            <a:ext cx="2237174" cy="360363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00" baseline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1. Chapter title</a:t>
            </a:r>
            <a:endParaRPr lang="en-GB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BD70334-D006-854B-BA49-9D20F1B8A0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4965" y="6492875"/>
            <a:ext cx="5652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 b="0" i="0">
                <a:solidFill>
                  <a:schemeClr val="accent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070B80B4-B953-6547-A044-6E303DFD4AF3}" type="slidenum">
              <a:rPr lang="nl-BE" smtClean="0"/>
              <a:pPr/>
              <a:t>‹#›</a:t>
            </a:fld>
            <a:endParaRPr lang="nl-BE" dirty="0"/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BFBC100F-BA8E-FA44-81D9-DCCFC96E831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6572" y="845232"/>
            <a:ext cx="10858858" cy="478554"/>
          </a:xfrm>
          <a:prstGeom prst="rect">
            <a:avLst/>
          </a:prstGeom>
        </p:spPr>
        <p:txBody>
          <a:bodyPr anchor="t" anchorCtr="0"/>
          <a:lstStyle>
            <a:lvl1pPr marL="0" indent="0" algn="l">
              <a:buNone/>
              <a:defRPr sz="36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Title Slide Left Align</a:t>
            </a:r>
          </a:p>
        </p:txBody>
      </p:sp>
    </p:spTree>
    <p:extLst>
      <p:ext uri="{BB962C8B-B14F-4D97-AF65-F5344CB8AC3E}">
        <p14:creationId xmlns:p14="http://schemas.microsoft.com/office/powerpoint/2010/main" val="33423393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dianummer 5">
            <a:extLst>
              <a:ext uri="{FF2B5EF4-FFF2-40B4-BE49-F238E27FC236}">
                <a16:creationId xmlns:a16="http://schemas.microsoft.com/office/drawing/2014/main" id="{71FAD9FF-DCB0-7A4C-BC0D-214903CE75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4965" y="6492875"/>
            <a:ext cx="5652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 b="0" i="0">
                <a:solidFill>
                  <a:schemeClr val="accent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070B80B4-B953-6547-A044-6E303DFD4AF3}" type="slidenum">
              <a:rPr lang="nl-BE" smtClean="0"/>
              <a:pPr/>
              <a:t>‹#›</a:t>
            </a:fld>
            <a:endParaRPr lang="nl-BE" dirty="0"/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9673617" y="154522"/>
            <a:ext cx="2237174" cy="360363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00" baseline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1. Chapter title</a:t>
            </a:r>
            <a:endParaRPr lang="en-GB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20"/>
          </p:nvPr>
        </p:nvSpPr>
        <p:spPr>
          <a:xfrm>
            <a:off x="666572" y="1779340"/>
            <a:ext cx="10858858" cy="4518909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24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65113" indent="-228600">
              <a:lnSpc>
                <a:spcPct val="100000"/>
              </a:lnSpc>
              <a:buClr>
                <a:srgbClr val="00B0F0"/>
              </a:buClr>
              <a:defRPr sz="24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623888" indent="-228600">
              <a:lnSpc>
                <a:spcPct val="100000"/>
              </a:lnSpc>
              <a:buClr>
                <a:srgbClr val="00B0F0"/>
              </a:buClr>
              <a:buFont typeface="Calibri Light" panose="020F0302020204030204" pitchFamily="34" charset="0"/>
              <a:buChar char="̶"/>
              <a:defRPr sz="24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896938" indent="-228600">
              <a:lnSpc>
                <a:spcPct val="100000"/>
              </a:lnSpc>
              <a:buClr>
                <a:srgbClr val="00B0F0"/>
              </a:buClr>
              <a:buFont typeface="Courier New" panose="02070309020205020404" pitchFamily="49" charset="0"/>
              <a:buChar char="o"/>
              <a:defRPr sz="24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2400"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BFBC100F-BA8E-FA44-81D9-DCCFC96E831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6572" y="845232"/>
            <a:ext cx="10858858" cy="478554"/>
          </a:xfrm>
          <a:prstGeom prst="rect">
            <a:avLst/>
          </a:prstGeom>
        </p:spPr>
        <p:txBody>
          <a:bodyPr anchor="t" anchorCtr="0"/>
          <a:lstStyle>
            <a:lvl1pPr marL="0" indent="0" algn="l">
              <a:buNone/>
              <a:defRPr sz="36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Title Slide Left Align</a:t>
            </a:r>
          </a:p>
        </p:txBody>
      </p:sp>
    </p:spTree>
    <p:extLst>
      <p:ext uri="{BB962C8B-B14F-4D97-AF65-F5344CB8AC3E}">
        <p14:creationId xmlns:p14="http://schemas.microsoft.com/office/powerpoint/2010/main" val="11317458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Lis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jdelijke aanduiding voor dianummer 5">
            <a:extLst>
              <a:ext uri="{FF2B5EF4-FFF2-40B4-BE49-F238E27FC236}">
                <a16:creationId xmlns:a16="http://schemas.microsoft.com/office/drawing/2014/main" id="{08F3A2BC-D0BC-C747-AA3B-0FF2A563BD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4965" y="6492875"/>
            <a:ext cx="5652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 b="0" i="0">
                <a:solidFill>
                  <a:schemeClr val="accent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070B80B4-B953-6547-A044-6E303DFD4AF3}" type="slidenum">
              <a:rPr lang="nl-BE" smtClean="0"/>
              <a:pPr/>
              <a:t>‹#›</a:t>
            </a:fld>
            <a:endParaRPr lang="nl-BE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22"/>
          </p:nvPr>
        </p:nvSpPr>
        <p:spPr>
          <a:xfrm>
            <a:off x="666572" y="1779342"/>
            <a:ext cx="5137821" cy="45359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4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65113" indent="-228600">
              <a:lnSpc>
                <a:spcPct val="100000"/>
              </a:lnSpc>
              <a:buClr>
                <a:srgbClr val="00B0F0"/>
              </a:buClr>
              <a:defRPr sz="24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623888" indent="-228600">
              <a:lnSpc>
                <a:spcPct val="100000"/>
              </a:lnSpc>
              <a:buClr>
                <a:srgbClr val="00B0F0"/>
              </a:buClr>
              <a:buFont typeface="Calibri Light" panose="020F0302020204030204" pitchFamily="34" charset="0"/>
              <a:buChar char="̶"/>
              <a:defRPr sz="24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896938" indent="-228600">
              <a:lnSpc>
                <a:spcPct val="100000"/>
              </a:lnSpc>
              <a:buClr>
                <a:srgbClr val="00B0F0"/>
              </a:buClr>
              <a:buFont typeface="Courier New" panose="02070309020205020404" pitchFamily="49" charset="0"/>
              <a:buChar char="o"/>
              <a:defRPr sz="24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2400"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24"/>
          </p:nvPr>
        </p:nvSpPr>
        <p:spPr>
          <a:xfrm>
            <a:off x="6378844" y="1779342"/>
            <a:ext cx="5146586" cy="45359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4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65113" indent="-228600">
              <a:lnSpc>
                <a:spcPct val="100000"/>
              </a:lnSpc>
              <a:buClr>
                <a:srgbClr val="00B0F0"/>
              </a:buClr>
              <a:defRPr sz="24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623888" indent="-228600">
              <a:lnSpc>
                <a:spcPct val="100000"/>
              </a:lnSpc>
              <a:buClr>
                <a:srgbClr val="00B0F0"/>
              </a:buClr>
              <a:buFont typeface="Calibri Light" panose="020F0302020204030204" pitchFamily="34" charset="0"/>
              <a:buChar char="̶"/>
              <a:defRPr sz="24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896938" indent="-228600">
              <a:lnSpc>
                <a:spcPct val="100000"/>
              </a:lnSpc>
              <a:buClr>
                <a:srgbClr val="00B0F0"/>
              </a:buClr>
              <a:buFont typeface="Courier New" panose="02070309020205020404" pitchFamily="49" charset="0"/>
              <a:buChar char="o"/>
              <a:defRPr sz="24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2400"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9673617" y="154522"/>
            <a:ext cx="2237174" cy="360363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00" baseline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1. Chapter title</a:t>
            </a:r>
            <a:endParaRPr lang="en-GB" dirty="0"/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BFBC100F-BA8E-FA44-81D9-DCCFC96E831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6572" y="845232"/>
            <a:ext cx="10858858" cy="478554"/>
          </a:xfrm>
          <a:prstGeom prst="rect">
            <a:avLst/>
          </a:prstGeom>
        </p:spPr>
        <p:txBody>
          <a:bodyPr anchor="t" anchorCtr="0"/>
          <a:lstStyle>
            <a:lvl1pPr marL="0" indent="0" algn="l">
              <a:buNone/>
              <a:defRPr sz="36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Title Slide Left Align</a:t>
            </a:r>
          </a:p>
        </p:txBody>
      </p:sp>
    </p:spTree>
    <p:extLst>
      <p:ext uri="{BB962C8B-B14F-4D97-AF65-F5344CB8AC3E}">
        <p14:creationId xmlns:p14="http://schemas.microsoft.com/office/powerpoint/2010/main" val="8682189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ject + Title + Tex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/>
          <p:cNvSpPr>
            <a:spLocks noGrp="1"/>
          </p:cNvSpPr>
          <p:nvPr>
            <p:ph type="body" sz="quarter" idx="20"/>
          </p:nvPr>
        </p:nvSpPr>
        <p:spPr>
          <a:xfrm>
            <a:off x="6378844" y="1786070"/>
            <a:ext cx="5146585" cy="451217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4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65113" indent="-228600">
              <a:lnSpc>
                <a:spcPct val="100000"/>
              </a:lnSpc>
              <a:buClr>
                <a:srgbClr val="00B0F0"/>
              </a:buClr>
              <a:defRPr sz="24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623888" indent="-228600">
              <a:lnSpc>
                <a:spcPct val="100000"/>
              </a:lnSpc>
              <a:buClr>
                <a:srgbClr val="00B0F0"/>
              </a:buClr>
              <a:buFont typeface="Calibri Light" panose="020F0302020204030204" pitchFamily="34" charset="0"/>
              <a:buChar char="̶"/>
              <a:defRPr sz="24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896938" indent="-228600">
              <a:lnSpc>
                <a:spcPct val="100000"/>
              </a:lnSpc>
              <a:buClr>
                <a:srgbClr val="00B0F0"/>
              </a:buClr>
              <a:buFont typeface="Courier New" panose="02070309020205020404" pitchFamily="49" charset="0"/>
              <a:buChar char="o"/>
              <a:defRPr sz="24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2400"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1" name="Content Placeholder 17">
            <a:extLst>
              <a:ext uri="{FF2B5EF4-FFF2-40B4-BE49-F238E27FC236}">
                <a16:creationId xmlns:a16="http://schemas.microsoft.com/office/drawing/2014/main" id="{A4850083-8533-5542-929E-63A9BABBC85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6763" y="845232"/>
            <a:ext cx="4726425" cy="557683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0" name="Tijdelijke aanduiding voor dianummer 5">
            <a:extLst>
              <a:ext uri="{FF2B5EF4-FFF2-40B4-BE49-F238E27FC236}">
                <a16:creationId xmlns:a16="http://schemas.microsoft.com/office/drawing/2014/main" id="{A07981A4-B8D1-144A-91E1-9E6707E188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4965" y="6492875"/>
            <a:ext cx="5652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 b="0" i="0">
                <a:solidFill>
                  <a:schemeClr val="accent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070B80B4-B953-6547-A044-6E303DFD4AF3}" type="slidenum">
              <a:rPr lang="nl-BE" smtClean="0"/>
              <a:pPr/>
              <a:t>‹#›</a:t>
            </a:fld>
            <a:endParaRPr lang="nl-BE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9673617" y="154522"/>
            <a:ext cx="2237174" cy="360363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00" baseline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1. Chapter title</a:t>
            </a:r>
            <a:endParaRPr lang="en-GB" dirty="0"/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BFBC100F-BA8E-FA44-81D9-DCCFC96E831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78844" y="845232"/>
            <a:ext cx="5146585" cy="478554"/>
          </a:xfrm>
          <a:prstGeom prst="rect">
            <a:avLst/>
          </a:prstGeom>
        </p:spPr>
        <p:txBody>
          <a:bodyPr anchor="t" anchorCtr="0"/>
          <a:lstStyle>
            <a:lvl1pPr marL="0" indent="0" algn="l">
              <a:buNone/>
              <a:defRPr sz="36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Title Slide Left Align</a:t>
            </a:r>
          </a:p>
        </p:txBody>
      </p:sp>
    </p:spTree>
    <p:extLst>
      <p:ext uri="{BB962C8B-B14F-4D97-AF65-F5344CB8AC3E}">
        <p14:creationId xmlns:p14="http://schemas.microsoft.com/office/powerpoint/2010/main" val="36662792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483" userDrawn="1">
          <p15:clr>
            <a:srgbClr val="FBAE40"/>
          </p15:clr>
        </p15:guide>
        <p15:guide id="3" pos="7265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ject + Title + Text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41D8F43-F467-6241-A72E-B8BAA360773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0" y="448921"/>
            <a:ext cx="5653088" cy="640907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2" name="Tijdelijke aanduiding voor dianummer 5">
            <a:extLst>
              <a:ext uri="{FF2B5EF4-FFF2-40B4-BE49-F238E27FC236}">
                <a16:creationId xmlns:a16="http://schemas.microsoft.com/office/drawing/2014/main" id="{F0E76C92-10B1-5746-8A5B-50335A7323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4965" y="6492875"/>
            <a:ext cx="5652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 b="0" i="0">
                <a:solidFill>
                  <a:schemeClr val="accent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070B80B4-B953-6547-A044-6E303DFD4AF3}" type="slidenum">
              <a:rPr lang="nl-BE" smtClean="0"/>
              <a:pPr/>
              <a:t>‹#›</a:t>
            </a:fld>
            <a:endParaRPr lang="nl-BE" dirty="0"/>
          </a:p>
        </p:txBody>
      </p:sp>
      <p:pic>
        <p:nvPicPr>
          <p:cNvPr id="8" name="Afbeelding 1">
            <a:extLst>
              <a:ext uri="{FF2B5EF4-FFF2-40B4-BE49-F238E27FC236}">
                <a16:creationId xmlns:a16="http://schemas.microsoft.com/office/drawing/2014/main" id="{9FE3A4A6-650B-AF4D-A7C7-2D539184454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0000" cy="360000"/>
          </a:xfrm>
          <a:prstGeom prst="rect">
            <a:avLst/>
          </a:prstGeom>
        </p:spPr>
      </p:pic>
      <p:sp>
        <p:nvSpPr>
          <p:cNvPr id="15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9673617" y="154522"/>
            <a:ext cx="2237174" cy="360363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00" baseline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1. Chapter title</a:t>
            </a:r>
            <a:endParaRPr lang="en-GB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20"/>
          </p:nvPr>
        </p:nvSpPr>
        <p:spPr>
          <a:xfrm>
            <a:off x="6378844" y="1786071"/>
            <a:ext cx="5146585" cy="398742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4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65113" indent="-228600">
              <a:lnSpc>
                <a:spcPct val="100000"/>
              </a:lnSpc>
              <a:buClr>
                <a:srgbClr val="00B0F0"/>
              </a:buClr>
              <a:defRPr sz="24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623888" indent="-228600">
              <a:lnSpc>
                <a:spcPct val="100000"/>
              </a:lnSpc>
              <a:buClr>
                <a:srgbClr val="00B0F0"/>
              </a:buClr>
              <a:buFont typeface="Calibri Light" panose="020F0302020204030204" pitchFamily="34" charset="0"/>
              <a:buChar char="̶"/>
              <a:defRPr sz="24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896938" indent="-228600">
              <a:lnSpc>
                <a:spcPct val="100000"/>
              </a:lnSpc>
              <a:buClr>
                <a:srgbClr val="00B0F0"/>
              </a:buClr>
              <a:buFont typeface="Courier New" panose="02070309020205020404" pitchFamily="49" charset="0"/>
              <a:buChar char="o"/>
              <a:defRPr sz="24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2400"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BFBC100F-BA8E-FA44-81D9-DCCFC96E831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78844" y="845232"/>
            <a:ext cx="5146585" cy="478554"/>
          </a:xfrm>
          <a:prstGeom prst="rect">
            <a:avLst/>
          </a:prstGeom>
        </p:spPr>
        <p:txBody>
          <a:bodyPr anchor="t" anchorCtr="0"/>
          <a:lstStyle>
            <a:lvl1pPr marL="0" indent="0" algn="l">
              <a:buNone/>
              <a:defRPr sz="36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Title Slide Left Align</a:t>
            </a:r>
          </a:p>
        </p:txBody>
      </p:sp>
    </p:spTree>
    <p:extLst>
      <p:ext uri="{BB962C8B-B14F-4D97-AF65-F5344CB8AC3E}">
        <p14:creationId xmlns:p14="http://schemas.microsoft.com/office/powerpoint/2010/main" val="5380714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+ Objec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/>
          <p:cNvSpPr>
            <a:spLocks noGrp="1"/>
          </p:cNvSpPr>
          <p:nvPr>
            <p:ph type="body" sz="quarter" idx="20"/>
          </p:nvPr>
        </p:nvSpPr>
        <p:spPr>
          <a:xfrm>
            <a:off x="766763" y="1786070"/>
            <a:ext cx="5146585" cy="45207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4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65113" indent="-228600">
              <a:lnSpc>
                <a:spcPct val="100000"/>
              </a:lnSpc>
              <a:buClr>
                <a:srgbClr val="00B0F0"/>
              </a:buClr>
              <a:defRPr sz="24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623888" indent="-228600">
              <a:lnSpc>
                <a:spcPct val="100000"/>
              </a:lnSpc>
              <a:buClr>
                <a:srgbClr val="00B0F0"/>
              </a:buClr>
              <a:buFont typeface="Calibri Light" panose="020F0302020204030204" pitchFamily="34" charset="0"/>
              <a:buChar char="̶"/>
              <a:defRPr sz="24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896938" indent="-228600">
              <a:lnSpc>
                <a:spcPct val="100000"/>
              </a:lnSpc>
              <a:buClr>
                <a:srgbClr val="00B0F0"/>
              </a:buClr>
              <a:buFont typeface="Courier New" panose="02070309020205020404" pitchFamily="49" charset="0"/>
              <a:buChar char="o"/>
              <a:defRPr sz="24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2400"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1" name="Content Placeholder 17">
            <a:extLst>
              <a:ext uri="{FF2B5EF4-FFF2-40B4-BE49-F238E27FC236}">
                <a16:creationId xmlns:a16="http://schemas.microsoft.com/office/drawing/2014/main" id="{A4850083-8533-5542-929E-63A9BABBC85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06763" y="845232"/>
            <a:ext cx="4726425" cy="558739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0" name="Tijdelijke aanduiding voor dianummer 5">
            <a:extLst>
              <a:ext uri="{FF2B5EF4-FFF2-40B4-BE49-F238E27FC236}">
                <a16:creationId xmlns:a16="http://schemas.microsoft.com/office/drawing/2014/main" id="{A07981A4-B8D1-144A-91E1-9E6707E188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4965" y="6492875"/>
            <a:ext cx="5652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 b="0" i="0">
                <a:solidFill>
                  <a:schemeClr val="accent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070B80B4-B953-6547-A044-6E303DFD4AF3}" type="slidenum">
              <a:rPr lang="nl-BE" smtClean="0"/>
              <a:pPr/>
              <a:t>‹#›</a:t>
            </a:fld>
            <a:endParaRPr lang="nl-BE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9673617" y="154522"/>
            <a:ext cx="2237174" cy="360363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00" baseline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1. Chapter title</a:t>
            </a:r>
            <a:endParaRPr lang="en-GB" dirty="0"/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BFBC100F-BA8E-FA44-81D9-DCCFC96E831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6763" y="845232"/>
            <a:ext cx="5146585" cy="478554"/>
          </a:xfrm>
          <a:prstGeom prst="rect">
            <a:avLst/>
          </a:prstGeom>
        </p:spPr>
        <p:txBody>
          <a:bodyPr anchor="t" anchorCtr="0"/>
          <a:lstStyle>
            <a:lvl1pPr marL="0" indent="0" algn="l">
              <a:buNone/>
              <a:defRPr sz="36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Title Slide Left Align</a:t>
            </a:r>
          </a:p>
        </p:txBody>
      </p:sp>
    </p:spTree>
    <p:extLst>
      <p:ext uri="{BB962C8B-B14F-4D97-AF65-F5344CB8AC3E}">
        <p14:creationId xmlns:p14="http://schemas.microsoft.com/office/powerpoint/2010/main" val="30538793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83">
          <p15:clr>
            <a:srgbClr val="FBAE40"/>
          </p15:clr>
        </p15:guide>
        <p15:guide id="3" pos="7265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+ Object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CB18433-8BE9-BB40-A990-BEE1341FD4D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38912" y="-1"/>
            <a:ext cx="5653088" cy="640907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0" name="Tijdelijke aanduiding voor dianummer 5">
            <a:extLst>
              <a:ext uri="{FF2B5EF4-FFF2-40B4-BE49-F238E27FC236}">
                <a16:creationId xmlns:a16="http://schemas.microsoft.com/office/drawing/2014/main" id="{3DC0EF3F-9C1C-A547-8D7D-17031E9425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4965" y="6492875"/>
            <a:ext cx="5652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 b="0" i="0">
                <a:solidFill>
                  <a:schemeClr val="accent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070B80B4-B953-6547-A044-6E303DFD4AF3}" type="slidenum">
              <a:rPr lang="nl-BE" smtClean="0"/>
              <a:pPr/>
              <a:t>‹#›</a:t>
            </a:fld>
            <a:endParaRPr lang="nl-BE" dirty="0"/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9673617" y="154522"/>
            <a:ext cx="2237174" cy="360363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00" baseline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1. Chapter title</a:t>
            </a:r>
            <a:endParaRPr lang="en-GB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20"/>
          </p:nvPr>
        </p:nvSpPr>
        <p:spPr>
          <a:xfrm>
            <a:off x="766763" y="1786071"/>
            <a:ext cx="5146585" cy="398742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4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65113" indent="-228600">
              <a:lnSpc>
                <a:spcPct val="100000"/>
              </a:lnSpc>
              <a:buClr>
                <a:srgbClr val="00B0F0"/>
              </a:buClr>
              <a:defRPr sz="24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623888" indent="-228600">
              <a:lnSpc>
                <a:spcPct val="100000"/>
              </a:lnSpc>
              <a:buClr>
                <a:srgbClr val="00B0F0"/>
              </a:buClr>
              <a:buFont typeface="Calibri Light" panose="020F0302020204030204" pitchFamily="34" charset="0"/>
              <a:buChar char="̶"/>
              <a:defRPr sz="24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896938" indent="-228600">
              <a:lnSpc>
                <a:spcPct val="100000"/>
              </a:lnSpc>
              <a:buClr>
                <a:srgbClr val="00B0F0"/>
              </a:buClr>
              <a:buFont typeface="Courier New" panose="02070309020205020404" pitchFamily="49" charset="0"/>
              <a:buChar char="o"/>
              <a:defRPr sz="24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2400"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BFBC100F-BA8E-FA44-81D9-DCCFC96E831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6763" y="845232"/>
            <a:ext cx="5146585" cy="478554"/>
          </a:xfrm>
          <a:prstGeom prst="rect">
            <a:avLst/>
          </a:prstGeom>
        </p:spPr>
        <p:txBody>
          <a:bodyPr anchor="t" anchorCtr="0"/>
          <a:lstStyle>
            <a:lvl1pPr marL="0" indent="0" algn="l">
              <a:buNone/>
              <a:defRPr sz="36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Title Slide Left Align</a:t>
            </a:r>
          </a:p>
        </p:txBody>
      </p:sp>
    </p:spTree>
    <p:extLst>
      <p:ext uri="{BB962C8B-B14F-4D97-AF65-F5344CB8AC3E}">
        <p14:creationId xmlns:p14="http://schemas.microsoft.com/office/powerpoint/2010/main" val="32864727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tekst 3">
            <a:extLst>
              <a:ext uri="{FF2B5EF4-FFF2-40B4-BE49-F238E27FC236}">
                <a16:creationId xmlns:a16="http://schemas.microsoft.com/office/drawing/2014/main" id="{3BB5F19F-D3C7-3A49-9867-D2A2A8E5B58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6572" y="845232"/>
            <a:ext cx="10858858" cy="4785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>
                <a:latin typeface="+mn-lt"/>
              </a:defRPr>
            </a:lvl1pPr>
          </a:lstStyle>
          <a:p>
            <a:pPr algn="ctr"/>
            <a:r>
              <a:rPr lang="nl-BE" dirty="0" err="1"/>
              <a:t>Pie</a:t>
            </a:r>
            <a:r>
              <a:rPr lang="nl-BE" dirty="0"/>
              <a:t> </a:t>
            </a:r>
            <a:r>
              <a:rPr lang="nl-BE" dirty="0" err="1"/>
              <a:t>chart</a:t>
            </a:r>
            <a:r>
              <a:rPr lang="nl-BE" dirty="0"/>
              <a:t> </a:t>
            </a:r>
            <a:r>
              <a:rPr lang="nl-BE" dirty="0" err="1"/>
              <a:t>example</a:t>
            </a:r>
            <a:endParaRPr lang="nl-BE" dirty="0"/>
          </a:p>
        </p:txBody>
      </p:sp>
      <p:graphicFrame>
        <p:nvGraphicFramePr>
          <p:cNvPr id="10" name="Grafiek 5">
            <a:extLst>
              <a:ext uri="{FF2B5EF4-FFF2-40B4-BE49-F238E27FC236}">
                <a16:creationId xmlns:a16="http://schemas.microsoft.com/office/drawing/2014/main" id="{BB5CFF34-5D9F-474B-8C5B-879A3079F84F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506473891"/>
              </p:ext>
            </p:extLst>
          </p:nvPr>
        </p:nvGraphicFramePr>
        <p:xfrm>
          <a:off x="0" y="1399648"/>
          <a:ext cx="12192000" cy="46959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4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9673617" y="154522"/>
            <a:ext cx="2237174" cy="360363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00" baseline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1. Chapter 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6765384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3">
            <a:extLst>
              <a:ext uri="{FF2B5EF4-FFF2-40B4-BE49-F238E27FC236}">
                <a16:creationId xmlns:a16="http://schemas.microsoft.com/office/drawing/2014/main" id="{D64CAAF9-474C-524F-9F49-FFC3F861982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6572" y="845232"/>
            <a:ext cx="10858858" cy="4785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>
                <a:latin typeface="+mn-lt"/>
              </a:defRPr>
            </a:lvl1pPr>
          </a:lstStyle>
          <a:p>
            <a:pPr algn="ctr"/>
            <a:r>
              <a:rPr lang="nl-BE" dirty="0"/>
              <a:t>Column </a:t>
            </a:r>
            <a:r>
              <a:rPr lang="nl-BE" dirty="0" err="1"/>
              <a:t>chart</a:t>
            </a:r>
            <a:r>
              <a:rPr lang="nl-BE" dirty="0"/>
              <a:t> </a:t>
            </a:r>
            <a:r>
              <a:rPr lang="nl-BE" dirty="0" err="1"/>
              <a:t>example</a:t>
            </a:r>
            <a:endParaRPr lang="nl-BE" dirty="0"/>
          </a:p>
        </p:txBody>
      </p:sp>
      <p:graphicFrame>
        <p:nvGraphicFramePr>
          <p:cNvPr id="4" name="Grafiek 4">
            <a:extLst>
              <a:ext uri="{FF2B5EF4-FFF2-40B4-BE49-F238E27FC236}">
                <a16:creationId xmlns:a16="http://schemas.microsoft.com/office/drawing/2014/main" id="{56E3972B-35B5-A441-8D92-53F0787C25B3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1457357292"/>
              </p:ext>
            </p:extLst>
          </p:nvPr>
        </p:nvGraphicFramePr>
        <p:xfrm>
          <a:off x="2032000" y="1553029"/>
          <a:ext cx="8128000" cy="45822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2157014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Afbeelding 7">
            <a:extLst>
              <a:ext uri="{FF2B5EF4-FFF2-40B4-BE49-F238E27FC236}">
                <a16:creationId xmlns:a16="http://schemas.microsoft.com/office/drawing/2014/main" id="{B449E24F-1457-C441-87BA-E2660BD4AA9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634400"/>
            <a:ext cx="12192000" cy="5223600"/>
          </a:xfrm>
          <a:prstGeom prst="rect">
            <a:avLst/>
          </a:prstGeom>
        </p:spPr>
      </p:pic>
      <p:sp>
        <p:nvSpPr>
          <p:cNvPr id="11" name="Titel 28">
            <a:extLst>
              <a:ext uri="{FF2B5EF4-FFF2-40B4-BE49-F238E27FC236}">
                <a16:creationId xmlns:a16="http://schemas.microsoft.com/office/drawing/2014/main" id="{60C35238-2B0F-7647-BA98-57300A635E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04587" y="0"/>
            <a:ext cx="9712533" cy="1634400"/>
          </a:xfrm>
          <a:prstGeom prst="rect">
            <a:avLst/>
          </a:prstGeom>
        </p:spPr>
        <p:txBody>
          <a:bodyPr anchor="ctr">
            <a:noAutofit/>
          </a:bodyPr>
          <a:lstStyle>
            <a:lvl1pPr algn="r">
              <a:defRPr sz="3500" b="1" i="0" baseline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NL" dirty="0"/>
              <a:t>1. </a:t>
            </a:r>
            <a:r>
              <a:rPr lang="nl-NL" dirty="0" err="1"/>
              <a:t>Chapter</a:t>
            </a:r>
            <a:r>
              <a:rPr lang="nl-NL" dirty="0"/>
              <a:t> </a:t>
            </a:r>
            <a:r>
              <a:rPr lang="nl-NL" dirty="0" err="1"/>
              <a:t>title</a:t>
            </a:r>
            <a:endParaRPr lang="nl-BE" dirty="0"/>
          </a:p>
        </p:txBody>
      </p:sp>
      <p:pic>
        <p:nvPicPr>
          <p:cNvPr id="18" name="Afbeelding 17">
            <a:extLst>
              <a:ext uri="{FF2B5EF4-FFF2-40B4-BE49-F238E27FC236}">
                <a16:creationId xmlns:a16="http://schemas.microsoft.com/office/drawing/2014/main" id="{F1ACC805-6897-BC44-BC1E-3C12B8BFA9B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5200" y="5551200"/>
            <a:ext cx="1306800" cy="1306800"/>
          </a:xfrm>
          <a:prstGeom prst="rect">
            <a:avLst/>
          </a:prstGeom>
        </p:spPr>
      </p:pic>
      <p:pic>
        <p:nvPicPr>
          <p:cNvPr id="19" name="Afbeelding 18">
            <a:extLst>
              <a:ext uri="{FF2B5EF4-FFF2-40B4-BE49-F238E27FC236}">
                <a16:creationId xmlns:a16="http://schemas.microsoft.com/office/drawing/2014/main" id="{8B127527-812D-8B48-9226-19EBD26C575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306800" cy="130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29931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634400"/>
            <a:ext cx="12192000" cy="5223600"/>
          </a:xfrm>
          <a:prstGeom prst="rect">
            <a:avLst/>
          </a:prstGeom>
        </p:spPr>
      </p:pic>
      <p:sp>
        <p:nvSpPr>
          <p:cNvPr id="11" name="Titel 28">
            <a:extLst>
              <a:ext uri="{FF2B5EF4-FFF2-40B4-BE49-F238E27FC236}">
                <a16:creationId xmlns:a16="http://schemas.microsoft.com/office/drawing/2014/main" id="{60C35238-2B0F-7647-BA98-57300A635E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04587" y="0"/>
            <a:ext cx="9712533" cy="1634400"/>
          </a:xfrm>
          <a:prstGeom prst="rect">
            <a:avLst/>
          </a:prstGeom>
        </p:spPr>
        <p:txBody>
          <a:bodyPr anchor="ctr">
            <a:noAutofit/>
          </a:bodyPr>
          <a:lstStyle>
            <a:lvl1pPr algn="r">
              <a:defRPr sz="3500" b="1" i="0" baseline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NL" dirty="0"/>
              <a:t>1. </a:t>
            </a:r>
            <a:r>
              <a:rPr lang="nl-NL" dirty="0" err="1"/>
              <a:t>Chapter</a:t>
            </a:r>
            <a:r>
              <a:rPr lang="nl-NL" dirty="0"/>
              <a:t> </a:t>
            </a:r>
            <a:r>
              <a:rPr lang="nl-NL" dirty="0" err="1"/>
              <a:t>title</a:t>
            </a:r>
            <a:endParaRPr lang="nl-BE" dirty="0"/>
          </a:p>
        </p:txBody>
      </p:sp>
      <p:pic>
        <p:nvPicPr>
          <p:cNvPr id="18" name="Afbeelding 17">
            <a:extLst>
              <a:ext uri="{FF2B5EF4-FFF2-40B4-BE49-F238E27FC236}">
                <a16:creationId xmlns:a16="http://schemas.microsoft.com/office/drawing/2014/main" id="{F1ACC805-6897-BC44-BC1E-3C12B8BFA9B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5200" y="5551200"/>
            <a:ext cx="1306800" cy="1306800"/>
          </a:xfrm>
          <a:prstGeom prst="rect">
            <a:avLst/>
          </a:prstGeom>
        </p:spPr>
      </p:pic>
      <p:pic>
        <p:nvPicPr>
          <p:cNvPr id="19" name="Afbeelding 18">
            <a:extLst>
              <a:ext uri="{FF2B5EF4-FFF2-40B4-BE49-F238E27FC236}">
                <a16:creationId xmlns:a16="http://schemas.microsoft.com/office/drawing/2014/main" id="{8B127527-812D-8B48-9226-19EBD26C575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306800" cy="130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33661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afbeelding 2">
            <a:extLst>
              <a:ext uri="{FF2B5EF4-FFF2-40B4-BE49-F238E27FC236}">
                <a16:creationId xmlns:a16="http://schemas.microsoft.com/office/drawing/2014/main" id="{7B988CEB-0277-F24F-A6DB-DB8E4E98DBB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634400"/>
            <a:ext cx="12192000" cy="5223599"/>
          </a:xfrm>
          <a:prstGeom prst="rect">
            <a:avLst/>
          </a:prstGeom>
          <a:solidFill>
            <a:schemeClr val="tx2">
              <a:lumMod val="9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nl-BE" dirty="0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25730318-361E-1845-825B-37BE184BED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5200" y="5551200"/>
            <a:ext cx="1306800" cy="1306800"/>
          </a:xfrm>
          <a:prstGeom prst="rect">
            <a:avLst/>
          </a:prstGeom>
        </p:spPr>
      </p:pic>
      <p:pic>
        <p:nvPicPr>
          <p:cNvPr id="8" name="Afbeelding 7">
            <a:extLst>
              <a:ext uri="{FF2B5EF4-FFF2-40B4-BE49-F238E27FC236}">
                <a16:creationId xmlns:a16="http://schemas.microsoft.com/office/drawing/2014/main" id="{AAE89601-BCD0-F047-8EF2-BCF0A7E4E39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306800" cy="1306800"/>
          </a:xfrm>
          <a:prstGeom prst="rect">
            <a:avLst/>
          </a:prstGeom>
        </p:spPr>
      </p:pic>
      <p:sp>
        <p:nvSpPr>
          <p:cNvPr id="9" name="Titel 28">
            <a:extLst>
              <a:ext uri="{FF2B5EF4-FFF2-40B4-BE49-F238E27FC236}">
                <a16:creationId xmlns:a16="http://schemas.microsoft.com/office/drawing/2014/main" id="{075D6290-91D2-F24A-BD56-BB897A714E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04587" y="0"/>
            <a:ext cx="9712533" cy="1634400"/>
          </a:xfrm>
          <a:prstGeom prst="rect">
            <a:avLst/>
          </a:prstGeom>
        </p:spPr>
        <p:txBody>
          <a:bodyPr anchor="ctr">
            <a:noAutofit/>
          </a:bodyPr>
          <a:lstStyle>
            <a:lvl1pPr algn="r">
              <a:defRPr sz="35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NL" dirty="0"/>
              <a:t>1. </a:t>
            </a:r>
            <a:r>
              <a:rPr lang="nl-NL" dirty="0" err="1"/>
              <a:t>Chapter</a:t>
            </a:r>
            <a:r>
              <a:rPr lang="nl-NL" dirty="0"/>
              <a:t> </a:t>
            </a:r>
            <a:r>
              <a:rPr lang="nl-NL" dirty="0" err="1"/>
              <a:t>title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63517134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afbeelding 2">
            <a:extLst>
              <a:ext uri="{FF2B5EF4-FFF2-40B4-BE49-F238E27FC236}">
                <a16:creationId xmlns:a16="http://schemas.microsoft.com/office/drawing/2014/main" id="{7B988CEB-0277-F24F-A6DB-DB8E4E98DBB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tx2">
              <a:lumMod val="9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nl-BE" dirty="0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185C66D8-F688-5644-91F9-D0F6234182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5200" y="5551200"/>
            <a:ext cx="1306800" cy="1306800"/>
          </a:xfrm>
          <a:prstGeom prst="rect">
            <a:avLst/>
          </a:prstGeom>
        </p:spPr>
      </p:pic>
      <p:pic>
        <p:nvPicPr>
          <p:cNvPr id="8" name="Afbeelding 7">
            <a:extLst>
              <a:ext uri="{FF2B5EF4-FFF2-40B4-BE49-F238E27FC236}">
                <a16:creationId xmlns:a16="http://schemas.microsoft.com/office/drawing/2014/main" id="{7C9FB7BE-06A8-404E-AD31-B8BEE16B3E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306800" cy="130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76351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64E9ECBF-23C1-1644-8886-964FA886698D}"/>
              </a:ext>
            </a:extLst>
          </p:cNvPr>
          <p:cNvSpPr txBox="1">
            <a:spLocks/>
          </p:cNvSpPr>
          <p:nvPr userDrawn="1"/>
        </p:nvSpPr>
        <p:spPr>
          <a:xfrm>
            <a:off x="1306797" y="1306800"/>
            <a:ext cx="10885202" cy="4244400"/>
          </a:xfrm>
          <a:prstGeom prst="rect">
            <a:avLst/>
          </a:prstGeom>
        </p:spPr>
        <p:txBody>
          <a:bodyPr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50000"/>
              <a:buFont typeface="+mj-lt"/>
              <a:buNone/>
              <a:defRPr sz="4800" b="0" i="0" kern="1200">
                <a:solidFill>
                  <a:schemeClr val="tx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BE" b="1" i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1306798" y="1306800"/>
            <a:ext cx="9300878" cy="42444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BE" b="1" i="0" dirty="0" err="1">
                <a:latin typeface="Calibri" panose="020F0502020204030204" pitchFamily="34" charset="0"/>
                <a:cs typeface="Calibri" panose="020F0502020204030204" pitchFamily="34" charset="0"/>
              </a:rPr>
              <a:t>Your</a:t>
            </a:r>
            <a:r>
              <a:rPr lang="nl-BE" b="1" i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nl-BE" b="1" i="0" dirty="0" err="1">
                <a:latin typeface="Calibri" panose="020F0502020204030204" pitchFamily="34" charset="0"/>
                <a:cs typeface="Calibri" panose="020F0502020204030204" pitchFamily="34" charset="0"/>
              </a:rPr>
              <a:t>closing</a:t>
            </a:r>
            <a:r>
              <a:rPr lang="nl-BE" b="1" i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nl-BE" b="1" i="0" dirty="0" err="1">
                <a:latin typeface="Calibri" panose="020F0502020204030204" pitchFamily="34" charset="0"/>
                <a:cs typeface="Calibri" panose="020F0502020204030204" pitchFamily="34" charset="0"/>
              </a:rPr>
              <a:t>phrase</a:t>
            </a:r>
            <a:endParaRPr lang="nl-BE" b="1" i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098943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Dar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Afbeelding 6">
            <a:extLst>
              <a:ext uri="{FF2B5EF4-FFF2-40B4-BE49-F238E27FC236}">
                <a16:creationId xmlns:a16="http://schemas.microsoft.com/office/drawing/2014/main" id="{A5350FA6-7A12-8242-BC1E-5B8101F3636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" y="0"/>
            <a:ext cx="1306800" cy="1306800"/>
          </a:xfrm>
          <a:prstGeom prst="rect">
            <a:avLst/>
          </a:prstGeom>
        </p:spPr>
      </p:pic>
      <p:pic>
        <p:nvPicPr>
          <p:cNvPr id="10" name="Afbeelding 9">
            <a:extLst>
              <a:ext uri="{FF2B5EF4-FFF2-40B4-BE49-F238E27FC236}">
                <a16:creationId xmlns:a16="http://schemas.microsoft.com/office/drawing/2014/main" id="{5552E9BE-C5B0-2243-9B17-5CE4F5BEBD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5200" y="5551200"/>
            <a:ext cx="1306800" cy="1306800"/>
          </a:xfrm>
          <a:prstGeom prst="rect">
            <a:avLst/>
          </a:prstGeom>
        </p:spPr>
      </p:pic>
      <p:sp>
        <p:nvSpPr>
          <p:cNvPr id="4" name="Tijdelijke aanduiding voor tekst 2">
            <a:extLst>
              <a:ext uri="{FF2B5EF4-FFF2-40B4-BE49-F238E27FC236}">
                <a16:creationId xmlns:a16="http://schemas.microsoft.com/office/drawing/2014/main" id="{64E9ECBF-23C1-1644-8886-964FA886698D}"/>
              </a:ext>
            </a:extLst>
          </p:cNvPr>
          <p:cNvSpPr txBox="1">
            <a:spLocks/>
          </p:cNvSpPr>
          <p:nvPr userDrawn="1"/>
        </p:nvSpPr>
        <p:spPr>
          <a:xfrm>
            <a:off x="1306797" y="1306800"/>
            <a:ext cx="10885202" cy="4244400"/>
          </a:xfrm>
          <a:prstGeom prst="rect">
            <a:avLst/>
          </a:prstGeom>
        </p:spPr>
        <p:txBody>
          <a:bodyPr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50000"/>
              <a:buFont typeface="+mj-lt"/>
              <a:buNone/>
              <a:defRPr sz="4800" b="0" i="0" kern="1200">
                <a:solidFill>
                  <a:schemeClr val="tx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BE" b="1" i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1306798" y="1306800"/>
            <a:ext cx="9300878" cy="42444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BE" b="1" i="0" dirty="0" err="1">
                <a:latin typeface="Calibri" panose="020F0502020204030204" pitchFamily="34" charset="0"/>
                <a:cs typeface="Calibri" panose="020F0502020204030204" pitchFamily="34" charset="0"/>
              </a:rPr>
              <a:t>Your</a:t>
            </a:r>
            <a:r>
              <a:rPr lang="nl-BE" b="1" i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nl-BE" b="1" i="0" dirty="0" err="1">
                <a:latin typeface="Calibri" panose="020F0502020204030204" pitchFamily="34" charset="0"/>
                <a:cs typeface="Calibri" panose="020F0502020204030204" pitchFamily="34" charset="0"/>
              </a:rPr>
              <a:t>closing</a:t>
            </a:r>
            <a:r>
              <a:rPr lang="nl-BE" b="1" i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nl-BE" b="1" i="0" dirty="0" err="1">
                <a:latin typeface="Calibri" panose="020F0502020204030204" pitchFamily="34" charset="0"/>
                <a:cs typeface="Calibri" panose="020F0502020204030204" pitchFamily="34" charset="0"/>
              </a:rPr>
              <a:t>phrase</a:t>
            </a:r>
            <a:endParaRPr lang="nl-BE" b="1" i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828711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Dark + Text N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tekst 2">
            <a:extLst>
              <a:ext uri="{FF2B5EF4-FFF2-40B4-BE49-F238E27FC236}">
                <a16:creationId xmlns:a16="http://schemas.microsoft.com/office/drawing/2014/main" id="{64E9ECBF-23C1-1644-8886-964FA886698D}"/>
              </a:ext>
            </a:extLst>
          </p:cNvPr>
          <p:cNvSpPr txBox="1">
            <a:spLocks/>
          </p:cNvSpPr>
          <p:nvPr userDrawn="1"/>
        </p:nvSpPr>
        <p:spPr>
          <a:xfrm>
            <a:off x="1306797" y="1306800"/>
            <a:ext cx="10885202" cy="4244400"/>
          </a:xfrm>
          <a:prstGeom prst="rect">
            <a:avLst/>
          </a:prstGeom>
        </p:spPr>
        <p:txBody>
          <a:bodyPr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50000"/>
              <a:buFont typeface="+mj-lt"/>
              <a:buNone/>
              <a:defRPr sz="4800" b="0" i="0" kern="1200">
                <a:solidFill>
                  <a:schemeClr val="tx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BE" b="1" i="0" dirty="0">
                <a:latin typeface="Calibri" panose="020F0502020204030204" pitchFamily="34" charset="0"/>
                <a:cs typeface="Calibri" panose="020F0502020204030204" pitchFamily="34" charset="0"/>
              </a:rPr>
              <a:t>Ontwikkelt </a:t>
            </a:r>
          </a:p>
          <a:p>
            <a:r>
              <a:rPr lang="nl-BE" b="1" i="0" dirty="0">
                <a:latin typeface="Calibri" panose="020F0502020204030204" pitchFamily="34" charset="0"/>
                <a:cs typeface="Calibri" panose="020F0502020204030204" pitchFamily="34" charset="0"/>
              </a:rPr>
              <a:t>Faciliteert </a:t>
            </a:r>
          </a:p>
          <a:p>
            <a:r>
              <a:rPr lang="nl-BE" b="1" i="0" dirty="0">
                <a:latin typeface="Calibri" panose="020F0502020204030204" pitchFamily="34" charset="0"/>
                <a:cs typeface="Calibri" panose="020F0502020204030204" pitchFamily="34" charset="0"/>
              </a:rPr>
              <a:t>Verbindt</a:t>
            </a:r>
          </a:p>
        </p:txBody>
      </p:sp>
    </p:spTree>
    <p:extLst>
      <p:ext uri="{BB962C8B-B14F-4D97-AF65-F5344CB8AC3E}">
        <p14:creationId xmlns:p14="http://schemas.microsoft.com/office/powerpoint/2010/main" val="371440672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Dark + Text F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tekst 2">
            <a:extLst>
              <a:ext uri="{FF2B5EF4-FFF2-40B4-BE49-F238E27FC236}">
                <a16:creationId xmlns:a16="http://schemas.microsoft.com/office/drawing/2014/main" id="{64E9ECBF-23C1-1644-8886-964FA886698D}"/>
              </a:ext>
            </a:extLst>
          </p:cNvPr>
          <p:cNvSpPr txBox="1">
            <a:spLocks/>
          </p:cNvSpPr>
          <p:nvPr userDrawn="1"/>
        </p:nvSpPr>
        <p:spPr>
          <a:xfrm>
            <a:off x="1306797" y="1306800"/>
            <a:ext cx="10885202" cy="4244400"/>
          </a:xfrm>
          <a:prstGeom prst="rect">
            <a:avLst/>
          </a:prstGeom>
        </p:spPr>
        <p:txBody>
          <a:bodyPr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50000"/>
              <a:buFont typeface="+mj-lt"/>
              <a:buNone/>
              <a:defRPr sz="4800" b="0" i="0" kern="1200">
                <a:solidFill>
                  <a:schemeClr val="tx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BE" b="1" i="0" dirty="0" err="1">
                <a:latin typeface="Calibri" panose="020F0502020204030204" pitchFamily="34" charset="0"/>
                <a:cs typeface="Calibri" panose="020F0502020204030204" pitchFamily="34" charset="0"/>
              </a:rPr>
              <a:t>Développe</a:t>
            </a:r>
            <a:endParaRPr lang="nl-BE" b="1" i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nl-BE" b="1" i="0" dirty="0" err="1">
                <a:latin typeface="Calibri" panose="020F0502020204030204" pitchFamily="34" charset="0"/>
                <a:cs typeface="Calibri" panose="020F0502020204030204" pitchFamily="34" charset="0"/>
              </a:rPr>
              <a:t>Facilite</a:t>
            </a:r>
            <a:endParaRPr lang="nl-BE" b="1" i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nl-BE" b="1" i="0" dirty="0" err="1">
                <a:latin typeface="Calibri" panose="020F0502020204030204" pitchFamily="34" charset="0"/>
                <a:cs typeface="Calibri" panose="020F0502020204030204" pitchFamily="34" charset="0"/>
              </a:rPr>
              <a:t>Rapproche</a:t>
            </a:r>
            <a:endParaRPr lang="nl-BE" b="1" i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85614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Dark + Text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2">
            <a:extLst>
              <a:ext uri="{FF2B5EF4-FFF2-40B4-BE49-F238E27FC236}">
                <a16:creationId xmlns:a16="http://schemas.microsoft.com/office/drawing/2014/main" id="{64E9ECBF-23C1-1644-8886-964FA886698D}"/>
              </a:ext>
            </a:extLst>
          </p:cNvPr>
          <p:cNvSpPr txBox="1">
            <a:spLocks/>
          </p:cNvSpPr>
          <p:nvPr userDrawn="1"/>
        </p:nvSpPr>
        <p:spPr>
          <a:xfrm>
            <a:off x="1306797" y="1306800"/>
            <a:ext cx="10885202" cy="4244400"/>
          </a:xfrm>
          <a:prstGeom prst="rect">
            <a:avLst/>
          </a:prstGeom>
        </p:spPr>
        <p:txBody>
          <a:bodyPr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50000"/>
              <a:buFont typeface="+mj-lt"/>
              <a:buNone/>
              <a:defRPr sz="4800" b="0" i="0" kern="1200">
                <a:solidFill>
                  <a:schemeClr val="tx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BE" b="1" i="0" dirty="0" err="1">
                <a:latin typeface="Calibri" panose="020F0502020204030204" pitchFamily="34" charset="0"/>
                <a:cs typeface="Calibri" panose="020F0502020204030204" pitchFamily="34" charset="0"/>
              </a:rPr>
              <a:t>Develops</a:t>
            </a:r>
            <a:endParaRPr lang="nl-BE" b="1" i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nl-BE" b="1" dirty="0" err="1"/>
              <a:t>Facilitates</a:t>
            </a:r>
            <a:endParaRPr lang="nl-BE" b="1" dirty="0"/>
          </a:p>
          <a:p>
            <a:r>
              <a:rPr lang="nl-BE" b="1" i="0" dirty="0" err="1">
                <a:latin typeface="Calibri" panose="020F0502020204030204" pitchFamily="34" charset="0"/>
                <a:cs typeface="Calibri" panose="020F0502020204030204" pitchFamily="34" charset="0"/>
              </a:rPr>
              <a:t>Bringstogether</a:t>
            </a:r>
            <a:endParaRPr lang="nl-BE" b="1" i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4947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10" Type="http://schemas.openxmlformats.org/officeDocument/2006/relationships/image" Target="../media/image10.png"/><Relationship Id="rId4" Type="http://schemas.openxmlformats.org/officeDocument/2006/relationships/slideLayout" Target="../slideLayouts/slideLayout14.xml"/><Relationship Id="rId9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0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5" Type="http://schemas.openxmlformats.org/officeDocument/2006/relationships/theme" Target="../theme/theme5.xml"/><Relationship Id="rId4" Type="http://schemas.openxmlformats.org/officeDocument/2006/relationships/slideLayout" Target="../slideLayouts/slideLayout24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25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8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9.png"/><Relationship Id="rId5" Type="http://schemas.openxmlformats.org/officeDocument/2006/relationships/theme" Target="../theme/theme7.xml"/><Relationship Id="rId4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115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780" r:id="rId2"/>
    <p:sldLayoutId id="2147483777" r:id="rId3"/>
    <p:sldLayoutId id="2147483779" r:id="rId4"/>
    <p:sldLayoutId id="2147483778" r:id="rId5"/>
    <p:sldLayoutId id="2147483752" r:id="rId6"/>
    <p:sldLayoutId id="2147483804" r:id="rId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5970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67" r:id="rId2"/>
    <p:sldLayoutId id="2147483794" r:id="rId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hoek 2">
            <a:extLst>
              <a:ext uri="{FF2B5EF4-FFF2-40B4-BE49-F238E27FC236}">
                <a16:creationId xmlns:a16="http://schemas.microsoft.com/office/drawing/2014/main" id="{F9C57023-7CE4-824C-8E0E-D8797537E412}"/>
              </a:ext>
            </a:extLst>
          </p:cNvPr>
          <p:cNvSpPr/>
          <p:nvPr userDrawn="1"/>
        </p:nvSpPr>
        <p:spPr>
          <a:xfrm>
            <a:off x="0" y="6495880"/>
            <a:ext cx="12192000" cy="3621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2" name="Afbeelding 1">
            <a:extLst>
              <a:ext uri="{FF2B5EF4-FFF2-40B4-BE49-F238E27FC236}">
                <a16:creationId xmlns:a16="http://schemas.microsoft.com/office/drawing/2014/main" id="{9FE3A4A6-650B-AF4D-A7C7-2D5391844543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0000" cy="360000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D9222961-87D7-D445-A5B6-9CB31A193F80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32000" y="6498000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487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92" r:id="rId3"/>
    <p:sldLayoutId id="2147483770" r:id="rId4"/>
    <p:sldLayoutId id="2147483782" r:id="rId5"/>
    <p:sldLayoutId id="2147483703" r:id="rId6"/>
    <p:sldLayoutId id="2147483783" r:id="rId7"/>
    <p:sldLayoutId id="2147483704" r:id="rId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Afbeelding 1">
            <a:extLst>
              <a:ext uri="{FF2B5EF4-FFF2-40B4-BE49-F238E27FC236}">
                <a16:creationId xmlns:a16="http://schemas.microsoft.com/office/drawing/2014/main" id="{9FE3A4A6-650B-AF4D-A7C7-2D539184454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0000" cy="360000"/>
          </a:xfrm>
          <a:prstGeom prst="rect">
            <a:avLst/>
          </a:prstGeom>
        </p:spPr>
      </p:pic>
      <p:pic>
        <p:nvPicPr>
          <p:cNvPr id="5" name="Afbeelding 5">
            <a:extLst>
              <a:ext uri="{FF2B5EF4-FFF2-40B4-BE49-F238E27FC236}">
                <a16:creationId xmlns:a16="http://schemas.microsoft.com/office/drawing/2014/main" id="{D9222961-87D7-D445-A5B6-9CB31A193F8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32000" y="6498000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103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  <p:sldLayoutId id="2147483803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15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6" r:id="rId1"/>
    <p:sldLayoutId id="2147483795" r:id="rId2"/>
    <p:sldLayoutId id="2147483787" r:id="rId3"/>
    <p:sldLayoutId id="2147483793" r:id="rId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EA136B0-1AB2-9C47-AC9F-ACFCCD2DEA8D}"/>
              </a:ext>
            </a:extLst>
          </p:cNvPr>
          <p:cNvSpPr/>
          <p:nvPr userDrawn="1"/>
        </p:nvSpPr>
        <p:spPr>
          <a:xfrm>
            <a:off x="-3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Afbeelding 6">
            <a:extLst>
              <a:ext uri="{FF2B5EF4-FFF2-40B4-BE49-F238E27FC236}">
                <a16:creationId xmlns:a16="http://schemas.microsoft.com/office/drawing/2014/main" id="{37A65FAF-7228-264A-8AFA-F74C32CDC41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" y="0"/>
            <a:ext cx="1306800" cy="1306800"/>
          </a:xfrm>
          <a:prstGeom prst="rect">
            <a:avLst/>
          </a:prstGeom>
        </p:spPr>
      </p:pic>
      <p:pic>
        <p:nvPicPr>
          <p:cNvPr id="4" name="Afbeelding 9">
            <a:extLst>
              <a:ext uri="{FF2B5EF4-FFF2-40B4-BE49-F238E27FC236}">
                <a16:creationId xmlns:a16="http://schemas.microsoft.com/office/drawing/2014/main" id="{20C8C401-6BA1-674F-B962-BAC7E365E0B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5200" y="5551200"/>
            <a:ext cx="1306800" cy="130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947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17549CE-FD82-8448-A724-EC6236E59F6B}"/>
              </a:ext>
            </a:extLst>
          </p:cNvPr>
          <p:cNvSpPr/>
          <p:nvPr userDrawn="1"/>
        </p:nvSpPr>
        <p:spPr>
          <a:xfrm>
            <a:off x="-3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Afbeelding 6">
            <a:extLst>
              <a:ext uri="{FF2B5EF4-FFF2-40B4-BE49-F238E27FC236}">
                <a16:creationId xmlns:a16="http://schemas.microsoft.com/office/drawing/2014/main" id="{AC581ACF-D180-594E-ADD8-444B928B320F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" y="0"/>
            <a:ext cx="1306800" cy="1306800"/>
          </a:xfrm>
          <a:prstGeom prst="rect">
            <a:avLst/>
          </a:prstGeom>
        </p:spPr>
      </p:pic>
      <p:pic>
        <p:nvPicPr>
          <p:cNvPr id="4" name="Afbeelding 9">
            <a:extLst>
              <a:ext uri="{FF2B5EF4-FFF2-40B4-BE49-F238E27FC236}">
                <a16:creationId xmlns:a16="http://schemas.microsoft.com/office/drawing/2014/main" id="{F4667DEA-D29A-FB45-AAFA-03ADA78174C8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5200" y="5551200"/>
            <a:ext cx="1306800" cy="130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7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96" r:id="rId2"/>
    <p:sldLayoutId id="2147483797" r:id="rId3"/>
    <p:sldLayoutId id="2147483798" r:id="rId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data.europa.eu/949/.../operationalPoints/BEFBCL" TargetMode="External"/><Relationship Id="rId7" Type="http://schemas.openxmlformats.org/officeDocument/2006/relationships/hyperlink" Target="http://data.europa.eu/949/inCountry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://data.europa.eu/949/opType" TargetMode="External"/><Relationship Id="rId5" Type="http://schemas.openxmlformats.org/officeDocument/2006/relationships/hyperlink" Target="http://publications.europa.eu/resource/authority/country/BEL" TargetMode="External"/><Relationship Id="rId4" Type="http://schemas.openxmlformats.org/officeDocument/2006/relationships/hyperlink" Target="http://data.europa.eu/949/.../op-types/rinf/10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data.europa.eu/949/.../operationalPoints/BEFBCL" TargetMode="External"/><Relationship Id="rId7" Type="http://schemas.openxmlformats.org/officeDocument/2006/relationships/hyperlink" Target="http://publications.europa.eu/resource/authority/country/BEL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://data.europa.eu/949/inCountry" TargetMode="External"/><Relationship Id="rId5" Type="http://schemas.openxmlformats.org/officeDocument/2006/relationships/hyperlink" Target="http://data.europa.eu/949/.../op-types/rinf/10" TargetMode="External"/><Relationship Id="rId4" Type="http://schemas.openxmlformats.org/officeDocument/2006/relationships/hyperlink" Target="http://data.europa.eu/949/opType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ikidata.org/wiki/Q81046" TargetMode="External"/><Relationship Id="rId2" Type="http://schemas.openxmlformats.org/officeDocument/2006/relationships/hyperlink" Target="https://en.wikipedia.org/wiki/Charleroi" TargetMode="Externa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ikidata.org/wiki/Q81046" TargetMode="External"/><Relationship Id="rId2" Type="http://schemas.openxmlformats.org/officeDocument/2006/relationships/hyperlink" Target="https://en.wikipedia.org/wiki/Charleroi" TargetMode="Externa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5.png"/><Relationship Id="rId5" Type="http://schemas.openxmlformats.org/officeDocument/2006/relationships/hyperlink" Target="https://w.wiki/896n" TargetMode="Externa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Relationship Id="rId4" Type="http://schemas.openxmlformats.org/officeDocument/2006/relationships/hyperlink" Target="https://era-chatbot.azurewebsites.net/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api.triplydb.com/s/dwrlYPclx" TargetMode="Externa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MLio/rmlmapper-java" TargetMode="External"/><Relationship Id="rId2" Type="http://schemas.openxmlformats.org/officeDocument/2006/relationships/hyperlink" Target="https://rml.io/" TargetMode="External"/><Relationship Id="rId1" Type="http://schemas.openxmlformats.org/officeDocument/2006/relationships/slideLayout" Target="../slideLayouts/slideLayout13.xml"/><Relationship Id="rId5" Type="http://schemas.openxmlformats.org/officeDocument/2006/relationships/hyperlink" Target="https://gitlab.com/mathias.vanden.auweele/infrabel-opendata-to-rdf" TargetMode="External"/><Relationship Id="rId4" Type="http://schemas.openxmlformats.org/officeDocument/2006/relationships/hyperlink" Target="https://marketplace.visualstudio.com/items?itemName=Zazuko.sparql-notebook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lab.com/mathias.vanden.auweele/sparql-anything-demo" TargetMode="External"/><Relationship Id="rId2" Type="http://schemas.openxmlformats.org/officeDocument/2006/relationships/hyperlink" Target="https://github.com/SPARQL-Anything/sparql.anything" TargetMode="External"/><Relationship Id="rId1" Type="http://schemas.openxmlformats.org/officeDocument/2006/relationships/slideLayout" Target="../slideLayouts/slideLayout13.xml"/><Relationship Id="rId5" Type="http://schemas.openxmlformats.org/officeDocument/2006/relationships/hyperlink" Target="https://www.linkedin.com/feed/update/urn:li:activity:7125842689136189440?updateEntityUrn=urn%3Ali%3Afs_feedUpdate%3A%28V2%2Curn%3Ali%3Aactivity%3A7125842689136189440%29" TargetMode="Externa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forms.hypermedia.app/playground/" TargetMode="External"/><Relationship Id="rId2" Type="http://schemas.openxmlformats.org/officeDocument/2006/relationships/hyperlink" Target="https://www.w3.org/TR/shacl/" TargetMode="Externa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FAIR_data" TargetMode="External"/><Relationship Id="rId2" Type="http://schemas.openxmlformats.org/officeDocument/2006/relationships/hyperlink" Target="https://tdan.com/the-data-centric-revolution/18780" TargetMode="External"/><Relationship Id="rId1" Type="http://schemas.openxmlformats.org/officeDocument/2006/relationships/slideLayout" Target="../slideLayouts/slideLayout26.xml"/><Relationship Id="rId4" Type="http://schemas.openxmlformats.org/officeDocument/2006/relationships/hyperlink" Target="https://pieterheyvaert.com/blog/2019/12/27/kg-pkm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1600" y="2052836"/>
            <a:ext cx="5475600" cy="2343711"/>
          </a:xfrm>
        </p:spPr>
        <p:txBody>
          <a:bodyPr>
            <a:normAutofit/>
          </a:bodyPr>
          <a:lstStyle/>
          <a:p>
            <a:r>
              <a:rPr lang="en-BE" noProof="0"/>
              <a:t>Cool things about Linked Data!</a:t>
            </a:r>
            <a:endParaRPr lang="nl-BE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6411600" y="4074459"/>
            <a:ext cx="5380773" cy="354013"/>
          </a:xfrm>
        </p:spPr>
        <p:txBody>
          <a:bodyPr/>
          <a:lstStyle/>
          <a:p>
            <a:r>
              <a:rPr lang="en-BE" noProof="0"/>
              <a:t>Data mineurs</a:t>
            </a:r>
            <a:endParaRPr lang="nl-BE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6411600" y="4633415"/>
            <a:ext cx="4406478" cy="1271799"/>
          </a:xfrm>
        </p:spPr>
        <p:txBody>
          <a:bodyPr/>
          <a:lstStyle/>
          <a:p>
            <a:r>
              <a:rPr lang="en-BE" noProof="0" dirty="0"/>
              <a:t>M</a:t>
            </a:r>
            <a:r>
              <a:rPr lang="nl-BE" noProof="0" dirty="0" err="1"/>
              <a:t>athias</a:t>
            </a:r>
            <a:r>
              <a:rPr lang="nl-BE" noProof="0" dirty="0"/>
              <a:t> Vanden Auweele</a:t>
            </a:r>
            <a:endParaRPr lang="en-BE" noProof="0" dirty="0"/>
          </a:p>
          <a:p>
            <a:r>
              <a:rPr lang="en-BE"/>
              <a:t>Infrabel</a:t>
            </a:r>
            <a:endParaRPr lang="nl-BE" noProof="0" dirty="0"/>
          </a:p>
          <a:p>
            <a:endParaRPr lang="nl-BE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BE" noProof="0"/>
              <a:t>14</a:t>
            </a:r>
            <a:r>
              <a:rPr lang="nl-BE" noProof="0"/>
              <a:t>/</a:t>
            </a:r>
            <a:r>
              <a:rPr lang="en-BE" noProof="0"/>
              <a:t>11</a:t>
            </a:r>
            <a:r>
              <a:rPr lang="nl-BE" noProof="0"/>
              <a:t>/202</a:t>
            </a:r>
            <a:r>
              <a:rPr lang="en-BE" noProof="0"/>
              <a:t>3</a:t>
            </a:r>
            <a:endParaRPr lang="nl-BE" noProof="0" dirty="0"/>
          </a:p>
        </p:txBody>
      </p:sp>
    </p:spTree>
    <p:extLst>
      <p:ext uri="{BB962C8B-B14F-4D97-AF65-F5344CB8AC3E}">
        <p14:creationId xmlns:p14="http://schemas.microsoft.com/office/powerpoint/2010/main" val="3544088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2834FB8-0830-A959-3F44-86CF12172A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4965" y="6492875"/>
            <a:ext cx="565240" cy="365125"/>
          </a:xfrm>
        </p:spPr>
        <p:txBody>
          <a:bodyPr/>
          <a:lstStyle/>
          <a:p>
            <a:fld id="{070B80B4-B953-6547-A044-6E303DFD4AF3}" type="slidenum">
              <a:rPr lang="nl-BE" smtClean="0"/>
              <a:pPr/>
              <a:t>2</a:t>
            </a:fld>
            <a:endParaRPr lang="nl-BE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158E8B9-37BC-BEA3-97E6-2AF9502FF00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BD8A0F-DB47-87E7-3E81-B1356EEFB02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66572" y="1779340"/>
            <a:ext cx="10858858" cy="4518909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BE"/>
              <a:t>What is Linked Data</a:t>
            </a:r>
          </a:p>
          <a:p>
            <a:pPr marL="457200" indent="-457200">
              <a:buFont typeface="+mj-lt"/>
              <a:buAutoNum type="arabicPeriod"/>
            </a:pPr>
            <a:r>
              <a:rPr lang="en-BE"/>
              <a:t>Wikidata</a:t>
            </a:r>
          </a:p>
          <a:p>
            <a:pPr marL="457200" indent="-457200">
              <a:buFont typeface="+mj-lt"/>
              <a:buAutoNum type="arabicPeriod"/>
            </a:pPr>
            <a:r>
              <a:rPr lang="en-BE"/>
              <a:t>SPARQL Endpoint &gt;&gt;&gt; JSON API</a:t>
            </a:r>
          </a:p>
          <a:p>
            <a:pPr marL="457200" indent="-457200">
              <a:buFont typeface="+mj-lt"/>
              <a:buAutoNum type="arabicPeriod"/>
            </a:pPr>
            <a:r>
              <a:rPr lang="en-BE"/>
              <a:t>Federated query</a:t>
            </a:r>
          </a:p>
          <a:p>
            <a:pPr marL="457200" indent="-457200">
              <a:buFont typeface="+mj-lt"/>
              <a:buAutoNum type="arabicPeriod"/>
            </a:pPr>
            <a:r>
              <a:rPr lang="en-BE"/>
              <a:t>Merging 2 datasets </a:t>
            </a:r>
          </a:p>
          <a:p>
            <a:pPr marL="457200" indent="-457200">
              <a:buFont typeface="+mj-lt"/>
              <a:buAutoNum type="arabicPeriod"/>
            </a:pPr>
            <a:r>
              <a:rPr lang="en-BE"/>
              <a:t>SPARQL Anything</a:t>
            </a:r>
          </a:p>
          <a:p>
            <a:pPr marL="457200" indent="-457200">
              <a:buFont typeface="+mj-lt"/>
              <a:buAutoNum type="arabicPeriod"/>
            </a:pPr>
            <a:r>
              <a:rPr lang="en-BE"/>
              <a:t>SHACL &amp; Form generation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96DD490-9153-A7AA-AFFD-752274C0E75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572" y="845232"/>
            <a:ext cx="10858858" cy="478554"/>
          </a:xfrm>
        </p:spPr>
        <p:txBody>
          <a:bodyPr/>
          <a:lstStyle/>
          <a:p>
            <a:r>
              <a:rPr lang="en-BE"/>
              <a:t>Table of content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819706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2834FB8-0830-A959-3F44-86CF12172A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70B80B4-B953-6547-A044-6E303DFD4AF3}" type="slidenum">
              <a:rPr lang="nl-BE" smtClean="0"/>
              <a:pPr/>
              <a:t>3</a:t>
            </a:fld>
            <a:endParaRPr lang="nl-BE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86B8D97-A332-E713-90B6-3171E2959F3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BE"/>
              <a:t>1. What is Linked Data</a:t>
            </a:r>
            <a:endParaRPr lang="nl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BD8A0F-DB47-87E7-3E81-B1356EEFB02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BE" i="1"/>
              <a:t>I could say: </a:t>
            </a:r>
            <a:r>
              <a:rPr lang="en-US"/>
              <a:t>linked data is structured data which is interlinked with other data so it becomes more useful through semantic queries</a:t>
            </a:r>
            <a:r>
              <a:rPr lang="en-BE"/>
              <a:t>. (</a:t>
            </a:r>
            <a:r>
              <a:rPr lang="nl-BE"/>
              <a:t>W</a:t>
            </a:r>
            <a:r>
              <a:rPr lang="en-BE"/>
              <a:t>ikipedia)</a:t>
            </a:r>
          </a:p>
          <a:p>
            <a:endParaRPr lang="en-BE"/>
          </a:p>
          <a:p>
            <a:r>
              <a:rPr lang="en-BE"/>
              <a:t>But it is actually much, much more simple...</a:t>
            </a:r>
          </a:p>
          <a:p>
            <a:endParaRPr lang="en-BE"/>
          </a:p>
          <a:p>
            <a:pPr algn="ctr"/>
            <a:r>
              <a:rPr lang="en-BE" sz="4000"/>
              <a:t>Linked data is all about smart </a:t>
            </a:r>
            <a:r>
              <a:rPr lang="en-BE" sz="4000">
                <a:solidFill>
                  <a:schemeClr val="accent1"/>
                </a:solidFill>
              </a:rPr>
              <a:t>standardisation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96DD490-9153-A7AA-AFFD-752274C0E75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BE"/>
              <a:t>Linked data is...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98288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BF07C50-CFFE-E1FC-512F-5BC96A90FA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70B80B4-B953-6547-A044-6E303DFD4AF3}" type="slidenum">
              <a:rPr lang="nl-BE" smtClean="0"/>
              <a:pPr/>
              <a:t>4</a:t>
            </a:fld>
            <a:endParaRPr lang="nl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EF00A0-4B88-E80A-A581-10D8B089249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66572" y="1779340"/>
            <a:ext cx="5119373" cy="4518909"/>
          </a:xfrm>
        </p:spPr>
        <p:txBody>
          <a:bodyPr/>
          <a:lstStyle/>
          <a:p>
            <a:r>
              <a:rPr lang="en-BE"/>
              <a:t>How to identify data entities</a:t>
            </a:r>
          </a:p>
          <a:p>
            <a:pPr marL="342900" indent="-342900">
              <a:buFont typeface="Symbol" panose="05050102010706020507" pitchFamily="18" charset="2"/>
              <a:buChar char="Þ"/>
            </a:pPr>
            <a:r>
              <a:rPr lang="en-BE"/>
              <a:t>Use URI’s</a:t>
            </a:r>
          </a:p>
          <a:p>
            <a:endParaRPr lang="en-BE"/>
          </a:p>
          <a:p>
            <a:r>
              <a:rPr lang="en-BE"/>
              <a:t>How to structure data</a:t>
            </a:r>
          </a:p>
          <a:p>
            <a:pPr marL="342900" indent="-342900">
              <a:buFont typeface="Symbol" panose="05050102010706020507" pitchFamily="18" charset="2"/>
              <a:buChar char="Þ"/>
            </a:pPr>
            <a:r>
              <a:rPr lang="en-BE"/>
              <a:t>Use RDF</a:t>
            </a:r>
          </a:p>
          <a:p>
            <a:pPr marL="342900" indent="-342900">
              <a:buFont typeface="Symbol" panose="05050102010706020507" pitchFamily="18" charset="2"/>
              <a:buChar char="Þ"/>
            </a:pPr>
            <a:endParaRPr lang="en-BE"/>
          </a:p>
          <a:p>
            <a:r>
              <a:rPr lang="en-BE"/>
              <a:t>How to define the meaning of data</a:t>
            </a:r>
          </a:p>
          <a:p>
            <a:pPr marL="342900" indent="-342900">
              <a:buFont typeface="Symbol" panose="05050102010706020507" pitchFamily="18" charset="2"/>
              <a:buChar char="Þ"/>
            </a:pPr>
            <a:r>
              <a:rPr lang="en-BE"/>
              <a:t>Use ontologies / vocabulaires</a:t>
            </a:r>
          </a:p>
          <a:p>
            <a:endParaRPr lang="en-BE"/>
          </a:p>
          <a:p>
            <a:endParaRPr lang="nl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F30CEF-AF2D-CB61-B8DA-5ADAD263734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BE"/>
              <a:t>Linked data standardises...</a:t>
            </a:r>
            <a:endParaRPr lang="nl-B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AB6CAB-FBFD-C984-6D19-43FD5A14ED38}"/>
              </a:ext>
            </a:extLst>
          </p:cNvPr>
          <p:cNvSpPr/>
          <p:nvPr/>
        </p:nvSpPr>
        <p:spPr>
          <a:xfrm>
            <a:off x="5889187" y="1611548"/>
            <a:ext cx="5575778" cy="451890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nl-BE">
                <a:solidFill>
                  <a:schemeClr val="tx1"/>
                </a:solidFill>
              </a:rPr>
              <a:t>Brussel-Centraal</a:t>
            </a:r>
            <a:r>
              <a:rPr lang="en-BE">
                <a:solidFill>
                  <a:schemeClr val="tx1"/>
                </a:solidFill>
              </a:rPr>
              <a:t> </a:t>
            </a:r>
            <a:r>
              <a:rPr lang="en-BE">
                <a:solidFill>
                  <a:schemeClr val="bg2"/>
                </a:solidFill>
              </a:rPr>
              <a:t>is a </a:t>
            </a:r>
            <a:r>
              <a:rPr lang="en-BE">
                <a:solidFill>
                  <a:schemeClr val="tx1"/>
                </a:solidFill>
              </a:rPr>
              <a:t>station</a:t>
            </a:r>
            <a:r>
              <a:rPr lang="en-BE">
                <a:solidFill>
                  <a:schemeClr val="bg2"/>
                </a:solidFill>
              </a:rPr>
              <a:t> in </a:t>
            </a:r>
            <a:r>
              <a:rPr lang="en-BE">
                <a:solidFill>
                  <a:schemeClr val="tx1"/>
                </a:solidFill>
              </a:rPr>
              <a:t>Belgium.</a:t>
            </a:r>
          </a:p>
          <a:p>
            <a:endParaRPr lang="en-BE">
              <a:solidFill>
                <a:schemeClr val="tx1"/>
              </a:solidFill>
            </a:endParaRPr>
          </a:p>
          <a:p>
            <a:r>
              <a:rPr lang="nl-BE" sz="1600">
                <a:solidFill>
                  <a:schemeClr val="tx1"/>
                </a:solidFill>
              </a:rPr>
              <a:t>Brussel-Centraal</a:t>
            </a:r>
            <a:r>
              <a:rPr lang="en-BE" sz="1600">
                <a:solidFill>
                  <a:schemeClr val="tx1"/>
                </a:solidFill>
              </a:rPr>
              <a:t> = </a:t>
            </a:r>
            <a:r>
              <a:rPr lang="nl-BE" sz="1200">
                <a:solidFill>
                  <a:schemeClr val="tx1"/>
                </a:solidFill>
                <a:hlinkClick r:id="rId3"/>
              </a:rPr>
              <a:t>http://data.europa.eu/949/</a:t>
            </a:r>
            <a:r>
              <a:rPr lang="en-BE" sz="1200">
                <a:solidFill>
                  <a:schemeClr val="tx1"/>
                </a:solidFill>
                <a:hlinkClick r:id="rId3"/>
              </a:rPr>
              <a:t>...</a:t>
            </a:r>
            <a:r>
              <a:rPr lang="nl-BE" sz="1200">
                <a:solidFill>
                  <a:schemeClr val="tx1"/>
                </a:solidFill>
                <a:hlinkClick r:id="rId3"/>
              </a:rPr>
              <a:t>/operationalPoints/</a:t>
            </a:r>
            <a:r>
              <a:rPr lang="en-BE" sz="1200">
                <a:solidFill>
                  <a:schemeClr val="tx1"/>
                </a:solidFill>
                <a:hlinkClick r:id="rId3"/>
              </a:rPr>
              <a:t>BEFBCL</a:t>
            </a:r>
            <a:endParaRPr lang="en-BE" sz="1200">
              <a:solidFill>
                <a:schemeClr val="tx1"/>
              </a:solidFill>
            </a:endParaRPr>
          </a:p>
          <a:p>
            <a:r>
              <a:rPr lang="en-BE" sz="1600">
                <a:solidFill>
                  <a:schemeClr val="tx1"/>
                </a:solidFill>
              </a:rPr>
              <a:t>Station = </a:t>
            </a:r>
            <a:r>
              <a:rPr lang="nl-BE" sz="1200">
                <a:solidFill>
                  <a:schemeClr val="tx1"/>
                </a:solidFill>
                <a:hlinkClick r:id="rId4"/>
              </a:rPr>
              <a:t>http://data.europa.eu/949/</a:t>
            </a:r>
            <a:r>
              <a:rPr lang="en-BE" sz="1200">
                <a:solidFill>
                  <a:schemeClr val="tx1"/>
                </a:solidFill>
                <a:hlinkClick r:id="rId4"/>
              </a:rPr>
              <a:t>...</a:t>
            </a:r>
            <a:r>
              <a:rPr lang="nl-BE" sz="1200">
                <a:solidFill>
                  <a:schemeClr val="tx1"/>
                </a:solidFill>
                <a:hlinkClick r:id="rId4"/>
              </a:rPr>
              <a:t>/op-types/rinf/10</a:t>
            </a:r>
            <a:endParaRPr lang="en-BE" sz="1200">
              <a:solidFill>
                <a:schemeClr val="tx1"/>
              </a:solidFill>
            </a:endParaRPr>
          </a:p>
          <a:p>
            <a:r>
              <a:rPr lang="en-BE" sz="1600">
                <a:solidFill>
                  <a:schemeClr val="tx1"/>
                </a:solidFill>
              </a:rPr>
              <a:t>Belgium = </a:t>
            </a:r>
            <a:r>
              <a:rPr lang="nl-BE" sz="1200">
                <a:solidFill>
                  <a:schemeClr val="tx1"/>
                </a:solidFill>
                <a:hlinkClick r:id="rId5"/>
              </a:rPr>
              <a:t>http://publications.europa.eu/resource/authority/country/</a:t>
            </a:r>
            <a:r>
              <a:rPr lang="en-BE" sz="1200">
                <a:solidFill>
                  <a:schemeClr val="tx1"/>
                </a:solidFill>
                <a:hlinkClick r:id="rId5"/>
              </a:rPr>
              <a:t>BEL</a:t>
            </a:r>
            <a:endParaRPr lang="en-BE" sz="1200">
              <a:solidFill>
                <a:schemeClr val="tx1"/>
              </a:solidFill>
            </a:endParaRPr>
          </a:p>
          <a:p>
            <a:endParaRPr lang="en-BE" sz="1200">
              <a:solidFill>
                <a:schemeClr val="tx1"/>
              </a:solidFill>
            </a:endParaRPr>
          </a:p>
          <a:p>
            <a:endParaRPr lang="en-BE" sz="1600">
              <a:solidFill>
                <a:schemeClr val="tx1"/>
              </a:solidFill>
            </a:endParaRPr>
          </a:p>
          <a:p>
            <a:r>
              <a:rPr lang="nl-BE" sz="1600">
                <a:solidFill>
                  <a:schemeClr val="tx1"/>
                </a:solidFill>
              </a:rPr>
              <a:t>Brussel-Centraal is a station</a:t>
            </a:r>
            <a:r>
              <a:rPr lang="en-BE" sz="1600">
                <a:solidFill>
                  <a:schemeClr val="tx1"/>
                </a:solidFill>
              </a:rPr>
              <a:t>.</a:t>
            </a:r>
          </a:p>
          <a:p>
            <a:r>
              <a:rPr lang="nl-BE" sz="1600">
                <a:solidFill>
                  <a:schemeClr val="tx1"/>
                </a:solidFill>
              </a:rPr>
              <a:t>Brussel-Centraal</a:t>
            </a:r>
            <a:r>
              <a:rPr lang="en-BE" sz="1600">
                <a:solidFill>
                  <a:schemeClr val="tx1"/>
                </a:solidFill>
              </a:rPr>
              <a:t> lies in Belgium.</a:t>
            </a:r>
          </a:p>
          <a:p>
            <a:endParaRPr lang="en-BE" sz="1600">
              <a:solidFill>
                <a:schemeClr val="tx1"/>
              </a:solidFill>
            </a:endParaRPr>
          </a:p>
          <a:p>
            <a:endParaRPr lang="en-BE" sz="1600">
              <a:solidFill>
                <a:schemeClr val="tx1"/>
              </a:solidFill>
            </a:endParaRPr>
          </a:p>
          <a:p>
            <a:endParaRPr lang="en-BE" sz="1600">
              <a:solidFill>
                <a:schemeClr val="tx1"/>
              </a:solidFill>
            </a:endParaRPr>
          </a:p>
          <a:p>
            <a:endParaRPr lang="en-BE" sz="1600">
              <a:solidFill>
                <a:schemeClr val="tx1"/>
              </a:solidFill>
            </a:endParaRPr>
          </a:p>
          <a:p>
            <a:r>
              <a:rPr lang="en-BE" sz="1600">
                <a:solidFill>
                  <a:schemeClr val="tx1"/>
                </a:solidFill>
              </a:rPr>
              <a:t>Let’s agree on using ERA vocabulary!</a:t>
            </a:r>
          </a:p>
          <a:p>
            <a:r>
              <a:rPr lang="en-BE" sz="1600">
                <a:solidFill>
                  <a:schemeClr val="tx1"/>
                </a:solidFill>
              </a:rPr>
              <a:t>Type of operational point = </a:t>
            </a:r>
            <a:r>
              <a:rPr lang="nl-BE" sz="1600">
                <a:solidFill>
                  <a:schemeClr val="tx1"/>
                </a:solidFill>
                <a:hlinkClick r:id="rId6"/>
              </a:rPr>
              <a:t>http://data.europa.eu/949/opType</a:t>
            </a:r>
            <a:r>
              <a:rPr lang="en-BE" sz="1600">
                <a:solidFill>
                  <a:schemeClr val="tx1"/>
                </a:solidFill>
              </a:rPr>
              <a:t> </a:t>
            </a:r>
          </a:p>
          <a:p>
            <a:r>
              <a:rPr lang="nl-BE" sz="1600">
                <a:solidFill>
                  <a:schemeClr val="tx1"/>
                </a:solidFill>
              </a:rPr>
              <a:t>I</a:t>
            </a:r>
            <a:r>
              <a:rPr lang="en-BE" sz="1600">
                <a:solidFill>
                  <a:schemeClr val="tx1"/>
                </a:solidFill>
              </a:rPr>
              <a:t>n country = </a:t>
            </a:r>
            <a:r>
              <a:rPr lang="nl-BE" sz="1600">
                <a:solidFill>
                  <a:schemeClr val="tx1"/>
                </a:solidFill>
                <a:hlinkClick r:id="rId7"/>
              </a:rPr>
              <a:t>http://data.europa.eu/949/inCountr</a:t>
            </a:r>
            <a:r>
              <a:rPr lang="en-BE" sz="1600">
                <a:solidFill>
                  <a:schemeClr val="tx1"/>
                </a:solidFill>
                <a:hlinkClick r:id="rId7"/>
              </a:rPr>
              <a:t>y</a:t>
            </a:r>
            <a:r>
              <a:rPr lang="en-BE" sz="1600">
                <a:solidFill>
                  <a:schemeClr val="tx1"/>
                </a:solidFill>
              </a:rPr>
              <a:t> </a:t>
            </a:r>
          </a:p>
          <a:p>
            <a:endParaRPr lang="en-BE" sz="1600">
              <a:solidFill>
                <a:schemeClr val="tx1"/>
              </a:solidFill>
            </a:endParaRPr>
          </a:p>
          <a:p>
            <a:endParaRPr lang="en-BE" sz="1600">
              <a:solidFill>
                <a:schemeClr val="tx1"/>
              </a:solidFill>
            </a:endParaRP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76011A38-33FA-1FDD-1369-7243D6348E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8331302"/>
              </p:ext>
            </p:extLst>
          </p:nvPr>
        </p:nvGraphicFramePr>
        <p:xfrm>
          <a:off x="5993912" y="3298863"/>
          <a:ext cx="5366328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8776">
                  <a:extLst>
                    <a:ext uri="{9D8B030D-6E8A-4147-A177-3AD203B41FA5}">
                      <a16:colId xmlns:a16="http://schemas.microsoft.com/office/drawing/2014/main" val="126081028"/>
                    </a:ext>
                  </a:extLst>
                </a:gridCol>
                <a:gridCol w="1788776">
                  <a:extLst>
                    <a:ext uri="{9D8B030D-6E8A-4147-A177-3AD203B41FA5}">
                      <a16:colId xmlns:a16="http://schemas.microsoft.com/office/drawing/2014/main" val="3755692471"/>
                    </a:ext>
                  </a:extLst>
                </a:gridCol>
                <a:gridCol w="1788776">
                  <a:extLst>
                    <a:ext uri="{9D8B030D-6E8A-4147-A177-3AD203B41FA5}">
                      <a16:colId xmlns:a16="http://schemas.microsoft.com/office/drawing/2014/main" val="34371957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BE"/>
                        <a:t>StationId</a:t>
                      </a:r>
                      <a:endParaRPr lang="nl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BE"/>
                        <a:t>Name</a:t>
                      </a:r>
                      <a:endParaRPr lang="nl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BE"/>
                        <a:t>Location</a:t>
                      </a:r>
                      <a:endParaRPr lang="nl-B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5300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BE"/>
                        <a:t>123</a:t>
                      </a:r>
                      <a:endParaRPr lang="nl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BE"/>
                        <a:t>Brussel-Centraal</a:t>
                      </a:r>
                      <a:endParaRPr lang="nl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BE"/>
                        <a:t>Belgium</a:t>
                      </a:r>
                      <a:endParaRPr lang="nl-B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2449166"/>
                  </a:ext>
                </a:extLst>
              </a:tr>
            </a:tbl>
          </a:graphicData>
        </a:graphic>
      </p:graphicFrame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8914CE6-371A-73D5-E16D-F4A99B289EB7}"/>
              </a:ext>
            </a:extLst>
          </p:cNvPr>
          <p:cNvCxnSpPr/>
          <p:nvPr/>
        </p:nvCxnSpPr>
        <p:spPr>
          <a:xfrm>
            <a:off x="7194288" y="3211736"/>
            <a:ext cx="2985024" cy="921957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A1C07215-92DC-4C74-FE3B-5ED00EF0676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673617" y="154522"/>
            <a:ext cx="2237174" cy="360363"/>
          </a:xfrm>
        </p:spPr>
        <p:txBody>
          <a:bodyPr/>
          <a:lstStyle/>
          <a:p>
            <a:r>
              <a:rPr lang="en-BE"/>
              <a:t>1. What is Linked Data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914882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1BE229-DFB7-4AB4-0589-25C3DF09DD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70B80B4-B953-6547-A044-6E303DFD4AF3}" type="slidenum">
              <a:rPr lang="nl-BE" smtClean="0"/>
              <a:pPr/>
              <a:t>5</a:t>
            </a:fld>
            <a:endParaRPr lang="nl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C34A97-AE7D-C62E-D012-1095B893184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66572" y="1779340"/>
            <a:ext cx="11363633" cy="4518909"/>
          </a:xfrm>
        </p:spPr>
        <p:txBody>
          <a:bodyPr/>
          <a:lstStyle/>
          <a:p>
            <a:r>
              <a:rPr lang="nl-BE">
                <a:solidFill>
                  <a:schemeClr val="tx1"/>
                </a:solidFill>
              </a:rPr>
              <a:t>Brussel-Centraal</a:t>
            </a:r>
            <a:r>
              <a:rPr lang="en-BE">
                <a:solidFill>
                  <a:schemeClr val="tx1"/>
                </a:solidFill>
              </a:rPr>
              <a:t> </a:t>
            </a:r>
            <a:r>
              <a:rPr lang="en-BE">
                <a:solidFill>
                  <a:schemeClr val="bg2"/>
                </a:solidFill>
              </a:rPr>
              <a:t>is a </a:t>
            </a:r>
            <a:r>
              <a:rPr lang="en-BE">
                <a:solidFill>
                  <a:schemeClr val="tx1"/>
                </a:solidFill>
              </a:rPr>
              <a:t>station</a:t>
            </a:r>
            <a:r>
              <a:rPr lang="en-BE">
                <a:solidFill>
                  <a:schemeClr val="bg2"/>
                </a:solidFill>
              </a:rPr>
              <a:t> in </a:t>
            </a:r>
            <a:r>
              <a:rPr lang="en-BE">
                <a:solidFill>
                  <a:schemeClr val="tx1"/>
                </a:solidFill>
              </a:rPr>
              <a:t>Belgium.</a:t>
            </a:r>
          </a:p>
          <a:p>
            <a:endParaRPr lang="en-BE"/>
          </a:p>
          <a:p>
            <a:r>
              <a:rPr lang="en-BE"/>
              <a:t>Becomes:</a:t>
            </a:r>
          </a:p>
          <a:p>
            <a:endParaRPr lang="en-BE" sz="1200">
              <a:solidFill>
                <a:schemeClr val="tx1"/>
              </a:solidFill>
              <a:hlinkClick r:id="rId3"/>
            </a:endParaRPr>
          </a:p>
          <a:p>
            <a:endParaRPr lang="en-BE" sz="1200">
              <a:hlinkClick r:id="rId3"/>
            </a:endParaRPr>
          </a:p>
          <a:p>
            <a:endParaRPr lang="en-BE" sz="1200">
              <a:solidFill>
                <a:schemeClr val="tx1"/>
              </a:solidFill>
              <a:hlinkClick r:id="rId3"/>
            </a:endParaRPr>
          </a:p>
          <a:p>
            <a:endParaRPr lang="en-BE" sz="1200">
              <a:hlinkClick r:id="rId3"/>
            </a:endParaRPr>
          </a:p>
          <a:p>
            <a:endParaRPr lang="en-BE" sz="1200">
              <a:solidFill>
                <a:schemeClr val="tx1"/>
              </a:solidFill>
              <a:hlinkClick r:id="rId3"/>
            </a:endParaRPr>
          </a:p>
          <a:p>
            <a:endParaRPr lang="en-BE" sz="1200">
              <a:hlinkClick r:id="" action="ppaction://noaction"/>
            </a:endParaRPr>
          </a:p>
          <a:p>
            <a:endParaRPr lang="en-BE" sz="1200">
              <a:hlinkClick r:id="" action="ppaction://noaction"/>
            </a:endParaRPr>
          </a:p>
          <a:p>
            <a:r>
              <a:rPr lang="nl-BE" sz="1200">
                <a:solidFill>
                  <a:schemeClr val="tx1"/>
                </a:solidFill>
                <a:hlinkClick r:id="rId3"/>
              </a:rPr>
              <a:t>http://data.europa.eu/949/</a:t>
            </a:r>
            <a:r>
              <a:rPr lang="en-BE" sz="1200">
                <a:solidFill>
                  <a:schemeClr val="tx1"/>
                </a:solidFill>
                <a:hlinkClick r:id="rId3"/>
              </a:rPr>
              <a:t>...</a:t>
            </a:r>
            <a:r>
              <a:rPr lang="nl-BE" sz="1200">
                <a:solidFill>
                  <a:schemeClr val="tx1"/>
                </a:solidFill>
                <a:hlinkClick r:id="rId3"/>
              </a:rPr>
              <a:t>/operationalPoints/</a:t>
            </a:r>
            <a:r>
              <a:rPr lang="en-BE" sz="1200">
                <a:solidFill>
                  <a:schemeClr val="tx1"/>
                </a:solidFill>
                <a:hlinkClick r:id="rId3"/>
              </a:rPr>
              <a:t>BEFBCL</a:t>
            </a:r>
            <a:r>
              <a:rPr lang="en-BE" sz="1200">
                <a:solidFill>
                  <a:schemeClr val="tx1"/>
                </a:solidFill>
              </a:rPr>
              <a:t> </a:t>
            </a:r>
            <a:r>
              <a:rPr lang="nl-BE" sz="1200">
                <a:solidFill>
                  <a:schemeClr val="tx1"/>
                </a:solidFill>
                <a:hlinkClick r:id="rId4"/>
              </a:rPr>
              <a:t>http://data.europa.eu/949/opType</a:t>
            </a:r>
            <a:r>
              <a:rPr lang="en-BE" sz="1200">
                <a:solidFill>
                  <a:schemeClr val="tx1"/>
                </a:solidFill>
              </a:rPr>
              <a:t> </a:t>
            </a:r>
            <a:r>
              <a:rPr lang="nl-BE" sz="1200">
                <a:solidFill>
                  <a:schemeClr val="tx1"/>
                </a:solidFill>
                <a:hlinkClick r:id="rId5"/>
              </a:rPr>
              <a:t>http://data.europa.eu/949/</a:t>
            </a:r>
            <a:r>
              <a:rPr lang="en-BE" sz="1200">
                <a:solidFill>
                  <a:schemeClr val="tx1"/>
                </a:solidFill>
                <a:hlinkClick r:id="rId5"/>
              </a:rPr>
              <a:t>...</a:t>
            </a:r>
            <a:r>
              <a:rPr lang="nl-BE" sz="1200">
                <a:solidFill>
                  <a:schemeClr val="tx1"/>
                </a:solidFill>
                <a:hlinkClick r:id="rId5"/>
              </a:rPr>
              <a:t>/op-types/rinf/10</a:t>
            </a:r>
            <a:r>
              <a:rPr lang="en-BE" sz="1200">
                <a:solidFill>
                  <a:schemeClr val="tx1"/>
                </a:solidFill>
              </a:rPr>
              <a:t> .</a:t>
            </a:r>
          </a:p>
          <a:p>
            <a:r>
              <a:rPr lang="nl-BE" sz="1200">
                <a:solidFill>
                  <a:schemeClr val="tx1"/>
                </a:solidFill>
                <a:hlinkClick r:id="rId3"/>
              </a:rPr>
              <a:t>http://data.europa.eu/949/</a:t>
            </a:r>
            <a:r>
              <a:rPr lang="en-BE" sz="1200">
                <a:solidFill>
                  <a:schemeClr val="tx1"/>
                </a:solidFill>
                <a:hlinkClick r:id="rId3"/>
              </a:rPr>
              <a:t>...</a:t>
            </a:r>
            <a:r>
              <a:rPr lang="nl-BE" sz="1200">
                <a:solidFill>
                  <a:schemeClr val="tx1"/>
                </a:solidFill>
                <a:hlinkClick r:id="rId3"/>
              </a:rPr>
              <a:t>/operationalPoints/</a:t>
            </a:r>
            <a:r>
              <a:rPr lang="en-BE" sz="1200">
                <a:solidFill>
                  <a:schemeClr val="tx1"/>
                </a:solidFill>
                <a:hlinkClick r:id="rId3"/>
              </a:rPr>
              <a:t>BEFBCL</a:t>
            </a:r>
            <a:r>
              <a:rPr lang="en-BE" sz="1200">
                <a:solidFill>
                  <a:schemeClr val="tx1"/>
                </a:solidFill>
              </a:rPr>
              <a:t> </a:t>
            </a:r>
            <a:r>
              <a:rPr lang="nl-BE" sz="1200">
                <a:solidFill>
                  <a:schemeClr val="tx1"/>
                </a:solidFill>
                <a:hlinkClick r:id="rId6"/>
              </a:rPr>
              <a:t>http://data.europa.eu/949/inCountr</a:t>
            </a:r>
            <a:r>
              <a:rPr lang="en-BE" sz="1200">
                <a:solidFill>
                  <a:schemeClr val="tx1"/>
                </a:solidFill>
                <a:hlinkClick r:id="rId6"/>
              </a:rPr>
              <a:t>y</a:t>
            </a:r>
            <a:r>
              <a:rPr lang="en-BE" sz="1200">
                <a:solidFill>
                  <a:schemeClr val="tx1"/>
                </a:solidFill>
              </a:rPr>
              <a:t> </a:t>
            </a:r>
            <a:r>
              <a:rPr lang="nl-BE" sz="1200">
                <a:solidFill>
                  <a:schemeClr val="tx1"/>
                </a:solidFill>
                <a:hlinkClick r:id="rId7"/>
              </a:rPr>
              <a:t>http://publications.europa.eu/resource/authority/country/</a:t>
            </a:r>
            <a:r>
              <a:rPr lang="en-BE" sz="1200">
                <a:solidFill>
                  <a:schemeClr val="tx1"/>
                </a:solidFill>
                <a:hlinkClick r:id="rId7"/>
              </a:rPr>
              <a:t>BEL</a:t>
            </a:r>
            <a:r>
              <a:rPr lang="en-BE" sz="1200">
                <a:solidFill>
                  <a:schemeClr val="tx1"/>
                </a:solidFill>
              </a:rPr>
              <a:t> .</a:t>
            </a:r>
          </a:p>
          <a:p>
            <a:endParaRPr lang="nl-BE" sz="1200">
              <a:solidFill>
                <a:schemeClr val="tx1"/>
              </a:solidFill>
            </a:endParaRPr>
          </a:p>
          <a:p>
            <a:endParaRPr lang="en-BE" sz="1200">
              <a:solidFill>
                <a:schemeClr val="tx1"/>
              </a:solidFill>
            </a:endParaRPr>
          </a:p>
          <a:p>
            <a:endParaRPr lang="en-BE" sz="1200">
              <a:solidFill>
                <a:schemeClr val="tx1"/>
              </a:solidFill>
            </a:endParaRPr>
          </a:p>
          <a:p>
            <a:endParaRPr lang="nl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43E9CA-AC6E-3F45-4F8C-7582238D80A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BE"/>
              <a:t>Railway example</a:t>
            </a:r>
            <a:endParaRPr lang="nl-BE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E67DED3-13B6-5BBC-03A9-7256618966ED}"/>
              </a:ext>
            </a:extLst>
          </p:cNvPr>
          <p:cNvGrpSpPr/>
          <p:nvPr/>
        </p:nvGrpSpPr>
        <p:grpSpPr>
          <a:xfrm>
            <a:off x="5867048" y="604491"/>
            <a:ext cx="5803023" cy="4904938"/>
            <a:chOff x="5996588" y="193656"/>
            <a:chExt cx="5803023" cy="4904938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FDEE882F-F719-FD0A-2E43-CF638A39DE4C}"/>
                </a:ext>
              </a:extLst>
            </p:cNvPr>
            <p:cNvSpPr/>
            <p:nvPr/>
          </p:nvSpPr>
          <p:spPr>
            <a:xfrm>
              <a:off x="7716343" y="882475"/>
              <a:ext cx="2041634" cy="908025"/>
            </a:xfrm>
            <a:prstGeom prst="ellipse">
              <a:avLst/>
            </a:prstGeom>
            <a:noFill/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BE" b="1">
                  <a:solidFill>
                    <a:schemeClr val="tx1"/>
                  </a:solidFill>
                </a:rPr>
                <a:t>T</a:t>
              </a:r>
              <a:r>
                <a:rPr lang="en-BE" b="1">
                  <a:solidFill>
                    <a:schemeClr val="tx1"/>
                  </a:solidFill>
                </a:rPr>
                <a:t>ype of OP</a:t>
              </a:r>
            </a:p>
            <a:p>
              <a:pPr algn="ctr"/>
              <a:r>
                <a:rPr lang="nl-BE" sz="1200">
                  <a:solidFill>
                    <a:schemeClr val="tx1"/>
                  </a:solidFill>
                  <a:hlinkClick r:id="rId4"/>
                </a:rPr>
                <a:t>http://data.europa.eu/949/opType</a:t>
              </a:r>
              <a:endParaRPr lang="nl-BE" sz="1200">
                <a:solidFill>
                  <a:schemeClr val="tx1"/>
                </a:solidFill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99612260-7786-B9E1-F607-5158B2D51764}"/>
                </a:ext>
              </a:extLst>
            </p:cNvPr>
            <p:cNvSpPr/>
            <p:nvPr/>
          </p:nvSpPr>
          <p:spPr>
            <a:xfrm>
              <a:off x="5996588" y="1515459"/>
              <a:ext cx="2041634" cy="2041634"/>
            </a:xfrm>
            <a:prstGeom prst="ellipse">
              <a:avLst/>
            </a:prstGeom>
            <a:noFill/>
            <a:ln w="762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BE" b="1">
                  <a:solidFill>
                    <a:schemeClr val="tx1"/>
                  </a:solidFill>
                </a:rPr>
                <a:t>Brussel-Centraal</a:t>
              </a:r>
            </a:p>
            <a:p>
              <a:pPr algn="ctr"/>
              <a:r>
                <a:rPr lang="nl-BE" sz="1200">
                  <a:solidFill>
                    <a:schemeClr val="tx1"/>
                  </a:solidFill>
                  <a:hlinkClick r:id="rId3"/>
                </a:rPr>
                <a:t>http://data.europa.eu/949/</a:t>
              </a:r>
              <a:r>
                <a:rPr lang="en-BE" sz="1200">
                  <a:solidFill>
                    <a:schemeClr val="tx1"/>
                  </a:solidFill>
                  <a:hlinkClick r:id="rId3"/>
                </a:rPr>
                <a:t>...</a:t>
              </a:r>
              <a:r>
                <a:rPr lang="nl-BE" sz="1200">
                  <a:solidFill>
                    <a:schemeClr val="tx1"/>
                  </a:solidFill>
                  <a:hlinkClick r:id="rId3"/>
                </a:rPr>
                <a:t>/operationalPoints/</a:t>
              </a:r>
              <a:r>
                <a:rPr lang="en-BE" sz="1200">
                  <a:solidFill>
                    <a:schemeClr val="tx1"/>
                  </a:solidFill>
                  <a:hlinkClick r:id="rId3"/>
                </a:rPr>
                <a:t>BEFBCL</a:t>
              </a:r>
              <a:endParaRPr lang="en-BE" sz="1200">
                <a:solidFill>
                  <a:schemeClr val="tx1"/>
                </a:solidFill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3CEF8DB-7328-B809-12EA-546D2121D946}"/>
                </a:ext>
              </a:extLst>
            </p:cNvPr>
            <p:cNvSpPr/>
            <p:nvPr/>
          </p:nvSpPr>
          <p:spPr>
            <a:xfrm>
              <a:off x="9728595" y="193656"/>
              <a:ext cx="2041634" cy="2041634"/>
            </a:xfrm>
            <a:prstGeom prst="ellipse">
              <a:avLst/>
            </a:prstGeom>
            <a:noFill/>
            <a:ln w="762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BE" b="1">
                  <a:solidFill>
                    <a:schemeClr val="tx1"/>
                  </a:solidFill>
                </a:rPr>
                <a:t>Station</a:t>
              </a:r>
            </a:p>
            <a:p>
              <a:pPr algn="ctr"/>
              <a:r>
                <a:rPr lang="nl-BE" sz="1200">
                  <a:solidFill>
                    <a:schemeClr val="tx1"/>
                  </a:solidFill>
                  <a:hlinkClick r:id="rId5"/>
                </a:rPr>
                <a:t>http://data.europa.eu/949/</a:t>
              </a:r>
              <a:r>
                <a:rPr lang="en-BE" sz="1200">
                  <a:solidFill>
                    <a:schemeClr val="tx1"/>
                  </a:solidFill>
                  <a:hlinkClick r:id="rId5"/>
                </a:rPr>
                <a:t>...</a:t>
              </a:r>
              <a:r>
                <a:rPr lang="nl-BE" sz="1200">
                  <a:solidFill>
                    <a:schemeClr val="tx1"/>
                  </a:solidFill>
                  <a:hlinkClick r:id="rId5"/>
                </a:rPr>
                <a:t>/op-types/rinf/10</a:t>
              </a:r>
              <a:endParaRPr lang="en-BE" sz="1200">
                <a:solidFill>
                  <a:schemeClr val="tx1"/>
                </a:solidFill>
              </a:endParaRP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43A4D396-A98E-0941-7AFC-EB955F4ADE6A}"/>
                </a:ext>
              </a:extLst>
            </p:cNvPr>
            <p:cNvCxnSpPr/>
            <p:nvPr/>
          </p:nvCxnSpPr>
          <p:spPr>
            <a:xfrm flipV="1">
              <a:off x="7967277" y="1507576"/>
              <a:ext cx="1769201" cy="639623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2890006B-7A23-B6D0-8A65-F7AAE50F00AF}"/>
                </a:ext>
              </a:extLst>
            </p:cNvPr>
            <p:cNvCxnSpPr>
              <a:cxnSpLocks/>
            </p:cNvCxnSpPr>
            <p:nvPr/>
          </p:nvCxnSpPr>
          <p:spPr>
            <a:xfrm>
              <a:off x="7883195" y="3120122"/>
              <a:ext cx="1845400" cy="887408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D38A3772-7878-FF11-6633-86799A75B42D}"/>
                </a:ext>
              </a:extLst>
            </p:cNvPr>
            <p:cNvSpPr/>
            <p:nvPr/>
          </p:nvSpPr>
          <p:spPr>
            <a:xfrm>
              <a:off x="7716343" y="3801040"/>
              <a:ext cx="2041634" cy="908025"/>
            </a:xfrm>
            <a:prstGeom prst="ellipse">
              <a:avLst/>
            </a:prstGeom>
            <a:noFill/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BE" b="1">
                  <a:solidFill>
                    <a:schemeClr val="tx1"/>
                  </a:solidFill>
                </a:rPr>
                <a:t>In country</a:t>
              </a:r>
            </a:p>
            <a:p>
              <a:pPr algn="ctr"/>
              <a:r>
                <a:rPr lang="nl-BE" sz="1200">
                  <a:solidFill>
                    <a:schemeClr val="tx1"/>
                  </a:solidFill>
                  <a:hlinkClick r:id="rId6"/>
                </a:rPr>
                <a:t>http://data.europa.eu/949/inCountr</a:t>
              </a:r>
              <a:r>
                <a:rPr lang="en-BE" sz="1200">
                  <a:solidFill>
                    <a:schemeClr val="tx1"/>
                  </a:solidFill>
                  <a:hlinkClick r:id="rId6"/>
                </a:rPr>
                <a:t>y</a:t>
              </a:r>
              <a:endParaRPr lang="nl-BE" sz="1200">
                <a:solidFill>
                  <a:schemeClr val="tx1"/>
                </a:solidFill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1403741-0A9D-5BF1-4011-524ACFF6DCCB}"/>
                </a:ext>
              </a:extLst>
            </p:cNvPr>
            <p:cNvSpPr/>
            <p:nvPr/>
          </p:nvSpPr>
          <p:spPr>
            <a:xfrm>
              <a:off x="9757977" y="3056960"/>
              <a:ext cx="2041634" cy="2041634"/>
            </a:xfrm>
            <a:prstGeom prst="ellipse">
              <a:avLst/>
            </a:prstGeom>
            <a:noFill/>
            <a:ln w="762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BE" b="1">
                  <a:solidFill>
                    <a:schemeClr val="tx1"/>
                  </a:solidFill>
                </a:rPr>
                <a:t>Belgium</a:t>
              </a:r>
            </a:p>
            <a:p>
              <a:pPr algn="ctr"/>
              <a:r>
                <a:rPr lang="nl-BE" sz="1200">
                  <a:solidFill>
                    <a:schemeClr val="tx1"/>
                  </a:solidFill>
                  <a:hlinkClick r:id="rId7"/>
                </a:rPr>
                <a:t>http://publications.europa.eu/resource/authority/country/</a:t>
              </a:r>
              <a:r>
                <a:rPr lang="en-BE" sz="1200">
                  <a:solidFill>
                    <a:schemeClr val="tx1"/>
                  </a:solidFill>
                  <a:hlinkClick r:id="rId7"/>
                </a:rPr>
                <a:t>BEL</a:t>
              </a:r>
              <a:endParaRPr lang="en-BE" sz="1200">
                <a:solidFill>
                  <a:schemeClr val="tx1"/>
                </a:solidFill>
              </a:endParaRPr>
            </a:p>
          </p:txBody>
        </p:sp>
      </p:grp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B31C5854-C93A-D0E9-787A-8CD0D76AB6F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673617" y="154522"/>
            <a:ext cx="2237174" cy="360363"/>
          </a:xfrm>
        </p:spPr>
        <p:txBody>
          <a:bodyPr/>
          <a:lstStyle/>
          <a:p>
            <a:r>
              <a:rPr lang="en-BE"/>
              <a:t>1. What is Linked Data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78079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8563A1-B13E-A242-7DDE-6133B29E37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70B80B4-B953-6547-A044-6E303DFD4AF3}" type="slidenum">
              <a:rPr lang="nl-BE" smtClean="0"/>
              <a:pPr/>
              <a:t>6</a:t>
            </a:fld>
            <a:endParaRPr lang="nl-B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78095C-8551-CE4F-9202-26170803B30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BE"/>
              <a:t>2. Wikidata</a:t>
            </a:r>
            <a:endParaRPr lang="nl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12B8FA-554C-CF40-EA3F-4EE50A13C77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nl-BE">
                <a:hlinkClick r:id="rId2"/>
              </a:rPr>
              <a:t>Wikipedia Charleroi</a:t>
            </a:r>
            <a:r>
              <a:rPr lang="en-BE"/>
              <a:t> click on </a:t>
            </a:r>
            <a:r>
              <a:rPr lang="en-BE">
                <a:hlinkClick r:id="rId3"/>
              </a:rPr>
              <a:t>l</a:t>
            </a:r>
            <a:r>
              <a:rPr lang="nl-BE">
                <a:hlinkClick r:id="rId3"/>
              </a:rPr>
              <a:t>ink to wikidata</a:t>
            </a:r>
            <a:endParaRPr lang="en-BE"/>
          </a:p>
          <a:p>
            <a:endParaRPr lang="en-BE"/>
          </a:p>
          <a:p>
            <a:r>
              <a:rPr lang="en-BE"/>
              <a:t>A page generated from a RDF dataset about Charleroi. You can see the data behind using:</a:t>
            </a:r>
          </a:p>
          <a:p>
            <a:endParaRPr lang="en-BE"/>
          </a:p>
          <a:p>
            <a:endParaRPr lang="nl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6EE762-A955-482D-50C7-2B7053DCD51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BE"/>
              <a:t>Wikidata</a:t>
            </a:r>
            <a:endParaRPr lang="nl-BE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3DB4B6-9B8E-C21E-4988-94D837EF1B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7824" y="3429000"/>
            <a:ext cx="4400550" cy="240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3634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8563A1-B13E-A242-7DDE-6133B29E37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70B80B4-B953-6547-A044-6E303DFD4AF3}" type="slidenum">
              <a:rPr lang="nl-BE" smtClean="0"/>
              <a:pPr/>
              <a:t>7</a:t>
            </a:fld>
            <a:endParaRPr lang="nl-B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78095C-8551-CE4F-9202-26170803B30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BE"/>
              <a:t>2. Wikidata</a:t>
            </a:r>
            <a:endParaRPr lang="nl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12B8FA-554C-CF40-EA3F-4EE50A13C77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nl-BE">
                <a:hlinkClick r:id="rId2"/>
              </a:rPr>
              <a:t>Wikipedia Charleroi</a:t>
            </a:r>
            <a:r>
              <a:rPr lang="en-BE"/>
              <a:t> click on </a:t>
            </a:r>
            <a:r>
              <a:rPr lang="en-BE">
                <a:hlinkClick r:id="rId3"/>
              </a:rPr>
              <a:t>l</a:t>
            </a:r>
            <a:r>
              <a:rPr lang="nl-BE">
                <a:hlinkClick r:id="rId3"/>
              </a:rPr>
              <a:t>ink to wikidata</a:t>
            </a:r>
            <a:endParaRPr lang="en-BE"/>
          </a:p>
          <a:p>
            <a:endParaRPr lang="en-BE"/>
          </a:p>
          <a:p>
            <a:r>
              <a:rPr lang="en-BE"/>
              <a:t>And query the data using:</a:t>
            </a:r>
          </a:p>
          <a:p>
            <a:endParaRPr lang="en-BE"/>
          </a:p>
          <a:p>
            <a:endParaRPr lang="nl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6EE762-A955-482D-50C7-2B7053DCD51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BE"/>
              <a:t>Wikidata</a:t>
            </a:r>
            <a:endParaRPr lang="nl-B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2ED6A3-02AE-E552-DD72-A8C0E31D47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944" y="3286064"/>
            <a:ext cx="3425149" cy="3109498"/>
          </a:xfrm>
          <a:prstGeom prst="rect">
            <a:avLst/>
          </a:prstGeom>
        </p:spPr>
      </p:pic>
      <p:sp>
        <p:nvSpPr>
          <p:cNvPr id="11" name="Rectangle 1">
            <a:extLst>
              <a:ext uri="{FF2B5EF4-FFF2-40B4-BE49-F238E27FC236}">
                <a16:creationId xmlns:a16="http://schemas.microsoft.com/office/drawing/2014/main" id="{74132EC3-FE71-D881-995E-871BE45E2E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1582" y="5874269"/>
            <a:ext cx="3154338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BE" altLang="nl-BE" sz="1200">
                <a:latin typeface="Arial Unicode MS" panose="020B0604020202020204" pitchFamily="34" charset="-128"/>
              </a:rPr>
              <a:t>Access this query from: </a:t>
            </a:r>
            <a:r>
              <a:rPr lang="nl-BE" altLang="nl-BE" sz="1200">
                <a:latin typeface="Arial Unicode MS" panose="020B0604020202020204" pitchFamily="34" charset="-128"/>
                <a:hlinkClick r:id="rId5"/>
              </a:rPr>
              <a:t>https://w.wiki/896n</a:t>
            </a:r>
            <a:r>
              <a:rPr lang="en-BE" altLang="nl-BE" sz="1200">
                <a:latin typeface="Arial Unicode MS" panose="020B0604020202020204" pitchFamily="34" charset="-128"/>
              </a:rPr>
              <a:t> </a:t>
            </a:r>
            <a:endParaRPr kumimoji="0" lang="nl-BE" altLang="nl-BE" sz="28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6FFB2B2-CF6A-0B8D-8772-B01E2D84C1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9441" y="2957556"/>
            <a:ext cx="6991350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417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5DC3DD-1BA0-5DC8-27A3-1E4D28909A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70B80B4-B953-6547-A044-6E303DFD4AF3}" type="slidenum">
              <a:rPr lang="nl-BE" smtClean="0"/>
              <a:pPr/>
              <a:t>8</a:t>
            </a:fld>
            <a:endParaRPr lang="nl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BF0FD6-57B7-D03F-5E4B-B4623BA2810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BE"/>
              <a:t>Let’s consume data... “You know nothing”</a:t>
            </a:r>
            <a:endParaRPr lang="nl-BE"/>
          </a:p>
          <a:p>
            <a:endParaRPr lang="nl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808139-6D16-55B9-62E9-489E3E70851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BE"/>
              <a:t>Everything is data, yes everything!</a:t>
            </a:r>
            <a:endParaRPr lang="nl-B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72172F-8ABC-F6CB-B8DE-5DDC1219D56F}"/>
              </a:ext>
            </a:extLst>
          </p:cNvPr>
          <p:cNvSpPr txBox="1"/>
          <p:nvPr/>
        </p:nvSpPr>
        <p:spPr>
          <a:xfrm>
            <a:off x="914399" y="2682240"/>
            <a:ext cx="4975859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sz="2000" u="sng"/>
              <a:t>The Linked </a:t>
            </a:r>
            <a:r>
              <a:rPr lang="en-BE" sz="2000" u="sng">
                <a:solidFill>
                  <a:schemeClr val="bg2"/>
                </a:solidFill>
              </a:rPr>
              <a:t>data</a:t>
            </a:r>
            <a:r>
              <a:rPr lang="en-BE" sz="2000" u="sng"/>
              <a:t> way</a:t>
            </a:r>
          </a:p>
          <a:p>
            <a:endParaRPr lang="en-BE"/>
          </a:p>
          <a:p>
            <a:r>
              <a:rPr lang="en-BE"/>
              <a:t>Can I please have the endpoint of your </a:t>
            </a:r>
            <a:r>
              <a:rPr lang="en-BE">
                <a:solidFill>
                  <a:schemeClr val="bg2"/>
                </a:solidFill>
              </a:rPr>
              <a:t>data</a:t>
            </a:r>
            <a:r>
              <a:rPr lang="en-BE"/>
              <a:t> store? </a:t>
            </a:r>
            <a:r>
              <a:rPr lang="en-BE" sz="1600"/>
              <a:t>(in case you couldn’t follow your nose...)</a:t>
            </a:r>
            <a:endParaRPr lang="en-BE"/>
          </a:p>
          <a:p>
            <a:endParaRPr lang="en-BE"/>
          </a:p>
          <a:p>
            <a:endParaRPr lang="en-BE"/>
          </a:p>
          <a:p>
            <a:endParaRPr lang="en-BE"/>
          </a:p>
          <a:p>
            <a:r>
              <a:rPr lang="en-BE"/>
              <a:t>I can use a standardised way to question anything I need. I can ask about the model of the </a:t>
            </a:r>
            <a:r>
              <a:rPr lang="en-BE">
                <a:solidFill>
                  <a:schemeClr val="bg2"/>
                </a:solidFill>
              </a:rPr>
              <a:t>data</a:t>
            </a:r>
            <a:r>
              <a:rPr lang="en-BE"/>
              <a:t> or the </a:t>
            </a:r>
            <a:r>
              <a:rPr lang="en-BE">
                <a:solidFill>
                  <a:schemeClr val="bg2"/>
                </a:solidFill>
              </a:rPr>
              <a:t>data</a:t>
            </a:r>
            <a:r>
              <a:rPr lang="en-BE"/>
              <a:t> itself. And best of all, I can let my machine do the work for me. </a:t>
            </a:r>
          </a:p>
          <a:p>
            <a:endParaRPr lang="en-BE"/>
          </a:p>
          <a:p>
            <a:r>
              <a:rPr lang="en-BE"/>
              <a:t>=&gt; Machine readability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8F549A-26E6-B930-0537-A81A839A3EF2}"/>
              </a:ext>
            </a:extLst>
          </p:cNvPr>
          <p:cNvSpPr txBox="1"/>
          <p:nvPr/>
        </p:nvSpPr>
        <p:spPr>
          <a:xfrm>
            <a:off x="6513465" y="2667000"/>
            <a:ext cx="5011965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sz="2000" u="sng"/>
              <a:t>The “other” way (conventional JSON API)</a:t>
            </a:r>
          </a:p>
          <a:p>
            <a:endParaRPr lang="en-BE"/>
          </a:p>
          <a:p>
            <a:r>
              <a:rPr lang="en-BE"/>
              <a:t>Can I please have:</a:t>
            </a:r>
          </a:p>
          <a:p>
            <a:pPr marL="285750" indent="-285750">
              <a:buFontTx/>
              <a:buChar char="-"/>
            </a:pPr>
            <a:r>
              <a:rPr lang="en-BE"/>
              <a:t>The endpoints of your API</a:t>
            </a:r>
          </a:p>
          <a:p>
            <a:pPr marL="285750" indent="-285750">
              <a:buFontTx/>
              <a:buChar char="-"/>
            </a:pPr>
            <a:r>
              <a:rPr lang="en-BE"/>
              <a:t>The structure used to query the endpoints</a:t>
            </a:r>
          </a:p>
          <a:p>
            <a:pPr marL="285750" indent="-285750">
              <a:buFontTx/>
              <a:buChar char="-"/>
            </a:pPr>
            <a:r>
              <a:rPr lang="en-BE"/>
              <a:t>The structure used to respond to the queries</a:t>
            </a:r>
          </a:p>
          <a:p>
            <a:endParaRPr lang="en-BE"/>
          </a:p>
          <a:p>
            <a:r>
              <a:rPr lang="en-BE"/>
              <a:t>I need to manually read and interpret the documentation in order to write my questions specifically for this API. I can’t let a machine do it for me.</a:t>
            </a:r>
          </a:p>
          <a:p>
            <a:endParaRPr lang="en-BE"/>
          </a:p>
          <a:p>
            <a:pPr marL="285750" indent="-285750">
              <a:buFont typeface="Symbol" panose="05050102010706020507" pitchFamily="18" charset="2"/>
              <a:buChar char="Þ"/>
            </a:pPr>
            <a:r>
              <a:rPr lang="en-BE"/>
              <a:t>Not standardised, </a:t>
            </a:r>
          </a:p>
          <a:p>
            <a:pPr marL="285750" indent="-285750">
              <a:buFont typeface="Symbol" panose="05050102010706020507" pitchFamily="18" charset="2"/>
              <a:buChar char="Þ"/>
            </a:pPr>
            <a:r>
              <a:rPr lang="en-BE"/>
              <a:t>lots of manual work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843BCEE-852F-5849-1832-C7CBE5BC4E01}"/>
              </a:ext>
            </a:extLst>
          </p:cNvPr>
          <p:cNvCxnSpPr>
            <a:cxnSpLocks/>
            <a:endCxn id="4" idx="2"/>
          </p:cNvCxnSpPr>
          <p:nvPr/>
        </p:nvCxnSpPr>
        <p:spPr>
          <a:xfrm>
            <a:off x="6096001" y="2682240"/>
            <a:ext cx="0" cy="36160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ChatGPT - Wikipedia">
            <a:extLst>
              <a:ext uri="{FF2B5EF4-FFF2-40B4-BE49-F238E27FC236}">
                <a16:creationId xmlns:a16="http://schemas.microsoft.com/office/drawing/2014/main" id="{AD5BA145-E119-A138-A15B-1461AF897C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3760" y="5746115"/>
            <a:ext cx="746760" cy="746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D0D55522-7374-2DEB-FFDD-5BDC05E4CE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4560" y="5746115"/>
            <a:ext cx="746760" cy="746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Robot - Free electronics icons">
            <a:extLst>
              <a:ext uri="{FF2B5EF4-FFF2-40B4-BE49-F238E27FC236}">
                <a16:creationId xmlns:a16="http://schemas.microsoft.com/office/drawing/2014/main" id="{5425330D-BD39-E2D1-28C1-708EE5A4C5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3498" y="5746115"/>
            <a:ext cx="746760" cy="746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Pen and paper - Free education icons">
            <a:extLst>
              <a:ext uri="{FF2B5EF4-FFF2-40B4-BE49-F238E27FC236}">
                <a16:creationId xmlns:a16="http://schemas.microsoft.com/office/drawing/2014/main" id="{BD6603BD-7FEA-58BA-3511-1C8B877BE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0736" y="5848926"/>
            <a:ext cx="745200" cy="74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IconExperience » G-Collection » User Telephone Icon">
            <a:extLst>
              <a:ext uri="{FF2B5EF4-FFF2-40B4-BE49-F238E27FC236}">
                <a16:creationId xmlns:a16="http://schemas.microsoft.com/office/drawing/2014/main" id="{6E2C06BB-7E74-711D-DF98-69B107CBE6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0799" y="5848926"/>
            <a:ext cx="745200" cy="74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AD30CC6F-B7EC-D90C-4DE7-26E0BDE2ADF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673617" y="154522"/>
            <a:ext cx="2237174" cy="360363"/>
          </a:xfrm>
        </p:spPr>
        <p:txBody>
          <a:bodyPr/>
          <a:lstStyle/>
          <a:p>
            <a:r>
              <a:rPr lang="en-BE"/>
              <a:t>3. SPARQL vs JSON API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404432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hatbot&#10;&#10;Description automatically generated">
            <a:extLst>
              <a:ext uri="{FF2B5EF4-FFF2-40B4-BE49-F238E27FC236}">
                <a16:creationId xmlns:a16="http://schemas.microsoft.com/office/drawing/2014/main" id="{8EDF14F4-BC51-B701-A6BB-FEA526DC58E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0761" t="5751"/>
          <a:stretch/>
        </p:blipFill>
        <p:spPr>
          <a:xfrm>
            <a:off x="4015740" y="235273"/>
            <a:ext cx="4712393" cy="6387453"/>
          </a:xfrm>
          <a:prstGeom prst="rect">
            <a:avLst/>
          </a:prstGeom>
          <a:noFill/>
        </p:spPr>
      </p:pic>
      <p:sp>
        <p:nvSpPr>
          <p:cNvPr id="2" name="Slide Number Placeholder 1" hidden="1">
            <a:extLst>
              <a:ext uri="{FF2B5EF4-FFF2-40B4-BE49-F238E27FC236}">
                <a16:creationId xmlns:a16="http://schemas.microsoft.com/office/drawing/2014/main" id="{9C8E6DFE-2604-6024-5084-C8486E463E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070B80B4-B953-6547-A044-6E303DFD4AF3}" type="slidenum">
              <a:rPr lang="nl-BE" smtClean="0"/>
              <a:pPr>
                <a:spcAft>
                  <a:spcPts val="600"/>
                </a:spcAft>
              </a:pPr>
              <a:t>9</a:t>
            </a:fld>
            <a:endParaRPr lang="nl-B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66CD35-E3EE-2433-0B6B-91ABB426B8B8}"/>
              </a:ext>
            </a:extLst>
          </p:cNvPr>
          <p:cNvSpPr txBox="1"/>
          <p:nvPr/>
        </p:nvSpPr>
        <p:spPr>
          <a:xfrm>
            <a:off x="716937" y="714494"/>
            <a:ext cx="17748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BE">
                <a:hlinkClick r:id="rId4"/>
              </a:rPr>
              <a:t>ERA chatbot link</a:t>
            </a:r>
            <a:endParaRPr lang="nl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E5658C-1C23-50F5-588F-0A58DEED5D68}"/>
              </a:ext>
            </a:extLst>
          </p:cNvPr>
          <p:cNvSpPr txBox="1">
            <a:spLocks/>
          </p:cNvSpPr>
          <p:nvPr/>
        </p:nvSpPr>
        <p:spPr>
          <a:xfrm>
            <a:off x="9673617" y="154522"/>
            <a:ext cx="2237174" cy="360363"/>
          </a:xfrm>
          <a:prstGeom prst="rect">
            <a:avLst/>
          </a:prstGeom>
        </p:spPr>
        <p:txBody>
          <a:bodyPr/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accent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BE"/>
              <a:t>3. SPARQL vs JSON API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687850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DCF61C-B402-E507-6328-B20C0C0B6E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70B80B4-B953-6547-A044-6E303DFD4AF3}" type="slidenum">
              <a:rPr lang="nl-BE" smtClean="0"/>
              <a:pPr/>
              <a:t>10</a:t>
            </a:fld>
            <a:endParaRPr lang="nl-B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DC79F4-F039-0278-F72C-66579F1C09A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BE"/>
              <a:t>3. SPARQL vs JSON API</a:t>
            </a:r>
            <a:endParaRPr lang="nl-BE"/>
          </a:p>
          <a:p>
            <a:endParaRPr lang="nl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4CBD4-F2EC-47AB-D887-1B1F03293E9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BE"/>
              <a:t>If we want to be more complete</a:t>
            </a:r>
            <a:endParaRPr lang="nl-BE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30B5059-DAC0-796E-BD0F-9B3B614D1A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6559208"/>
              </p:ext>
            </p:extLst>
          </p:nvPr>
        </p:nvGraphicFramePr>
        <p:xfrm>
          <a:off x="666571" y="1856509"/>
          <a:ext cx="10858857" cy="39831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9619">
                  <a:extLst>
                    <a:ext uri="{9D8B030D-6E8A-4147-A177-3AD203B41FA5}">
                      <a16:colId xmlns:a16="http://schemas.microsoft.com/office/drawing/2014/main" val="4050249323"/>
                    </a:ext>
                  </a:extLst>
                </a:gridCol>
                <a:gridCol w="3619619">
                  <a:extLst>
                    <a:ext uri="{9D8B030D-6E8A-4147-A177-3AD203B41FA5}">
                      <a16:colId xmlns:a16="http://schemas.microsoft.com/office/drawing/2014/main" val="2758328000"/>
                    </a:ext>
                  </a:extLst>
                </a:gridCol>
                <a:gridCol w="3619619">
                  <a:extLst>
                    <a:ext uri="{9D8B030D-6E8A-4147-A177-3AD203B41FA5}">
                      <a16:colId xmlns:a16="http://schemas.microsoft.com/office/drawing/2014/main" val="4186564194"/>
                    </a:ext>
                  </a:extLst>
                </a:gridCol>
              </a:tblGrid>
              <a:tr h="435584">
                <a:tc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BE"/>
                        <a:t>SPARQL endpoint</a:t>
                      </a:r>
                      <a:endParaRPr lang="nl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BE"/>
                        <a:t>JSON API</a:t>
                      </a:r>
                      <a:endParaRPr lang="nl-B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7365901"/>
                  </a:ext>
                </a:extLst>
              </a:tr>
              <a:tr h="1396255">
                <a:tc>
                  <a:txBody>
                    <a:bodyPr/>
                    <a:lstStyle/>
                    <a:p>
                      <a:r>
                        <a:rPr lang="en-BE"/>
                        <a:t>Work setting it up</a:t>
                      </a:r>
                      <a:endParaRPr lang="nl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BE"/>
                        <a:t>Works out of the box on a triple store. </a:t>
                      </a:r>
                    </a:p>
                    <a:p>
                      <a:r>
                        <a:rPr lang="en-BE"/>
                        <a:t>Needs translation from another dataset (ex. SQL)</a:t>
                      </a:r>
                      <a:endParaRPr lang="nl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BE"/>
                        <a:t>Custom development</a:t>
                      </a:r>
                      <a:endParaRPr lang="nl-B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1786844"/>
                  </a:ext>
                </a:extLst>
              </a:tr>
              <a:tr h="435584">
                <a:tc>
                  <a:txBody>
                    <a:bodyPr/>
                    <a:lstStyle/>
                    <a:p>
                      <a:r>
                        <a:rPr lang="en-BE"/>
                        <a:t>Data model/structure</a:t>
                      </a:r>
                      <a:endParaRPr lang="nl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BE"/>
                        <a:t>From the graph, RDF</a:t>
                      </a:r>
                      <a:endParaRPr lang="nl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BE"/>
                        <a:t>Custom</a:t>
                      </a:r>
                      <a:endParaRPr lang="nl-B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8058269"/>
                  </a:ext>
                </a:extLst>
              </a:tr>
              <a:tr h="435584">
                <a:tc>
                  <a:txBody>
                    <a:bodyPr/>
                    <a:lstStyle/>
                    <a:p>
                      <a:r>
                        <a:rPr lang="en-BE"/>
                        <a:t>Querying</a:t>
                      </a:r>
                      <a:endParaRPr lang="nl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BE"/>
                        <a:t>SPARQL language over HTTP</a:t>
                      </a:r>
                      <a:endParaRPr lang="nl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BE"/>
                        <a:t>Custom over HTTP GET/POST/PUT/...</a:t>
                      </a:r>
                      <a:endParaRPr lang="nl-B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0314489"/>
                  </a:ext>
                </a:extLst>
              </a:tr>
              <a:tr h="435584">
                <a:tc>
                  <a:txBody>
                    <a:bodyPr/>
                    <a:lstStyle/>
                    <a:p>
                      <a:r>
                        <a:rPr lang="en-BE"/>
                        <a:t>Response completeness</a:t>
                      </a:r>
                      <a:endParaRPr lang="nl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BE"/>
                        <a:t>Exactly what you requested</a:t>
                      </a:r>
                      <a:endParaRPr lang="nl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BE"/>
                        <a:t>Can be to much or to little, depends on how the endpo</a:t>
                      </a:r>
                      <a:r>
                        <a:rPr lang="nl-BE"/>
                        <a:t>i</a:t>
                      </a:r>
                      <a:r>
                        <a:rPr lang="en-BE"/>
                        <a:t>nt was setup.</a:t>
                      </a:r>
                      <a:endParaRPr lang="nl-B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8923219"/>
                  </a:ext>
                </a:extLst>
              </a:tr>
              <a:tr h="435584">
                <a:tc>
                  <a:txBody>
                    <a:bodyPr/>
                    <a:lstStyle/>
                    <a:p>
                      <a:r>
                        <a:rPr lang="en-BE"/>
                        <a:t>Federated query</a:t>
                      </a:r>
                      <a:endParaRPr lang="nl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BE"/>
                        <a:t>Supported by the W3C SPARQL standard</a:t>
                      </a:r>
                      <a:endParaRPr lang="nl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BE"/>
                        <a:t>Impossible</a:t>
                      </a:r>
                      <a:endParaRPr lang="nl-B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88399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23844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9D7C533-84A9-9FF9-D04F-13EDF6EA45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70B80B4-B953-6547-A044-6E303DFD4AF3}" type="slidenum">
              <a:rPr lang="nl-BE" smtClean="0"/>
              <a:pPr/>
              <a:t>11</a:t>
            </a:fld>
            <a:endParaRPr lang="nl-B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9F97A6-D544-1F96-A4BF-7F8A03D035F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BE"/>
              <a:t>4. Federated query</a:t>
            </a:r>
            <a:endParaRPr lang="nl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7F69BC-9A35-2C9A-BC3F-08AB9F330F0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BE"/>
              <a:t>Real federated query</a:t>
            </a:r>
            <a:endParaRPr lang="nl-B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BB85DF3-668A-670D-1FFE-C4B6BB6DE4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3146" y="1414856"/>
            <a:ext cx="8105708" cy="535432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D905AD-E2AE-F93B-086A-715FA128E8F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056280" y="1414856"/>
            <a:ext cx="3691305" cy="478554"/>
          </a:xfrm>
        </p:spPr>
        <p:txBody>
          <a:bodyPr/>
          <a:lstStyle/>
          <a:p>
            <a:r>
              <a:rPr lang="nl-BE" sz="1800">
                <a:hlinkClick r:id="rId3"/>
              </a:rPr>
              <a:t>https://api.triplydb.com/s/dwrlYPclx</a:t>
            </a:r>
            <a:r>
              <a:rPr lang="en-BE" sz="1800"/>
              <a:t> </a:t>
            </a:r>
            <a:endParaRPr lang="nl-BE" sz="18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ACC803E-436D-8466-D2F8-99D1509FDD57}"/>
              </a:ext>
            </a:extLst>
          </p:cNvPr>
          <p:cNvSpPr/>
          <p:nvPr/>
        </p:nvSpPr>
        <p:spPr>
          <a:xfrm>
            <a:off x="2346960" y="3302000"/>
            <a:ext cx="2702560" cy="82296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150D08-AEFE-9587-032C-9C2FA8EF0079}"/>
              </a:ext>
            </a:extLst>
          </p:cNvPr>
          <p:cNvSpPr txBox="1"/>
          <p:nvPr/>
        </p:nvSpPr>
        <p:spPr>
          <a:xfrm>
            <a:off x="6096000" y="2580550"/>
            <a:ext cx="44468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/>
              <a:t>Query data from different triple stores. </a:t>
            </a:r>
          </a:p>
          <a:p>
            <a:r>
              <a:rPr lang="en-BE"/>
              <a:t>In this case: get opName from Infrabel dataset and combine with data from Wikidata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568566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EEEA9B-DD04-F6D6-64CC-62A9DE2914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70B80B4-B953-6547-A044-6E303DFD4AF3}" type="slidenum">
              <a:rPr lang="nl-BE" smtClean="0"/>
              <a:pPr/>
              <a:t>12</a:t>
            </a:fld>
            <a:endParaRPr lang="nl-B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3D5DA1-785E-80F3-34E2-3FA24FA06AD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BE"/>
              <a:t>5. Merging 2 datasets</a:t>
            </a:r>
            <a:endParaRPr lang="nl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504C4-AC41-4FC4-FBFF-EAFC7270E9A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BE" sz="2000"/>
              <a:t>Demo in vcode using: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BE" sz="2000">
                <a:hlinkClick r:id="rId2"/>
              </a:rPr>
              <a:t>Infrabel opendata set with operational points</a:t>
            </a:r>
            <a:r>
              <a:rPr lang="en-BE" sz="2000"/>
              <a:t> and soon to be public dataset of platform heights</a:t>
            </a:r>
            <a:endParaRPr lang="en-BE" sz="2000">
              <a:hlinkClick r:id="rId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BE" sz="2000">
                <a:hlinkClick r:id="rId2"/>
              </a:rPr>
              <a:t>RML language</a:t>
            </a:r>
            <a:r>
              <a:rPr lang="en-BE" sz="2000"/>
              <a:t> with </a:t>
            </a:r>
            <a:r>
              <a:rPr lang="en-BE" sz="2000">
                <a:hlinkClick r:id="rId3"/>
              </a:rPr>
              <a:t>RML Mapper (tool for conversion)</a:t>
            </a:r>
            <a:endParaRPr lang="en-BE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BE" sz="2000">
                <a:hlinkClick r:id="rId4"/>
              </a:rPr>
              <a:t>Sparql notebook </a:t>
            </a:r>
            <a:r>
              <a:rPr lang="en-BE" sz="2000"/>
              <a:t>amazing extension of vcode to query SPARQL endpoints or local RDF files</a:t>
            </a:r>
          </a:p>
          <a:p>
            <a:endParaRPr lang="en-BE" sz="2000"/>
          </a:p>
          <a:p>
            <a:r>
              <a:rPr lang="en-BE" sz="2000"/>
              <a:t>Point of demo: while JSON, XML and other data structures are “file complete”, RDF is “line complete”. This means that you can copy one line from 1 RDF dataset into another dataset to merge this information. Just.. </a:t>
            </a:r>
            <a:r>
              <a:rPr lang="nl-BE" sz="2000"/>
              <a:t>B</a:t>
            </a:r>
            <a:r>
              <a:rPr lang="en-BE" sz="2000"/>
              <a:t>y.. </a:t>
            </a:r>
            <a:r>
              <a:rPr lang="nl-BE" sz="2000"/>
              <a:t>C</a:t>
            </a:r>
            <a:r>
              <a:rPr lang="en-BE" sz="2000"/>
              <a:t>opy.. </a:t>
            </a:r>
            <a:r>
              <a:rPr lang="nl-BE" sz="2000"/>
              <a:t>P</a:t>
            </a:r>
            <a:r>
              <a:rPr lang="en-BE" sz="2000"/>
              <a:t>aste.. </a:t>
            </a:r>
          </a:p>
          <a:p>
            <a:endParaRPr lang="en-BE" sz="2000"/>
          </a:p>
          <a:p>
            <a:r>
              <a:rPr lang="en-BE" sz="2000"/>
              <a:t>Opensource demo: </a:t>
            </a:r>
            <a:r>
              <a:rPr lang="nl-BE" sz="2000">
                <a:hlinkClick r:id="rId5"/>
              </a:rPr>
              <a:t>https://gitlab.com/mathias.vanden.auweele/infrabel-opendata-to-rdf</a:t>
            </a:r>
            <a:r>
              <a:rPr lang="en-BE" sz="2000"/>
              <a:t> </a:t>
            </a:r>
            <a:endParaRPr lang="nl-BE" sz="200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A995BD-2EB5-F598-3F47-DED0ED9B65D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BE"/>
              <a:t>Merging 2 datasets = copy &amp; paste</a:t>
            </a:r>
          </a:p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919722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68512B1-5851-660C-2E77-8E4288E904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70B80B4-B953-6547-A044-6E303DFD4AF3}" type="slidenum">
              <a:rPr lang="nl-BE" smtClean="0"/>
              <a:pPr/>
              <a:t>13</a:t>
            </a:fld>
            <a:endParaRPr lang="nl-B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CC4946-24B5-3CA2-1D68-FC6C983CE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F64DA1-6320-4139-1561-04D98A35B3F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68BDDA-2088-54B3-F0CD-4EBC7FE04F8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nl-B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B885EC-E3A9-D43C-F58D-9A9F4F359B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2515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B268CDD-1579-0DD3-C895-84CA7F30BA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70B80B4-B953-6547-A044-6E303DFD4AF3}" type="slidenum">
              <a:rPr lang="nl-BE" smtClean="0"/>
              <a:pPr/>
              <a:t>14</a:t>
            </a:fld>
            <a:endParaRPr lang="nl-B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B7E7C0-B0D3-3536-6A3B-12B0B5F25B6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1EE11A-235D-50A4-EB90-09C805A36DF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3F1E5E-0185-F09D-3D33-268AC0A6693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nl-B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027AC4-26EA-C64E-E085-22CF6D4BEB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4694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41FFBF-0611-8716-8D0B-2E3DEEF1EC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70B80B4-B953-6547-A044-6E303DFD4AF3}" type="slidenum">
              <a:rPr lang="nl-BE" smtClean="0"/>
              <a:pPr/>
              <a:t>15</a:t>
            </a:fld>
            <a:endParaRPr lang="nl-B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884FF3-27F6-6B88-27E1-6543AD2B2C3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BE"/>
              <a:t>6. SPARQL Anything</a:t>
            </a:r>
            <a:endParaRPr lang="nl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E5C160-8047-6E8F-824A-235486F21E5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66572" y="1779340"/>
            <a:ext cx="7097945" cy="4518909"/>
          </a:xfrm>
        </p:spPr>
        <p:txBody>
          <a:bodyPr/>
          <a:lstStyle/>
          <a:p>
            <a:r>
              <a:rPr lang="nl-BE">
                <a:hlinkClick r:id="rId2"/>
              </a:rPr>
              <a:t>G</a:t>
            </a:r>
            <a:r>
              <a:rPr lang="en-BE">
                <a:hlinkClick r:id="rId2"/>
              </a:rPr>
              <a:t>i</a:t>
            </a:r>
            <a:r>
              <a:rPr lang="nl-BE">
                <a:hlinkClick r:id="rId2"/>
              </a:rPr>
              <a:t>thu</a:t>
            </a:r>
            <a:r>
              <a:rPr lang="en-BE">
                <a:hlinkClick r:id="rId2"/>
              </a:rPr>
              <a:t>b of SPARQL-An</a:t>
            </a:r>
            <a:r>
              <a:rPr lang="nl-BE">
                <a:hlinkClick r:id="rId2"/>
              </a:rPr>
              <a:t>y</a:t>
            </a:r>
            <a:r>
              <a:rPr lang="en-BE">
                <a:hlinkClick r:id="rId2"/>
              </a:rPr>
              <a:t>thing</a:t>
            </a:r>
            <a:endParaRPr lang="en-BE"/>
          </a:p>
          <a:p>
            <a:endParaRPr lang="en-BE"/>
          </a:p>
          <a:p>
            <a:r>
              <a:rPr lang="en-BE"/>
              <a:t>Opensource demo: </a:t>
            </a:r>
            <a:r>
              <a:rPr lang="nl-BE">
                <a:hlinkClick r:id="rId3"/>
              </a:rPr>
              <a:t>https://gitlab.com/mathias.vanden.auweele/sparql-anything-demo</a:t>
            </a:r>
            <a:r>
              <a:rPr lang="en-BE"/>
              <a:t> </a:t>
            </a:r>
            <a:endParaRPr lang="nl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CC6472-CD44-8F9A-A9AF-8B2F2FE48C7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BE"/>
              <a:t>An</a:t>
            </a:r>
            <a:r>
              <a:rPr lang="nl-BE"/>
              <a:t>y</a:t>
            </a:r>
            <a:r>
              <a:rPr lang="en-BE"/>
              <a:t>thing to RDF using SPARQL</a:t>
            </a:r>
            <a:endParaRPr lang="nl-BE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E56D5D3-0A93-7024-B0D7-9A4777BD5F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2351" y="2420963"/>
            <a:ext cx="4018440" cy="359180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5755891-3E04-CAFD-7696-EF84DC621994}"/>
              </a:ext>
            </a:extLst>
          </p:cNvPr>
          <p:cNvSpPr txBox="1"/>
          <p:nvPr/>
        </p:nvSpPr>
        <p:spPr>
          <a:xfrm>
            <a:off x="7840662" y="6012768"/>
            <a:ext cx="13239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BE">
                <a:hlinkClick r:id="rId5"/>
              </a:rPr>
              <a:t>Link</a:t>
            </a:r>
            <a:r>
              <a:rPr lang="en-BE"/>
              <a:t> to post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1188562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DA5FB9E-F858-4D94-C032-41C4F62DD9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70B80B4-B953-6547-A044-6E303DFD4AF3}" type="slidenum">
              <a:rPr lang="nl-BE" smtClean="0"/>
              <a:pPr/>
              <a:t>16</a:t>
            </a:fld>
            <a:endParaRPr lang="nl-B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FF588F-1DA2-F35C-52AD-16479084FFC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170C84-383C-E225-6E80-7D20D66BB43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E157E6-3A3C-19C8-9A03-7E098E14A0E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nl-B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980A823-62D6-599D-DBFE-45A80C88FE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315" y="0"/>
            <a:ext cx="930937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7930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D9B0377-7CF1-6316-7DB6-D9DCAE0D6D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70B80B4-B953-6547-A044-6E303DFD4AF3}" type="slidenum">
              <a:rPr lang="nl-BE" smtClean="0"/>
              <a:pPr/>
              <a:t>17</a:t>
            </a:fld>
            <a:endParaRPr lang="nl-B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826ADB-1336-AFCF-884E-2384E78A937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44E6E1-839D-1471-6F3B-3A7FEA72BF0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A79325-CA86-60D8-D1A0-69AD436D55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nl-B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F7478B-C0C3-80F2-861C-BFC5061D34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3055" y="0"/>
            <a:ext cx="70458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3342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6AF44E5-CBDE-96DC-E1B0-B39E7E634E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70B80B4-B953-6547-A044-6E303DFD4AF3}" type="slidenum">
              <a:rPr lang="nl-BE" smtClean="0"/>
              <a:pPr/>
              <a:t>18</a:t>
            </a:fld>
            <a:endParaRPr lang="nl-B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A100A2-E9F2-7D66-794F-BBACC2B43FA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316720" y="154522"/>
            <a:ext cx="2594071" cy="360363"/>
          </a:xfrm>
        </p:spPr>
        <p:txBody>
          <a:bodyPr/>
          <a:lstStyle/>
          <a:p>
            <a:r>
              <a:rPr lang="en-BE"/>
              <a:t>7. SHACL &amp; Form generation</a:t>
            </a:r>
            <a:endParaRPr lang="nl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D8C1AF-7B3E-C59D-F847-9AD6EFD4753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nl-BE" sz="2000">
                <a:hlinkClick r:id="rId2"/>
              </a:rPr>
              <a:t>Shapes Constraint Language (</a:t>
            </a:r>
            <a:r>
              <a:rPr lang="nl-BE" sz="2000" i="1">
                <a:hlinkClick r:id="rId2"/>
              </a:rPr>
              <a:t>SHACL</a:t>
            </a:r>
            <a:r>
              <a:rPr lang="nl-BE" sz="2000">
                <a:hlinkClick r:id="rId2"/>
              </a:rPr>
              <a:t>)</a:t>
            </a:r>
            <a:r>
              <a:rPr lang="nl-BE" sz="2000"/>
              <a:t> is a W3C standard language for describing </a:t>
            </a:r>
            <a:r>
              <a:rPr lang="en-BE" sz="2000"/>
              <a:t>RDF </a:t>
            </a:r>
            <a:r>
              <a:rPr lang="nl-BE" sz="2000"/>
              <a:t>graphs.</a:t>
            </a:r>
            <a:endParaRPr lang="en-BE" sz="2000"/>
          </a:p>
          <a:p>
            <a:endParaRPr lang="en-BE" sz="2000"/>
          </a:p>
          <a:p>
            <a:r>
              <a:rPr lang="en-BE" sz="2000"/>
              <a:t>Some of the use cases of SHACL: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BE" sz="2000"/>
              <a:t>Data validation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BE" sz="2000"/>
              <a:t>Form generation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BE" sz="2000"/>
              <a:t>Business rules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BE" sz="2000"/>
              <a:t>Code generation</a:t>
            </a:r>
          </a:p>
          <a:p>
            <a:endParaRPr lang="en-BE" sz="2000">
              <a:hlinkClick r:id="rId3"/>
            </a:endParaRPr>
          </a:p>
          <a:p>
            <a:r>
              <a:rPr lang="en-BE" sz="2000"/>
              <a:t>Demo using: </a:t>
            </a:r>
            <a:r>
              <a:rPr lang="nl-BE" sz="2000">
                <a:hlinkClick r:id="rId3"/>
              </a:rPr>
              <a:t>https://forms.hypermedia.app/playground/</a:t>
            </a:r>
            <a:r>
              <a:rPr lang="en-BE" sz="2000"/>
              <a:t> </a:t>
            </a:r>
            <a:endParaRPr lang="nl-BE" sz="200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9ED8FA-A379-FC0A-EA82-3E6E463F0A3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BE"/>
              <a:t>Data validation &amp; form generation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4079595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860A6D2-291F-554A-F9EB-DCBAEBC5ED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70B80B4-B953-6547-A044-6E303DFD4AF3}" type="slidenum">
              <a:rPr lang="nl-BE" smtClean="0"/>
              <a:pPr/>
              <a:t>19</a:t>
            </a:fld>
            <a:endParaRPr lang="nl-B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597787-E090-77C2-0928-038077AAB35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117E84-D7DF-DCE8-70A8-CCA43A86811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7BA837-8D7A-CAEA-1688-89B22D6E950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nl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E7FBCA-21E9-FA69-80F0-BC893D60A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71" y="0"/>
            <a:ext cx="120222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8241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2834FB8-0830-A959-3F44-86CF12172A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4965" y="6492875"/>
            <a:ext cx="565240" cy="365125"/>
          </a:xfrm>
        </p:spPr>
        <p:txBody>
          <a:bodyPr/>
          <a:lstStyle/>
          <a:p>
            <a:fld id="{070B80B4-B953-6547-A044-6E303DFD4AF3}" type="slidenum">
              <a:rPr lang="nl-BE" smtClean="0"/>
              <a:pPr/>
              <a:t>20</a:t>
            </a:fld>
            <a:endParaRPr lang="nl-BE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158E8B9-37BC-BEA3-97E6-2AF9502FF00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BD8A0F-DB47-87E7-3E81-B1356EEFB02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66572" y="1779340"/>
            <a:ext cx="10858858" cy="4518909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BE"/>
              <a:t>What is Linked Data</a:t>
            </a:r>
          </a:p>
          <a:p>
            <a:pPr marL="457200" indent="-457200">
              <a:buFont typeface="+mj-lt"/>
              <a:buAutoNum type="arabicPeriod"/>
            </a:pPr>
            <a:r>
              <a:rPr lang="en-BE"/>
              <a:t>Wikidata</a:t>
            </a:r>
          </a:p>
          <a:p>
            <a:pPr marL="457200" indent="-457200">
              <a:buFont typeface="+mj-lt"/>
              <a:buAutoNum type="arabicPeriod"/>
            </a:pPr>
            <a:r>
              <a:rPr lang="en-BE"/>
              <a:t>SPARQL Endpoint &gt;&gt;&gt; JSON API</a:t>
            </a:r>
          </a:p>
          <a:p>
            <a:pPr marL="457200" indent="-457200">
              <a:buFont typeface="+mj-lt"/>
              <a:buAutoNum type="arabicPeriod"/>
            </a:pPr>
            <a:r>
              <a:rPr lang="en-BE"/>
              <a:t>Federated query</a:t>
            </a:r>
          </a:p>
          <a:p>
            <a:pPr marL="457200" indent="-457200">
              <a:buFont typeface="+mj-lt"/>
              <a:buAutoNum type="arabicPeriod"/>
            </a:pPr>
            <a:r>
              <a:rPr lang="en-BE"/>
              <a:t>Merging 2 datasets </a:t>
            </a:r>
          </a:p>
          <a:p>
            <a:pPr marL="457200" indent="-457200">
              <a:buFont typeface="+mj-lt"/>
              <a:buAutoNum type="arabicPeriod"/>
            </a:pPr>
            <a:r>
              <a:rPr lang="en-BE"/>
              <a:t>SPARQL Anything</a:t>
            </a:r>
          </a:p>
          <a:p>
            <a:pPr marL="457200" indent="-457200">
              <a:buFont typeface="+mj-lt"/>
              <a:buAutoNum type="arabicPeriod"/>
            </a:pPr>
            <a:r>
              <a:rPr lang="en-BE"/>
              <a:t>SHACL &amp; Form generation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96DD490-9153-A7AA-AFFD-752274C0E75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572" y="845232"/>
            <a:ext cx="10858858" cy="478554"/>
          </a:xfrm>
        </p:spPr>
        <p:txBody>
          <a:bodyPr/>
          <a:lstStyle/>
          <a:p>
            <a:r>
              <a:rPr lang="en-BE"/>
              <a:t>Table of content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9154849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ctr"/>
            <a:r>
              <a:rPr lang="en-BE" noProof="0" dirty="0"/>
              <a:t>Questions?</a:t>
            </a:r>
          </a:p>
          <a:p>
            <a:pPr algn="ctr"/>
            <a:endParaRPr lang="en-BE" dirty="0"/>
          </a:p>
          <a:p>
            <a:r>
              <a:rPr lang="en-BE" sz="2800" noProof="0" dirty="0"/>
              <a:t>Good reads: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noProof="0" dirty="0"/>
              <a:t>The Data-Centric </a:t>
            </a:r>
            <a:r>
              <a:rPr lang="nl-BE" sz="2400" noProof="0" dirty="0" err="1"/>
              <a:t>Revolution</a:t>
            </a:r>
            <a:r>
              <a:rPr lang="en-BE" sz="2400" noProof="0" dirty="0"/>
              <a:t> (ISBN: 978-1634625401)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>
                <a:hlinkClick r:id="rId2"/>
              </a:rPr>
              <a:t>https://tdan.com/the-data-centric-revolution/18780</a:t>
            </a:r>
            <a:r>
              <a:rPr lang="en-BE" sz="2400" dirty="0"/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noProof="0" dirty="0">
                <a:hlinkClick r:id="rId3"/>
              </a:rPr>
              <a:t>https://en.wikipedia.org/wiki/FAIR_data</a:t>
            </a:r>
            <a:r>
              <a:rPr lang="en-BE" sz="2400" noProof="0" dirty="0"/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 err="1">
                <a:effectLst/>
                <a:latin typeface="Calibri" panose="020F0502020204030204" pitchFamily="34" charset="0"/>
                <a:hlinkClick r:id="rId4"/>
              </a:rPr>
              <a:t>What</a:t>
            </a:r>
            <a:r>
              <a:rPr lang="nl-BE" sz="2400" dirty="0">
                <a:effectLst/>
                <a:latin typeface="Calibri" panose="020F0502020204030204" pitchFamily="34" charset="0"/>
                <a:hlinkClick r:id="rId4"/>
              </a:rPr>
              <a:t> is a </a:t>
            </a:r>
            <a:r>
              <a:rPr lang="nl-BE" sz="2400" dirty="0" err="1">
                <a:effectLst/>
                <a:latin typeface="Calibri" panose="020F0502020204030204" pitchFamily="34" charset="0"/>
                <a:hlinkClick r:id="rId4"/>
              </a:rPr>
              <a:t>knowledge</a:t>
            </a:r>
            <a:r>
              <a:rPr lang="nl-BE" sz="2400" dirty="0">
                <a:effectLst/>
                <a:latin typeface="Calibri" panose="020F0502020204030204" pitchFamily="34" charset="0"/>
                <a:hlinkClick r:id="rId4"/>
              </a:rPr>
              <a:t> </a:t>
            </a:r>
            <a:r>
              <a:rPr lang="nl-BE" sz="2400" dirty="0" err="1">
                <a:effectLst/>
                <a:latin typeface="Calibri" panose="020F0502020204030204" pitchFamily="34" charset="0"/>
                <a:hlinkClick r:id="rId4"/>
              </a:rPr>
              <a:t>graph</a:t>
            </a:r>
            <a:r>
              <a:rPr lang="nl-BE" sz="2400" dirty="0">
                <a:effectLst/>
                <a:latin typeface="Calibri" panose="020F0502020204030204" pitchFamily="34" charset="0"/>
                <a:hlinkClick r:id="rId4"/>
              </a:rPr>
              <a:t> - Pokémon </a:t>
            </a:r>
            <a:r>
              <a:rPr lang="nl-BE" sz="2400" dirty="0" err="1">
                <a:effectLst/>
                <a:latin typeface="Calibri" panose="020F0502020204030204" pitchFamily="34" charset="0"/>
                <a:hlinkClick r:id="rId4"/>
              </a:rPr>
              <a:t>edition</a:t>
            </a:r>
            <a:r>
              <a:rPr lang="nl-BE" sz="2400" dirty="0">
                <a:effectLst/>
                <a:latin typeface="Calibri" panose="020F0502020204030204" pitchFamily="34" charset="0"/>
                <a:hlinkClick r:id="rId4"/>
              </a:rPr>
              <a:t> | Pieter Heyvaert</a:t>
            </a:r>
            <a:endParaRPr lang="nl-BE" sz="2400" noProof="0" dirty="0"/>
          </a:p>
        </p:txBody>
      </p:sp>
    </p:spTree>
    <p:extLst>
      <p:ext uri="{BB962C8B-B14F-4D97-AF65-F5344CB8AC3E}">
        <p14:creationId xmlns:p14="http://schemas.microsoft.com/office/powerpoint/2010/main" val="2089538938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on Cover Slides">
  <a:themeElements>
    <a:clrScheme name="Lichtkrant">
      <a:dk1>
        <a:srgbClr val="000000"/>
      </a:dk1>
      <a:lt1>
        <a:sysClr val="window" lastClr="FFFFFF"/>
      </a:lt1>
      <a:dk2>
        <a:srgbClr val="FFFFFF"/>
      </a:dk2>
      <a:lt2>
        <a:srgbClr val="02BCF0"/>
      </a:lt2>
      <a:accent1>
        <a:srgbClr val="025DA4"/>
      </a:accent1>
      <a:accent2>
        <a:srgbClr val="213A53"/>
      </a:accent2>
      <a:accent3>
        <a:srgbClr val="FF6200"/>
      </a:accent3>
      <a:accent4>
        <a:srgbClr val="00BD6A"/>
      </a:accent4>
      <a:accent5>
        <a:srgbClr val="000000"/>
      </a:accent5>
      <a:accent6>
        <a:srgbClr val="000000"/>
      </a:accent6>
      <a:hlink>
        <a:srgbClr val="F59E00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frabel_template_Final version" id="{96213472-7153-40CE-8905-36F3EC6E1B2F}" vid="{31BE245E-9840-43BA-82CC-424A0EFF3C80}"/>
    </a:ext>
  </a:extLst>
</a:theme>
</file>

<file path=ppt/theme/theme2.xml><?xml version="1.0" encoding="utf-8"?>
<a:theme xmlns:a="http://schemas.openxmlformats.org/drawingml/2006/main" name="Title Slides">
  <a:themeElements>
    <a:clrScheme name="Lichtkrant">
      <a:dk1>
        <a:srgbClr val="000000"/>
      </a:dk1>
      <a:lt1>
        <a:sysClr val="window" lastClr="FFFFFF"/>
      </a:lt1>
      <a:dk2>
        <a:srgbClr val="FFFFFF"/>
      </a:dk2>
      <a:lt2>
        <a:srgbClr val="02BCF0"/>
      </a:lt2>
      <a:accent1>
        <a:srgbClr val="025DA4"/>
      </a:accent1>
      <a:accent2>
        <a:srgbClr val="213A53"/>
      </a:accent2>
      <a:accent3>
        <a:srgbClr val="FF6200"/>
      </a:accent3>
      <a:accent4>
        <a:srgbClr val="00BD6A"/>
      </a:accent4>
      <a:accent5>
        <a:srgbClr val="000000"/>
      </a:accent5>
      <a:accent6>
        <a:srgbClr val="000000"/>
      </a:accent6>
      <a:hlink>
        <a:srgbClr val="F59E00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frabel_template_Final version" id="{96213472-7153-40CE-8905-36F3EC6E1B2F}" vid="{1BC3C816-5813-45CE-BD3D-6E3CAAFFAED3}"/>
    </a:ext>
  </a:extLst>
</a:theme>
</file>

<file path=ppt/theme/theme3.xml><?xml version="1.0" encoding="utf-8"?>
<a:theme xmlns:a="http://schemas.openxmlformats.org/drawingml/2006/main" name="Content Slides">
  <a:themeElements>
    <a:clrScheme name="Lichtkrant">
      <a:dk1>
        <a:srgbClr val="000000"/>
      </a:dk1>
      <a:lt1>
        <a:sysClr val="window" lastClr="FFFFFF"/>
      </a:lt1>
      <a:dk2>
        <a:srgbClr val="FFFFFF"/>
      </a:dk2>
      <a:lt2>
        <a:srgbClr val="02BCF0"/>
      </a:lt2>
      <a:accent1>
        <a:srgbClr val="025DA4"/>
      </a:accent1>
      <a:accent2>
        <a:srgbClr val="213A53"/>
      </a:accent2>
      <a:accent3>
        <a:srgbClr val="FF6200"/>
      </a:accent3>
      <a:accent4>
        <a:srgbClr val="00BD6A"/>
      </a:accent4>
      <a:accent5>
        <a:srgbClr val="000000"/>
      </a:accent5>
      <a:accent6>
        <a:srgbClr val="000000"/>
      </a:accent6>
      <a:hlink>
        <a:srgbClr val="F59E00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frabel_template_Final version" id="{96213472-7153-40CE-8905-36F3EC6E1B2F}" vid="{B6D51653-5D8F-4A8B-9BFA-1B05C355D8D1}"/>
    </a:ext>
  </a:extLst>
</a:theme>
</file>

<file path=ppt/theme/theme4.xml><?xml version="1.0" encoding="utf-8"?>
<a:theme xmlns:a="http://schemas.openxmlformats.org/drawingml/2006/main" name="Chart slides">
  <a:themeElements>
    <a:clrScheme name="Lichtkrant">
      <a:dk1>
        <a:srgbClr val="000000"/>
      </a:dk1>
      <a:lt1>
        <a:sysClr val="window" lastClr="FFFFFF"/>
      </a:lt1>
      <a:dk2>
        <a:srgbClr val="FFFFFF"/>
      </a:dk2>
      <a:lt2>
        <a:srgbClr val="02BCF0"/>
      </a:lt2>
      <a:accent1>
        <a:srgbClr val="025DA4"/>
      </a:accent1>
      <a:accent2>
        <a:srgbClr val="213A53"/>
      </a:accent2>
      <a:accent3>
        <a:srgbClr val="FF6200"/>
      </a:accent3>
      <a:accent4>
        <a:srgbClr val="00BD6A"/>
      </a:accent4>
      <a:accent5>
        <a:srgbClr val="000000"/>
      </a:accent5>
      <a:accent6>
        <a:srgbClr val="000000"/>
      </a:accent6>
      <a:hlink>
        <a:srgbClr val="F59E00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frabel_template_Final version" id="{96213472-7153-40CE-8905-36F3EC6E1B2F}" vid="{C3832CE2-7BE9-48D8-98AB-0A4982109993}"/>
    </a:ext>
  </a:extLst>
</a:theme>
</file>

<file path=ppt/theme/theme5.xml><?xml version="1.0" encoding="utf-8"?>
<a:theme xmlns:a="http://schemas.openxmlformats.org/drawingml/2006/main" name="Image Title Slide">
  <a:themeElements>
    <a:clrScheme name="Lichtkrant">
      <a:dk1>
        <a:srgbClr val="000000"/>
      </a:dk1>
      <a:lt1>
        <a:sysClr val="window" lastClr="FFFFFF"/>
      </a:lt1>
      <a:dk2>
        <a:srgbClr val="FFFFFF"/>
      </a:dk2>
      <a:lt2>
        <a:srgbClr val="02BCF0"/>
      </a:lt2>
      <a:accent1>
        <a:srgbClr val="025DA4"/>
      </a:accent1>
      <a:accent2>
        <a:srgbClr val="213A53"/>
      </a:accent2>
      <a:accent3>
        <a:srgbClr val="FF6200"/>
      </a:accent3>
      <a:accent4>
        <a:srgbClr val="00BD6A"/>
      </a:accent4>
      <a:accent5>
        <a:srgbClr val="000000"/>
      </a:accent5>
      <a:accent6>
        <a:srgbClr val="000000"/>
      </a:accent6>
      <a:hlink>
        <a:srgbClr val="F59E00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frabel_template_Final version" id="{96213472-7153-40CE-8905-36F3EC6E1B2F}" vid="{631E62FD-DD6D-40EB-A228-075E4DFF00F1}"/>
    </a:ext>
  </a:extLst>
</a:theme>
</file>

<file path=ppt/theme/theme6.xml><?xml version="1.0" encoding="utf-8"?>
<a:theme xmlns:a="http://schemas.openxmlformats.org/drawingml/2006/main" name="Closing Slide Light Blue">
  <a:themeElements>
    <a:clrScheme name="Lichtkrant">
      <a:dk1>
        <a:srgbClr val="000000"/>
      </a:dk1>
      <a:lt1>
        <a:sysClr val="window" lastClr="FFFFFF"/>
      </a:lt1>
      <a:dk2>
        <a:srgbClr val="FFFFFF"/>
      </a:dk2>
      <a:lt2>
        <a:srgbClr val="02BCF0"/>
      </a:lt2>
      <a:accent1>
        <a:srgbClr val="025DA4"/>
      </a:accent1>
      <a:accent2>
        <a:srgbClr val="213A53"/>
      </a:accent2>
      <a:accent3>
        <a:srgbClr val="FF6200"/>
      </a:accent3>
      <a:accent4>
        <a:srgbClr val="00BD6A"/>
      </a:accent4>
      <a:accent5>
        <a:srgbClr val="000000"/>
      </a:accent5>
      <a:accent6>
        <a:srgbClr val="000000"/>
      </a:accent6>
      <a:hlink>
        <a:srgbClr val="F59E00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frabel_template_Final version" id="{96213472-7153-40CE-8905-36F3EC6E1B2F}" vid="{7C912F14-0B74-47A2-893B-4FFF78FE047C}"/>
    </a:ext>
  </a:extLst>
</a:theme>
</file>

<file path=ppt/theme/theme7.xml><?xml version="1.0" encoding="utf-8"?>
<a:theme xmlns:a="http://schemas.openxmlformats.org/drawingml/2006/main" name="Closing Slide Dark Blue">
  <a:themeElements>
    <a:clrScheme name="Lichtkrant">
      <a:dk1>
        <a:srgbClr val="000000"/>
      </a:dk1>
      <a:lt1>
        <a:sysClr val="window" lastClr="FFFFFF"/>
      </a:lt1>
      <a:dk2>
        <a:srgbClr val="FFFFFF"/>
      </a:dk2>
      <a:lt2>
        <a:srgbClr val="02BCF0"/>
      </a:lt2>
      <a:accent1>
        <a:srgbClr val="025DA4"/>
      </a:accent1>
      <a:accent2>
        <a:srgbClr val="213A53"/>
      </a:accent2>
      <a:accent3>
        <a:srgbClr val="FF6200"/>
      </a:accent3>
      <a:accent4>
        <a:srgbClr val="00BD6A"/>
      </a:accent4>
      <a:accent5>
        <a:srgbClr val="000000"/>
      </a:accent5>
      <a:accent6>
        <a:srgbClr val="000000"/>
      </a:accent6>
      <a:hlink>
        <a:srgbClr val="F59E00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frabel_template_Final version" id="{96213472-7153-40CE-8905-36F3EC6E1B2F}" vid="{DB6CC19F-BFBF-4917-A9A3-F9FC96D1268A}"/>
    </a:ext>
  </a:extLst>
</a:theme>
</file>

<file path=ppt/theme/theme8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5a6ceb9-a2fe-41b3-9bc6-814abaf85c7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BD7A7A916522F458C4967F29AC0773D" ma:contentTypeVersion="17" ma:contentTypeDescription="Create a new document." ma:contentTypeScope="" ma:versionID="d4e78ca088259003f273ce763c53b7a5">
  <xsd:schema xmlns:xsd="http://www.w3.org/2001/XMLSchema" xmlns:xs="http://www.w3.org/2001/XMLSchema" xmlns:p="http://schemas.microsoft.com/office/2006/metadata/properties" xmlns:ns3="b782f173-9eee-4703-abe8-24f6c9257036" xmlns:ns4="f5a6ceb9-a2fe-41b3-9bc6-814abaf85c7d" targetNamespace="http://schemas.microsoft.com/office/2006/metadata/properties" ma:root="true" ma:fieldsID="999ad8417ab192adf12a2706ed82dfbb" ns3:_="" ns4:_="">
    <xsd:import namespace="b782f173-9eee-4703-abe8-24f6c9257036"/>
    <xsd:import namespace="f5a6ceb9-a2fe-41b3-9bc6-814abaf85c7d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DateTaken" minOccurs="0"/>
                <xsd:element ref="ns4:MediaServiceLocation" minOccurs="0"/>
                <xsd:element ref="ns4:MediaServiceAutoKeyPoints" minOccurs="0"/>
                <xsd:element ref="ns4:MediaServiceKeyPoints" minOccurs="0"/>
                <xsd:element ref="ns4:MediaLengthInSeconds" minOccurs="0"/>
                <xsd:element ref="ns4:_activity" minOccurs="0"/>
                <xsd:element ref="ns4:MediaServiceObjectDetectorVersions" minOccurs="0"/>
                <xsd:element ref="ns4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82f173-9eee-4703-abe8-24f6c9257036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a6ceb9-a2fe-41b3-9bc6-814abaf85c7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A17772D-2EA4-4794-A987-589142458127}">
  <ds:schemaRefs>
    <ds:schemaRef ds:uri="http://schemas.microsoft.com/office/infopath/2007/PartnerControls"/>
    <ds:schemaRef ds:uri="http://schemas.microsoft.com/office/2006/documentManagement/types"/>
    <ds:schemaRef ds:uri="http://purl.org/dc/terms/"/>
    <ds:schemaRef ds:uri="http://schemas.microsoft.com/office/2006/metadata/properties"/>
    <ds:schemaRef ds:uri="b782f173-9eee-4703-abe8-24f6c9257036"/>
    <ds:schemaRef ds:uri="http://purl.org/dc/elements/1.1/"/>
    <ds:schemaRef ds:uri="http://www.w3.org/XML/1998/namespace"/>
    <ds:schemaRef ds:uri="http://schemas.openxmlformats.org/package/2006/metadata/core-properties"/>
    <ds:schemaRef ds:uri="f5a6ceb9-a2fe-41b3-9bc6-814abaf85c7d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C1CE39C4-D821-4324-8D7A-279AA1DE8B9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837D725-4344-4E7A-85A6-B22A8C9AA7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782f173-9eee-4703-abe8-24f6c9257036"/>
    <ds:schemaRef ds:uri="f5a6ceb9-a2fe-41b3-9bc6-814abaf85c7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Infrabel_template_v201910</Template>
  <TotalTime>0</TotalTime>
  <Words>1143</Words>
  <Application>Microsoft Office PowerPoint</Application>
  <PresentationFormat>Widescreen</PresentationFormat>
  <Paragraphs>209</Paragraphs>
  <Slides>21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21</vt:i4>
      </vt:variant>
    </vt:vector>
  </HeadingPairs>
  <TitlesOfParts>
    <vt:vector size="34" baseType="lpstr">
      <vt:lpstr>Arial Unicode MS</vt:lpstr>
      <vt:lpstr>Arial</vt:lpstr>
      <vt:lpstr>Calibri</vt:lpstr>
      <vt:lpstr>Calibri Light</vt:lpstr>
      <vt:lpstr>Courier New</vt:lpstr>
      <vt:lpstr>Symbol</vt:lpstr>
      <vt:lpstr>Presentation Cover Slides</vt:lpstr>
      <vt:lpstr>Title Slides</vt:lpstr>
      <vt:lpstr>Content Slides</vt:lpstr>
      <vt:lpstr>Chart slides</vt:lpstr>
      <vt:lpstr>Image Title Slide</vt:lpstr>
      <vt:lpstr>Closing Slide Light Blue</vt:lpstr>
      <vt:lpstr>Closing Slide Dark Blue</vt:lpstr>
      <vt:lpstr>Cool things about Linked Data!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Infrabel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Visie I-Ops data centricity</dc:title>
  <dc:creator>Vanden Auweele Mathias</dc:creator>
  <cp:lastModifiedBy>Vanden Auweele Mathias</cp:lastModifiedBy>
  <cp:revision>198</cp:revision>
  <dcterms:created xsi:type="dcterms:W3CDTF">2022-05-11T09:57:18Z</dcterms:created>
  <dcterms:modified xsi:type="dcterms:W3CDTF">2023-11-15T09:42:21Z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c027b6a-4485-4806-97d1-72523ad2cf76_Enabled">
    <vt:lpwstr>True</vt:lpwstr>
  </property>
  <property fmtid="{D5CDD505-2E9C-101B-9397-08002B2CF9AE}" pid="3" name="MSIP_Label_4c027b6a-4485-4806-97d1-72523ad2cf76_SiteId">
    <vt:lpwstr>b82bc314-ab8e-4d6f-b189-46f02e1f27f2</vt:lpwstr>
  </property>
  <property fmtid="{D5CDD505-2E9C-101B-9397-08002B2CF9AE}" pid="4" name="MSIP_Label_4c027b6a-4485-4806-97d1-72523ad2cf76_Owner">
    <vt:lpwstr>philippe.verbist@infrabel.be</vt:lpwstr>
  </property>
  <property fmtid="{D5CDD505-2E9C-101B-9397-08002B2CF9AE}" pid="5" name="MSIP_Label_4c027b6a-4485-4806-97d1-72523ad2cf76_SetDate">
    <vt:lpwstr>2019-10-01T13:23:02.2266514Z</vt:lpwstr>
  </property>
  <property fmtid="{D5CDD505-2E9C-101B-9397-08002B2CF9AE}" pid="6" name="MSIP_Label_4c027b6a-4485-4806-97d1-72523ad2cf76_Name">
    <vt:lpwstr>Internal Use</vt:lpwstr>
  </property>
  <property fmtid="{D5CDD505-2E9C-101B-9397-08002B2CF9AE}" pid="7" name="MSIP_Label_4c027b6a-4485-4806-97d1-72523ad2cf76_Application">
    <vt:lpwstr>Microsoft Azure Information Protection</vt:lpwstr>
  </property>
  <property fmtid="{D5CDD505-2E9C-101B-9397-08002B2CF9AE}" pid="8" name="MSIP_Label_4c027b6a-4485-4806-97d1-72523ad2cf76_ActionId">
    <vt:lpwstr>6ab563d7-d5b6-4033-b52a-f19b5c82439d</vt:lpwstr>
  </property>
  <property fmtid="{D5CDD505-2E9C-101B-9397-08002B2CF9AE}" pid="9" name="MSIP_Label_4c027b6a-4485-4806-97d1-72523ad2cf76_Extended_MSFT_Method">
    <vt:lpwstr>Automatic</vt:lpwstr>
  </property>
  <property fmtid="{D5CDD505-2E9C-101B-9397-08002B2CF9AE}" pid="10" name="Sensitivity">
    <vt:lpwstr>Internal Use</vt:lpwstr>
  </property>
  <property fmtid="{D5CDD505-2E9C-101B-9397-08002B2CF9AE}" pid="11" name="ContentTypeId">
    <vt:lpwstr>0x0101002BD7A7A916522F458C4967F29AC0773D</vt:lpwstr>
  </property>
</Properties>
</file>