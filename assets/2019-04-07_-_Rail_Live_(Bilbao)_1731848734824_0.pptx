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7" r:id="rId2"/>
    <p:sldId id="321" r:id="rId3"/>
    <p:sldId id="323" r:id="rId4"/>
    <p:sldId id="298" r:id="rId5"/>
    <p:sldId id="299" r:id="rId6"/>
    <p:sldId id="303" r:id="rId7"/>
    <p:sldId id="305" r:id="rId8"/>
    <p:sldId id="301" r:id="rId9"/>
    <p:sldId id="314" r:id="rId10"/>
    <p:sldId id="328" r:id="rId11"/>
    <p:sldId id="306" r:id="rId12"/>
    <p:sldId id="307" r:id="rId13"/>
    <p:sldId id="302" r:id="rId14"/>
    <p:sldId id="308" r:id="rId15"/>
    <p:sldId id="310" r:id="rId16"/>
    <p:sldId id="324" r:id="rId17"/>
    <p:sldId id="326" r:id="rId18"/>
    <p:sldId id="325" r:id="rId19"/>
    <p:sldId id="327" r:id="rId20"/>
    <p:sldId id="312" r:id="rId2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212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60EEC-0994-4913-9982-1D8135F70AC6}" type="datetimeFigureOut">
              <a:rPr lang="nl-BE" smtClean="0"/>
              <a:t>4/03/2019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BDB38-F98A-4DFB-9CBC-2CB5CD7C5B7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926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9320-BB0E-4A12-92EA-8BFD92FDF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5EA12-B064-410D-B000-0E9271C37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9B5A7-3B24-4A57-A492-403135B89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E8CD-1593-46AF-9B61-76AFBBE78F9D}" type="datetime1">
              <a:rPr lang="nl-BE" smtClean="0"/>
              <a:t>4/03/2019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3A1BA-4AB6-402D-97F0-3145D44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DE6D9-57D3-42EE-A1C2-D8877AF0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246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AF9E-DED3-40D0-AD92-4A5A51C2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DEFFF-3593-4877-9EA1-699254859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97898-6804-417A-8898-B832E486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CA3C-9041-47C9-B32E-15723A33A463}" type="datetime1">
              <a:rPr lang="nl-BE" smtClean="0"/>
              <a:t>4/03/2019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5DEB2-17C6-4754-ACB0-960BF696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3A05C-FD12-4DB7-83AA-DB5533A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59408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FBEE-28B7-4536-85F6-2820F330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89A81-228B-4197-BB02-C4AC3F7D1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40875-81B2-40D8-80C8-4FEC0FA68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09197-0AF5-44E9-B0FA-FE04FA4F4252}" type="datetime1">
              <a:rPr lang="nl-BE" smtClean="0"/>
              <a:t>4/03/2019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2AEC0-1FAE-409B-94D3-92A1C17D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1A25-4A9E-4C54-A122-CA1B0C93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26721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5439-BB98-46B7-A714-CBB13CEC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15748-5B3D-4E63-9EF8-8AA6296FC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3C86B-416C-4B74-A700-07D6BC6B1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4479E-49E0-4921-9DC5-2B1D1602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A824-189E-4C82-AB66-D53B256DCBA5}" type="datetime1">
              <a:rPr lang="nl-BE" smtClean="0"/>
              <a:t>4/03/2019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3687C-CCB2-40CC-8E08-F92CD285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EE7F6-017E-457A-AA99-27DA7DBF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1883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80AE-76D4-4857-A7DC-8B458449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646A5-54BD-4067-A3E4-1BEB6E44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5F0A6-5A33-498C-8B8B-9E1A07186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F16AA-2040-49E4-871E-D47BFBFE8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E7217-2B16-46F5-AE16-DCEF5980E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8AE22-D830-470C-8C78-7C9EDB54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EC1A-0B3D-47DA-8228-59F4CDD87E5C}" type="datetime1">
              <a:rPr lang="nl-BE" smtClean="0"/>
              <a:t>4/03/2019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0C88E-C01B-49B1-B1DD-9FD7C715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DC87C-0C67-44F9-ADCA-346C194D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653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4F5B-8019-40EC-BE96-BB18E033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8326C-416A-4A27-8DC5-1C51DD44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AB90E-7A8A-415D-8422-3CDCE4CE2D3E}" type="datetime1">
              <a:rPr lang="nl-BE" smtClean="0"/>
              <a:t>4/03/2019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B9927-3604-4656-8911-87856769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E996F7-9C2E-4388-837B-AECB0889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357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4E556-59E1-4C2A-8968-363D35593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7D0B1-7D4E-405E-B01B-94AA974AFFC2}" type="datetime1">
              <a:rPr lang="nl-BE" smtClean="0"/>
              <a:t>4/03/2019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B49E8-D16D-435D-A830-050BEC3D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9DCCC-6286-4A16-916A-48E839F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874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24CB-89BF-48C8-8AA9-83C7514D8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372F-0310-4F0F-AB73-2F6AA315C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7D195-F992-4C94-BAB0-73CD24923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260B2-06DC-4092-B148-D9DF1CB3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89A9-A45A-466D-A171-CE68A8727085}" type="datetime1">
              <a:rPr lang="nl-BE" smtClean="0"/>
              <a:t>4/03/2019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6AEB6-F15A-4EF2-A5EF-88448625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1CA75-4A55-4934-9FB4-121B9E4F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134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2957-E73A-47F5-8A77-0C72F0AA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0F9BB-7547-4450-817B-C2A26E4E2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C6DDA-579C-4077-8BC7-C6BDB093C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C86C-9934-4598-9537-6B3B98F5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5652-5B54-421D-BF71-3A91B2972727}" type="datetime1">
              <a:rPr lang="nl-BE" smtClean="0"/>
              <a:t>4/03/2019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AF401-B6AB-467D-BF36-B6881998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707D8-D2DB-4710-B28F-AAD65922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345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A4CA-7AF7-4E3A-A3B0-1E45E84C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28ADB-7708-4983-AC8E-B94239A86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633CB-D82D-4588-845A-641E1D4A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9A61E-AA33-4C09-83C3-22445379881C}" type="datetime1">
              <a:rPr lang="nl-BE" smtClean="0"/>
              <a:t>4/03/2019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4E1F8-B488-47A2-A1B2-A3FBDA0C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52F9E-7EEA-4EC7-9F6D-0FFE9448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9825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D14A12-8618-4005-9A33-5CC8C18B7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FACF3-7DA8-48CC-BC10-4BF35E994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2152-1D08-44A0-9349-265EE637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8D77-6077-452F-8552-70B59605A39A}" type="datetime1">
              <a:rPr lang="nl-BE" smtClean="0"/>
              <a:t>4/03/2019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24F1-C9EB-47B4-BA60-749F9B06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5F972-B85C-4265-91EC-300897256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50061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Data\My Pictures\2011-02-08 - Bezoek OC BVL Tournai\P1100225.JPG">
            <a:extLst>
              <a:ext uri="{FF2B5EF4-FFF2-40B4-BE49-F238E27FC236}">
                <a16:creationId xmlns:a16="http://schemas.microsoft.com/office/drawing/2014/main" id="{76E67E88-2961-4702-9F8E-2A76C7A503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256" y="0"/>
            <a:ext cx="6696744" cy="6858000"/>
          </a:xfrm>
          <a:prstGeom prst="rect">
            <a:avLst/>
          </a:prstGeom>
          <a:noFill/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id="{8BF900A0-F268-4076-8CFE-1ED8E8B76AB6}"/>
              </a:ext>
            </a:extLst>
          </p:cNvPr>
          <p:cNvSpPr>
            <a:spLocks/>
          </p:cNvSpPr>
          <p:nvPr userDrawn="1"/>
        </p:nvSpPr>
        <p:spPr bwMode="auto">
          <a:xfrm>
            <a:off x="1863827" y="-1588"/>
            <a:ext cx="5789845" cy="6859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354"/>
              </a:cxn>
              <a:cxn ang="0">
                <a:pos x="2359" y="4354"/>
              </a:cxn>
              <a:cxn ang="0">
                <a:pos x="3674" y="0"/>
              </a:cxn>
              <a:cxn ang="0">
                <a:pos x="0" y="0"/>
              </a:cxn>
            </a:cxnLst>
            <a:rect l="0" t="0" r="r" b="b"/>
            <a:pathLst>
              <a:path w="3674" h="4354">
                <a:moveTo>
                  <a:pt x="0" y="0"/>
                </a:moveTo>
                <a:lnTo>
                  <a:pt x="0" y="4354"/>
                </a:lnTo>
                <a:lnTo>
                  <a:pt x="2359" y="4354"/>
                </a:lnTo>
                <a:lnTo>
                  <a:pt x="36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6D3AC-0A1D-44A4-BD22-DDEE35FAB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122363"/>
            <a:ext cx="6569765" cy="2387600"/>
          </a:xfrm>
        </p:spPr>
        <p:txBody>
          <a:bodyPr anchor="b"/>
          <a:lstStyle>
            <a:lvl1pPr algn="l">
              <a:defRPr sz="6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4625E-8E47-407B-A258-F72C3A18C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809" y="3602038"/>
            <a:ext cx="6052930" cy="80099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BE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F92655-94D6-480C-B010-463D330EDF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940" y="4866300"/>
            <a:ext cx="5495832" cy="121664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nl-B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74AB1B-A315-4C11-8B83-A6C643295783}"/>
              </a:ext>
            </a:extLst>
          </p:cNvPr>
          <p:cNvSpPr txBox="1"/>
          <p:nvPr userDrawn="1"/>
        </p:nvSpPr>
        <p:spPr>
          <a:xfrm>
            <a:off x="357809" y="617688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2717047-A0EB-4B12-88AE-355292B242FF}" type="datetime1">
              <a:rPr lang="en-GB" smtClean="0"/>
              <a:t>04/03/2019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0718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D60E5-A921-4FCD-8667-066B4BDF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CA311-0E01-4F78-9F95-48BE5FA72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E7E8B-3220-469A-AFF1-2F2323A6A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D9A9B-D13D-427F-BA4E-B855FC177E96}" type="datetime1">
              <a:rPr lang="nl-BE" smtClean="0"/>
              <a:t>4/03/2019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526B2-1CF4-4FB2-8B0B-A075CC807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638E1-019C-45A0-A76F-2B06FA5F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3B077-9CBD-4B9E-A10D-4113A265B3A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547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jpeg"/><Relationship Id="rId2" Type="http://schemas.openxmlformats.org/officeDocument/2006/relationships/hyperlink" Target="https://play.google.com/store/apps/details?id=com.infrabel.spadwat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hyperlink" Target="https://play.google.com/store/apps/details?id=be.infrabel.spadteammanagement" TargetMode="External"/><Relationship Id="rId4" Type="http://schemas.openxmlformats.org/officeDocument/2006/relationships/image" Target="../media/image4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44.png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5" Type="http://schemas.openxmlformats.org/officeDocument/2006/relationships/image" Target="../media/image60.jpe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7" Type="http://schemas.openxmlformats.org/officeDocument/2006/relationships/image" Target="../media/image42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y.google.com/store/apps/details?id=be.infrabel.amdm" TargetMode="External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33A9-6129-4F75-97CA-9E9AFB773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09" y="1122363"/>
            <a:ext cx="6569765" cy="2387600"/>
          </a:xfrm>
        </p:spPr>
        <p:txBody>
          <a:bodyPr>
            <a:normAutofit/>
          </a:bodyPr>
          <a:lstStyle/>
          <a:p>
            <a:r>
              <a:rPr lang="en-US" sz="4000" dirty="0"/>
              <a:t>Level up Asset Management at Infrabel</a:t>
            </a:r>
            <a:endParaRPr lang="nl-B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79F63-3D93-4D86-A53E-34E9FF34E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Image recognition, AI &amp; IOT projects</a:t>
            </a:r>
            <a:endParaRPr lang="nl-BE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576535-1931-41BF-B65F-8DE490E5E9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940" y="4578350"/>
            <a:ext cx="5495832" cy="1504597"/>
          </a:xfrm>
        </p:spPr>
        <p:txBody>
          <a:bodyPr>
            <a:normAutofit/>
          </a:bodyPr>
          <a:lstStyle/>
          <a:p>
            <a:r>
              <a:rPr lang="en-GB" dirty="0"/>
              <a:t>Mathias Vanden Auweele</a:t>
            </a:r>
          </a:p>
          <a:p>
            <a:r>
              <a:rPr lang="en-GB" dirty="0"/>
              <a:t>Project lead, Infrabel, I-AM.2</a:t>
            </a:r>
          </a:p>
        </p:txBody>
      </p:sp>
    </p:spTree>
    <p:extLst>
      <p:ext uri="{BB962C8B-B14F-4D97-AF65-F5344CB8AC3E}">
        <p14:creationId xmlns:p14="http://schemas.microsoft.com/office/powerpoint/2010/main" val="223790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5C60-662D-42AB-B5BD-50A1A200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44CE3-072C-4E14-A232-D1CB413A3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Infrabel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Smart projects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to locate an infrastructure problem using GPS stamped data?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E9320-7E53-4F7D-9030-B73E0D67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1C915-83A8-4872-85AC-2D78C3E1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620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6">
            <a:extLst>
              <a:ext uri="{FF2B5EF4-FFF2-40B4-BE49-F238E27FC236}">
                <a16:creationId xmlns:a16="http://schemas.microsoft.com/office/drawing/2014/main" id="{CDF324BB-8D67-43C0-A610-6272FC28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ct val="0"/>
              </a:spcAft>
            </a:pPr>
            <a:fld id="{0397B6B0-4B5A-47F0-8C32-39DF0C4D126D}" type="slidenum">
              <a:rPr lang="en-GB" altLang="en-US" sz="1000"/>
              <a:pPr eaLnBrk="1" hangingPunct="1">
                <a:spcAft>
                  <a:spcPct val="0"/>
                </a:spcAft>
              </a:pPr>
              <a:t>3</a:t>
            </a:fld>
            <a:endParaRPr lang="en-GB" altLang="en-US" sz="1000"/>
          </a:p>
        </p:txBody>
      </p:sp>
      <p:sp>
        <p:nvSpPr>
          <p:cNvPr id="9228" name="ZoneTexte 24">
            <a:extLst>
              <a:ext uri="{FF2B5EF4-FFF2-40B4-BE49-F238E27FC236}">
                <a16:creationId xmlns:a16="http://schemas.microsoft.com/office/drawing/2014/main" id="{09C20319-2A0E-49FD-97A8-722501DF9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2374900"/>
            <a:ext cx="80819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We manage, maintain and modernise </a:t>
            </a:r>
          </a:p>
          <a:p>
            <a:pPr algn="ctr" eaLnBrk="1" hangingPunct="1"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the Belgian railway infrastructure </a:t>
            </a:r>
          </a:p>
          <a:p>
            <a:pPr algn="ctr" eaLnBrk="1" hangingPunct="1">
              <a:spcAft>
                <a:spcPct val="0"/>
              </a:spcAft>
            </a:pPr>
            <a:endParaRPr lang="fr-FR" altLang="en-US" sz="3200">
              <a:latin typeface="Calibri" panose="020F0502020204030204" pitchFamily="34" charset="0"/>
            </a:endParaRPr>
          </a:p>
        </p:txBody>
      </p:sp>
      <p:sp>
        <p:nvSpPr>
          <p:cNvPr id="9229" name="ZoneTexte 25">
            <a:extLst>
              <a:ext uri="{FF2B5EF4-FFF2-40B4-BE49-F238E27FC236}">
                <a16:creationId xmlns:a16="http://schemas.microsoft.com/office/drawing/2014/main" id="{6A069CF8-A905-4F18-81E2-25E80853E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4365625"/>
            <a:ext cx="8081963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3300"/>
              </a:lnSpc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We coordinate rail traffic </a:t>
            </a:r>
          </a:p>
          <a:p>
            <a:pPr algn="ctr" eaLnBrk="1" hangingPunct="1">
              <a:lnSpc>
                <a:spcPts val="3300"/>
              </a:lnSpc>
              <a:spcAft>
                <a:spcPct val="0"/>
              </a:spcAft>
            </a:pPr>
            <a:r>
              <a:rPr lang="en-US" altLang="en-US" sz="3200">
                <a:latin typeface="Calibri" panose="020F0502020204030204" pitchFamily="34" charset="0"/>
              </a:rPr>
              <a:t>on the Belgian network</a:t>
            </a:r>
            <a:endParaRPr lang="fr-BE" altLang="en-US" sz="3200">
              <a:latin typeface="Calibri" panose="020F0502020204030204" pitchFamily="34" charset="0"/>
            </a:endParaRPr>
          </a:p>
        </p:txBody>
      </p:sp>
      <p:cxnSp>
        <p:nvCxnSpPr>
          <p:cNvPr id="9230" name="Straight Connector 35">
            <a:extLst>
              <a:ext uri="{FF2B5EF4-FFF2-40B4-BE49-F238E27FC236}">
                <a16:creationId xmlns:a16="http://schemas.microsoft.com/office/drawing/2014/main" id="{F145A4BF-EE78-4D94-8590-F24C5DE079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9538" y="3567113"/>
            <a:ext cx="6875462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1" name="Right Triangle 5">
            <a:extLst>
              <a:ext uri="{FF2B5EF4-FFF2-40B4-BE49-F238E27FC236}">
                <a16:creationId xmlns:a16="http://schemas.microsoft.com/office/drawing/2014/main" id="{508E99B8-5FFE-4D83-ABA9-BA94792F1AD0}"/>
              </a:ext>
            </a:extLst>
          </p:cNvPr>
          <p:cNvSpPr>
            <a:spLocks noChangeArrowheads="1"/>
          </p:cNvSpPr>
          <p:nvPr/>
        </p:nvSpPr>
        <p:spPr bwMode="auto">
          <a:xfrm rot="18900000">
            <a:off x="5853114" y="3395664"/>
            <a:ext cx="485775" cy="484187"/>
          </a:xfrm>
          <a:prstGeom prst="rtTriangl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Aft>
                <a:spcPts val="60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 eaLnBrk="0" hangingPunct="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Aft>
                <a:spcPts val="600"/>
              </a:spcAft>
              <a:buFont typeface="Wingdings" panose="05000000000000000000" pitchFamily="2" charset="2"/>
              <a:buChar char="à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Aft>
                <a:spcPts val="600"/>
              </a:spcAft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Aft>
                <a:spcPct val="0"/>
              </a:spcAft>
            </a:pPr>
            <a:endParaRPr lang="en-US" altLang="en-US" sz="1800">
              <a:latin typeface="Calibri Light" panose="020F030202020403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4700304-CEFC-42D1-9E37-AD86BF0F5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Infrabel</a:t>
            </a:r>
            <a:endParaRPr lang="nl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761BE-34C0-4974-B844-0975588F43B1}"/>
              </a:ext>
            </a:extLst>
          </p:cNvPr>
          <p:cNvSpPr txBox="1"/>
          <p:nvPr/>
        </p:nvSpPr>
        <p:spPr>
          <a:xfrm>
            <a:off x="9447212" y="4759327"/>
            <a:ext cx="23412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~11k employees FTE</a:t>
            </a:r>
          </a:p>
          <a:p>
            <a:r>
              <a:rPr lang="en-GB" dirty="0"/>
              <a:t>~800k passengers daily</a:t>
            </a:r>
          </a:p>
          <a:p>
            <a:r>
              <a:rPr lang="en-GB" dirty="0"/>
              <a:t>~6500 km main track</a:t>
            </a:r>
          </a:p>
          <a:p>
            <a:r>
              <a:rPr lang="en-GB" dirty="0"/>
              <a:t>~5800 km electrified</a:t>
            </a:r>
          </a:p>
          <a:p>
            <a:r>
              <a:rPr lang="en-GB" dirty="0"/>
              <a:t>~4k switches</a:t>
            </a:r>
            <a:endParaRPr 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BA8C0-EC29-4613-A757-66704EA9C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DAFB8A-8F4A-472F-B947-50F1545BECFE}"/>
              </a:ext>
            </a:extLst>
          </p:cNvPr>
          <p:cNvSpPr txBox="1"/>
          <p:nvPr/>
        </p:nvSpPr>
        <p:spPr>
          <a:xfrm>
            <a:off x="403570" y="5727700"/>
            <a:ext cx="242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And we do it ourselves..</a:t>
            </a:r>
            <a:endParaRPr lang="nl-BE" dirty="0"/>
          </a:p>
        </p:txBody>
      </p:sp>
      <p:pic>
        <p:nvPicPr>
          <p:cNvPr id="1026" name="Picture 2" descr="Afbeeldingsresultaat voor infrabel logo">
            <a:extLst>
              <a:ext uri="{FF2B5EF4-FFF2-40B4-BE49-F238E27FC236}">
                <a16:creationId xmlns:a16="http://schemas.microsoft.com/office/drawing/2014/main" id="{1FCA49C6-0DAC-4926-834C-9E809625E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4" t="33926" r="12223" b="37129"/>
          <a:stretch/>
        </p:blipFill>
        <p:spPr bwMode="auto">
          <a:xfrm>
            <a:off x="7654580" y="354361"/>
            <a:ext cx="4133850" cy="12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44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801" y="4386470"/>
            <a:ext cx="3013367" cy="199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EF20A0-4E07-4546-8157-60E656F1FE51}"/>
              </a:ext>
            </a:extLst>
          </p:cNvPr>
          <p:cNvSpPr txBox="1"/>
          <p:nvPr/>
        </p:nvSpPr>
        <p:spPr>
          <a:xfrm>
            <a:off x="64936" y="5521146"/>
            <a:ext cx="38758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400 switches equipped</a:t>
            </a:r>
          </a:p>
          <a:p>
            <a:r>
              <a:rPr lang="en-GB" dirty="0"/>
              <a:t>-&gt; Predictive maintenance</a:t>
            </a:r>
          </a:p>
          <a:p>
            <a:r>
              <a:rPr lang="en-GB" dirty="0"/>
              <a:t>-&gt; 75% of mechanical failures predicted</a:t>
            </a:r>
          </a:p>
          <a:p>
            <a:r>
              <a:rPr lang="en-GB" dirty="0"/>
              <a:t>-&gt; Link with train routes traffic control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point machines. </a:t>
            </a:r>
            <a:r>
              <a:rPr lang="en-US" altLang="nl-BE" dirty="0"/>
              <a:t>Real time monitoring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sp>
        <p:nvSpPr>
          <p:cNvPr id="8" name="Rectangle 7"/>
          <p:cNvSpPr/>
          <p:nvPr/>
        </p:nvSpPr>
        <p:spPr>
          <a:xfrm>
            <a:off x="4781738" y="6311335"/>
            <a:ext cx="6962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nl-BE" dirty="0"/>
              <a:t>Real-time data to diagnostics system and processing by Operation Center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21977" y="545381"/>
            <a:ext cx="1537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Worm gear</a:t>
            </a:r>
          </a:p>
          <a:p>
            <a:r>
              <a:rPr lang="en-GB" altLang="nl-BE" dirty="0"/>
              <a:t>Bad alignment</a:t>
            </a:r>
            <a:endParaRPr lang="en-US" altLang="nl-BE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6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578" y="3078258"/>
            <a:ext cx="2476146" cy="115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" y="1171330"/>
            <a:ext cx="3581434" cy="239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976" y="1322858"/>
            <a:ext cx="2476146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37" y="3615611"/>
            <a:ext cx="2772000" cy="170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759" y="1434152"/>
            <a:ext cx="1722824" cy="136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10910455" y="1350610"/>
            <a:ext cx="498763" cy="104969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204" y="1181509"/>
            <a:ext cx="3801113" cy="1866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Up-Down Arrow 4"/>
          <p:cNvSpPr/>
          <p:nvPr/>
        </p:nvSpPr>
        <p:spPr>
          <a:xfrm>
            <a:off x="9639770" y="1350610"/>
            <a:ext cx="124691" cy="121615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48" y="3048381"/>
            <a:ext cx="3816423" cy="288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648" y="3792682"/>
            <a:ext cx="3499293" cy="242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Oval 43"/>
          <p:cNvSpPr/>
          <p:nvPr/>
        </p:nvSpPr>
        <p:spPr bwMode="auto">
          <a:xfrm>
            <a:off x="7252852" y="3622509"/>
            <a:ext cx="665000" cy="607876"/>
          </a:xfrm>
          <a:prstGeom prst="ellipse">
            <a:avLst/>
          </a:prstGeom>
          <a:noFill/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7270101" y="4312227"/>
            <a:ext cx="242316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773866" y="5264866"/>
            <a:ext cx="978408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703956" y="3045540"/>
            <a:ext cx="1537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Wear on</a:t>
            </a:r>
          </a:p>
          <a:p>
            <a:r>
              <a:rPr lang="en-GB" altLang="nl-BE" dirty="0"/>
              <a:t>Sliders</a:t>
            </a:r>
            <a:endParaRPr lang="en-US" altLang="nl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A51A5F-41E6-4108-9887-EA0D579E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F1DB64-F356-4B5B-BADA-E3F8723E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012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2EF20A0-4E07-4546-8157-60E656F1FE51}"/>
              </a:ext>
            </a:extLst>
          </p:cNvPr>
          <p:cNvSpPr txBox="1"/>
          <p:nvPr/>
        </p:nvSpPr>
        <p:spPr>
          <a:xfrm>
            <a:off x="82131" y="5500436"/>
            <a:ext cx="49067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AI</a:t>
            </a:r>
          </a:p>
          <a:p>
            <a:r>
              <a:rPr lang="en-GB" dirty="0"/>
              <a:t>-&gt; Deep learning / machine learning</a:t>
            </a:r>
          </a:p>
          <a:p>
            <a:r>
              <a:rPr lang="en-GB" dirty="0"/>
              <a:t>-&gt; </a:t>
            </a:r>
            <a:r>
              <a:rPr lang="en-US" dirty="0"/>
              <a:t>Unsupervised-learning</a:t>
            </a:r>
            <a:br>
              <a:rPr lang="en-US" dirty="0"/>
            </a:br>
            <a:r>
              <a:rPr lang="en-US" dirty="0"/>
              <a:t>-&gt; Dimensionality reduction using neural networks</a:t>
            </a:r>
            <a:endParaRPr lang="en-GB" dirty="0"/>
          </a:p>
        </p:txBody>
      </p:sp>
      <p:pic>
        <p:nvPicPr>
          <p:cNvPr id="37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44" y="1197669"/>
            <a:ext cx="3013367" cy="199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4">
            <a:extLst>
              <a:ext uri="{FF2B5EF4-FFF2-40B4-BE49-F238E27FC236}">
                <a16:creationId xmlns:a16="http://schemas.microsoft.com/office/drawing/2014/main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47991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point machines. </a:t>
            </a:r>
            <a:r>
              <a:rPr lang="en-US" altLang="nl-BE" dirty="0"/>
              <a:t>Real time monitoring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pic>
        <p:nvPicPr>
          <p:cNvPr id="23" name="Picture 2" descr="https://upload.wikimedia.org/wikipedia/commons/2/28/Autoencoder_structu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62" y="3193857"/>
            <a:ext cx="3161644" cy="232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756" y="1536953"/>
            <a:ext cx="5999555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Oval 25"/>
          <p:cNvSpPr/>
          <p:nvPr/>
        </p:nvSpPr>
        <p:spPr bwMode="auto">
          <a:xfrm>
            <a:off x="8938564" y="4057952"/>
            <a:ext cx="1008112" cy="1000968"/>
          </a:xfrm>
          <a:prstGeom prst="ellipse">
            <a:avLst/>
          </a:prstGeom>
          <a:noFill/>
          <a:ln w="317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46676" y="4386328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2060"/>
                </a:solidFill>
              </a:rPr>
              <a:t>Normal data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78124" y="1609683"/>
            <a:ext cx="3816424" cy="3909892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9" name="Oval 28"/>
          <p:cNvSpPr/>
          <p:nvPr/>
        </p:nvSpPr>
        <p:spPr bwMode="auto">
          <a:xfrm>
            <a:off x="9517276" y="3193857"/>
            <a:ext cx="1008112" cy="1019291"/>
          </a:xfrm>
          <a:prstGeom prst="ellipse">
            <a:avLst/>
          </a:prstGeom>
          <a:noFill/>
          <a:ln w="317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25388" y="3338923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2060"/>
                </a:solidFill>
              </a:rPr>
              <a:t>Over Current</a:t>
            </a:r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63676" y="1609683"/>
            <a:ext cx="3857546" cy="3909892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2" name="Oval 31"/>
          <p:cNvSpPr/>
          <p:nvPr/>
        </p:nvSpPr>
        <p:spPr bwMode="auto">
          <a:xfrm>
            <a:off x="6562300" y="3611063"/>
            <a:ext cx="1253880" cy="1216860"/>
          </a:xfrm>
          <a:prstGeom prst="ellipse">
            <a:avLst/>
          </a:prstGeom>
          <a:noFill/>
          <a:ln w="317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02260" y="4837734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2060"/>
                </a:solidFill>
              </a:rPr>
              <a:t>Not locking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55082" y="1609680"/>
            <a:ext cx="4006524" cy="406800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D98A7-78F9-49AE-BF26-D9465E0D4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6DE4C-3025-4E6C-97BC-EB45295E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5</a:t>
            </a:fld>
            <a:endParaRPr lang="nl-BE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232B22F-98C7-4E97-B13A-0AF1805CA168}"/>
              </a:ext>
            </a:extLst>
          </p:cNvPr>
          <p:cNvSpPr txBox="1">
            <a:spLocks/>
          </p:cNvSpPr>
          <p:nvPr/>
        </p:nvSpPr>
        <p:spPr>
          <a:xfrm>
            <a:off x="838200" y="-131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Switch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6185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9" grpId="0" animBg="1"/>
      <p:bldP spid="30" grpId="0"/>
      <p:bldP spid="32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525"/>
            <a:ext cx="10515600" cy="1325563"/>
          </a:xfrm>
        </p:spPr>
        <p:txBody>
          <a:bodyPr/>
          <a:lstStyle/>
          <a:p>
            <a:r>
              <a:rPr lang="en-GB" dirty="0"/>
              <a:t>Pantograph shock detection</a:t>
            </a: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E2168-6242-4EDC-ABEA-26D48C21C8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137" y="178520"/>
            <a:ext cx="4032448" cy="3024336"/>
          </a:xfrm>
          <a:prstGeom prst="rect">
            <a:avLst/>
          </a:prstGeom>
        </p:spPr>
      </p:pic>
      <p:pic>
        <p:nvPicPr>
          <p:cNvPr id="7" name="Picture 3" descr="C:\Users\VBP8501\AppData\Local\Microsoft\Windows\Temporary Internet Files\Content.Outlook\V24B2B33\IMG_20160411_132539.jpg">
            <a:extLst>
              <a:ext uri="{FF2B5EF4-FFF2-40B4-BE49-F238E27FC236}">
                <a16:creationId xmlns:a16="http://schemas.microsoft.com/office/drawing/2014/main" id="{32A1E587-0145-4AF8-82B9-0B90D2676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72137" y="3224756"/>
            <a:ext cx="4032448" cy="151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9760E5-A5D7-4BC5-9573-714BC92F739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303392" y="1268569"/>
            <a:ext cx="4491243" cy="3127565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39C2FD60-E174-4F4E-AB60-30ADE6BCB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1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82"/>
          <a:stretch/>
        </p:blipFill>
        <p:spPr bwMode="auto">
          <a:xfrm>
            <a:off x="82131" y="1336010"/>
            <a:ext cx="3043760" cy="2673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44ED20-E2C5-4AD8-934D-5FFD7515B8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2005" y="4777350"/>
            <a:ext cx="2580006" cy="2080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EF20A0-4E07-4546-8157-60E656F1FE51}"/>
              </a:ext>
            </a:extLst>
          </p:cNvPr>
          <p:cNvSpPr txBox="1"/>
          <p:nvPr/>
        </p:nvSpPr>
        <p:spPr>
          <a:xfrm>
            <a:off x="82131" y="4699999"/>
            <a:ext cx="276223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For 2018: </a:t>
            </a:r>
          </a:p>
          <a:p>
            <a:r>
              <a:rPr lang="en-GB" sz="1600" dirty="0"/>
              <a:t>-&gt; 11 commercial vehicles </a:t>
            </a:r>
          </a:p>
          <a:p>
            <a:r>
              <a:rPr lang="en-GB" sz="1600" dirty="0"/>
              <a:t>-&gt; More than 1M km inspected</a:t>
            </a:r>
          </a:p>
          <a:p>
            <a:r>
              <a:rPr lang="en-GB" sz="1600" dirty="0"/>
              <a:t>-&gt; 261k shock alerts received</a:t>
            </a:r>
          </a:p>
          <a:p>
            <a:r>
              <a:rPr lang="en-GB" sz="1600" dirty="0"/>
              <a:t>-&gt; Grouped to 22k locations </a:t>
            </a:r>
          </a:p>
          <a:p>
            <a:r>
              <a:rPr lang="en-GB" sz="1600" dirty="0"/>
              <a:t>-&gt; 472 </a:t>
            </a:r>
            <a:r>
              <a:rPr lang="en-GB" sz="1600" dirty="0" err="1"/>
              <a:t>workorders</a:t>
            </a:r>
            <a:r>
              <a:rPr lang="en-GB" sz="1600" dirty="0"/>
              <a:t> created</a:t>
            </a:r>
            <a:endParaRPr lang="nl-BE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3BC4A8-F05F-4FB0-980E-FB96B3349DA5}"/>
              </a:ext>
            </a:extLst>
          </p:cNvPr>
          <p:cNvSpPr txBox="1"/>
          <p:nvPr/>
        </p:nvSpPr>
        <p:spPr>
          <a:xfrm>
            <a:off x="82131" y="6354381"/>
            <a:ext cx="4219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Fully automated from alert to </a:t>
            </a:r>
            <a:r>
              <a:rPr lang="en-GB" b="1" dirty="0" err="1"/>
              <a:t>workorder</a:t>
            </a:r>
            <a:endParaRPr lang="en-GB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6AF28E-7C8D-45FA-87F8-EBE4A47FFD8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300" t="16845" r="7647" b="5811"/>
          <a:stretch/>
        </p:blipFill>
        <p:spPr>
          <a:xfrm>
            <a:off x="4066042" y="3760393"/>
            <a:ext cx="3768898" cy="3015117"/>
          </a:xfrm>
          <a:prstGeom prst="rect">
            <a:avLst/>
          </a:prstGeom>
        </p:spPr>
      </p:pic>
      <p:sp>
        <p:nvSpPr>
          <p:cNvPr id="16" name="TextBox 4">
            <a:extLst>
              <a:ext uri="{FF2B5EF4-FFF2-40B4-BE49-F238E27FC236}">
                <a16:creationId xmlns:a16="http://schemas.microsoft.com/office/drawing/2014/main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1" y="3999724"/>
            <a:ext cx="4210717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on commercial trains. Real time detection of catenary problems.</a:t>
            </a:r>
            <a:endParaRPr lang="nl-BE" altLang="nl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241CA-3A26-4C2B-ADEC-ABC276DE1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5F58101-8B7A-48B5-B9C0-E6FBFED5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122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-4990"/>
            <a:ext cx="10515600" cy="1325563"/>
          </a:xfrm>
        </p:spPr>
        <p:txBody>
          <a:bodyPr/>
          <a:lstStyle/>
          <a:p>
            <a:r>
              <a:rPr lang="en-GB" dirty="0" err="1"/>
              <a:t>CatVision</a:t>
            </a:r>
            <a:endParaRPr lang="nl-BE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01BD8CD9-0F77-410A-B78D-C9C4FE411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55" y="1489076"/>
            <a:ext cx="2671505" cy="52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90E074D-B6FD-48D8-819D-EBDCAA1C5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5" y="2238375"/>
            <a:ext cx="609917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0B50A9BC-5B0B-44A4-B3E3-712D3456F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488" y="1123950"/>
            <a:ext cx="55707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Home made vision systems for catenary applications</a:t>
            </a:r>
            <a:endParaRPr lang="nl-BE" altLang="nl-BE" dirty="0"/>
          </a:p>
        </p:txBody>
      </p:sp>
      <p:pic>
        <p:nvPicPr>
          <p:cNvPr id="7" name="Picture 2" descr="C:\Users\BDV8700\AppData\Local\Temp\SNAGHTML11f5ef4.PNG">
            <a:extLst>
              <a:ext uri="{FF2B5EF4-FFF2-40B4-BE49-F238E27FC236}">
                <a16:creationId xmlns:a16="http://schemas.microsoft.com/office/drawing/2014/main" id="{33A9608D-F1B7-43E0-AAC1-E84C673E2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575" y="1606550"/>
            <a:ext cx="2508250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5">
            <a:extLst>
              <a:ext uri="{FF2B5EF4-FFF2-40B4-BE49-F238E27FC236}">
                <a16:creationId xmlns:a16="http://schemas.microsoft.com/office/drawing/2014/main" id="{BFC66459-F7FA-4FE4-82E2-97795FC1C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6700" y="5743575"/>
            <a:ext cx="573088" cy="573088"/>
          </a:xfrm>
          <a:prstGeom prst="ellipse">
            <a:avLst/>
          </a:prstGeom>
          <a:noFill/>
          <a:ln w="317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nl-BE" altLang="nl-BE"/>
          </a:p>
        </p:txBody>
      </p:sp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47969E8C-E80C-4A4F-A760-04325645B748}"/>
              </a:ext>
            </a:extLst>
          </p:cNvPr>
          <p:cNvCxnSpPr>
            <a:cxnSpLocks noChangeShapeType="1"/>
            <a:stCxn id="8" idx="2"/>
          </p:cNvCxnSpPr>
          <p:nvPr/>
        </p:nvCxnSpPr>
        <p:spPr bwMode="auto">
          <a:xfrm flipH="1" flipV="1">
            <a:off x="9377363" y="3232150"/>
            <a:ext cx="1049337" cy="2797175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/>
            <a:tailEnd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988475-67A8-4750-A026-4E98F0E408CE}"/>
              </a:ext>
            </a:extLst>
          </p:cNvPr>
          <p:cNvCxnSpPr>
            <a:endCxn id="8" idx="6"/>
          </p:cNvCxnSpPr>
          <p:nvPr/>
        </p:nvCxnSpPr>
        <p:spPr bwMode="auto">
          <a:xfrm flipH="1">
            <a:off x="10999788" y="3092450"/>
            <a:ext cx="498475" cy="2936875"/>
          </a:xfrm>
          <a:prstGeom prst="line">
            <a:avLst/>
          </a:prstGeom>
          <a:ln w="317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3">
            <a:extLst>
              <a:ext uri="{FF2B5EF4-FFF2-40B4-BE49-F238E27FC236}">
                <a16:creationId xmlns:a16="http://schemas.microsoft.com/office/drawing/2014/main" id="{0DD6FDC8-D2A6-4CB0-BFD1-30BCBD24F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2113" y="1679575"/>
            <a:ext cx="2262187" cy="2260600"/>
          </a:xfrm>
          <a:prstGeom prst="ellipse">
            <a:avLst/>
          </a:prstGeom>
          <a:noFill/>
          <a:ln w="762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nl-BE" altLang="nl-BE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CDC40E5D-1437-4B2D-8913-50D73A513B0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8" t="13736" r="19866" b="26130"/>
          <a:stretch/>
        </p:blipFill>
        <p:spPr bwMode="auto">
          <a:xfrm>
            <a:off x="2509194" y="3823141"/>
            <a:ext cx="3706019" cy="2882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4DEF045E-4D97-41EB-A387-C0925AFBA3FC}"/>
              </a:ext>
            </a:extLst>
          </p:cNvPr>
          <p:cNvGrpSpPr/>
          <p:nvPr/>
        </p:nvGrpSpPr>
        <p:grpSpPr>
          <a:xfrm>
            <a:off x="3147622" y="2941526"/>
            <a:ext cx="1689647" cy="668849"/>
            <a:chOff x="4745244" y="1485870"/>
            <a:chExt cx="1689647" cy="66884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8F95691-12C5-44C4-8933-313248592474}"/>
                </a:ext>
              </a:extLst>
            </p:cNvPr>
            <p:cNvGrpSpPr/>
            <p:nvPr/>
          </p:nvGrpSpPr>
          <p:grpSpPr>
            <a:xfrm>
              <a:off x="4745244" y="1656273"/>
              <a:ext cx="168965" cy="405515"/>
              <a:chOff x="2195736" y="2852935"/>
              <a:chExt cx="720080" cy="1728193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F8E35BDA-A90A-4558-919E-7F09B59B0D70}"/>
                  </a:ext>
                </a:extLst>
              </p:cNvPr>
              <p:cNvCxnSpPr/>
              <p:nvPr/>
            </p:nvCxnSpPr>
            <p:spPr bwMode="auto">
              <a:xfrm flipH="1">
                <a:off x="2195736" y="2852935"/>
                <a:ext cx="720080" cy="122413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AE93E7C-6975-47EF-9900-70023532DF06}"/>
                  </a:ext>
                </a:extLst>
              </p:cNvPr>
              <p:cNvCxnSpPr/>
              <p:nvPr/>
            </p:nvCxnSpPr>
            <p:spPr bwMode="auto">
              <a:xfrm>
                <a:off x="2195736" y="4077072"/>
                <a:ext cx="0" cy="50405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9CA9F6-1652-403B-89F7-8FB31AC359A1}"/>
                </a:ext>
              </a:extLst>
            </p:cNvPr>
            <p:cNvSpPr/>
            <p:nvPr/>
          </p:nvSpPr>
          <p:spPr bwMode="auto">
            <a:xfrm>
              <a:off x="4931105" y="1968858"/>
              <a:ext cx="185861" cy="185861"/>
            </a:xfrm>
            <a:prstGeom prst="ellipse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noFill/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CDB07DD-7BA8-440D-B639-1C475340AEEB}"/>
                </a:ext>
              </a:extLst>
            </p:cNvPr>
            <p:cNvSpPr/>
            <p:nvPr/>
          </p:nvSpPr>
          <p:spPr bwMode="auto">
            <a:xfrm>
              <a:off x="4914209" y="1943513"/>
              <a:ext cx="236551" cy="118275"/>
            </a:xfrm>
            <a:prstGeom prst="rect">
              <a:avLst/>
            </a:prstGeom>
            <a:solidFill>
              <a:schemeClr val="bg1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D23E25D-7B24-4123-8C6E-E40E205953D9}"/>
                </a:ext>
              </a:extLst>
            </p:cNvPr>
            <p:cNvSpPr/>
            <p:nvPr/>
          </p:nvSpPr>
          <p:spPr bwMode="auto">
            <a:xfrm>
              <a:off x="6063169" y="1968858"/>
              <a:ext cx="185861" cy="185861"/>
            </a:xfrm>
            <a:prstGeom prst="ellipse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noFill/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6A5B2F5-57D7-472F-B37A-71B2D05179FB}"/>
                </a:ext>
              </a:extLst>
            </p:cNvPr>
            <p:cNvSpPr/>
            <p:nvPr/>
          </p:nvSpPr>
          <p:spPr bwMode="auto">
            <a:xfrm>
              <a:off x="6046272" y="1943513"/>
              <a:ext cx="236551" cy="118275"/>
            </a:xfrm>
            <a:prstGeom prst="rect">
              <a:avLst/>
            </a:prstGeom>
            <a:solidFill>
              <a:schemeClr val="bg1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F6A06E9-18C2-48CA-967E-568145D41D3F}"/>
                </a:ext>
              </a:extLst>
            </p:cNvPr>
            <p:cNvCxnSpPr/>
            <p:nvPr/>
          </p:nvCxnSpPr>
          <p:spPr bwMode="auto">
            <a:xfrm>
              <a:off x="4745244" y="2061788"/>
              <a:ext cx="1689647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680A3C3-564B-4F14-8B4B-E0462683D3EF}"/>
                </a:ext>
              </a:extLst>
            </p:cNvPr>
            <p:cNvGrpSpPr/>
            <p:nvPr/>
          </p:nvGrpSpPr>
          <p:grpSpPr>
            <a:xfrm flipH="1">
              <a:off x="6265926" y="1656273"/>
              <a:ext cx="168965" cy="405515"/>
              <a:chOff x="2195736" y="2852935"/>
              <a:chExt cx="720080" cy="1728193"/>
            </a:xfrm>
          </p:grpSpPr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48AB71A-C75D-4B86-BF1B-C9FCE04FF015}"/>
                  </a:ext>
                </a:extLst>
              </p:cNvPr>
              <p:cNvCxnSpPr/>
              <p:nvPr/>
            </p:nvCxnSpPr>
            <p:spPr bwMode="auto">
              <a:xfrm flipH="1">
                <a:off x="2195736" y="2852935"/>
                <a:ext cx="720080" cy="122413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4E7C45F-DE49-4174-B052-1B435ED15BB5}"/>
                  </a:ext>
                </a:extLst>
              </p:cNvPr>
              <p:cNvCxnSpPr/>
              <p:nvPr/>
            </p:nvCxnSpPr>
            <p:spPr bwMode="auto">
              <a:xfrm>
                <a:off x="2195736" y="4077072"/>
                <a:ext cx="0" cy="504056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C0E0B2D-546E-4BB8-93EA-80D42B5C5344}"/>
                </a:ext>
              </a:extLst>
            </p:cNvPr>
            <p:cNvSpPr/>
            <p:nvPr/>
          </p:nvSpPr>
          <p:spPr bwMode="auto">
            <a:xfrm>
              <a:off x="5437999" y="1611476"/>
              <a:ext cx="270344" cy="152068"/>
            </a:xfrm>
            <a:prstGeom prst="ellipse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8185271-160F-4F83-A644-FD67811AE254}"/>
                </a:ext>
              </a:extLst>
            </p:cNvPr>
            <p:cNvSpPr/>
            <p:nvPr/>
          </p:nvSpPr>
          <p:spPr bwMode="auto">
            <a:xfrm>
              <a:off x="5391603" y="1656273"/>
              <a:ext cx="333636" cy="143620"/>
            </a:xfrm>
            <a:prstGeom prst="rect">
              <a:avLst/>
            </a:prstGeom>
            <a:solidFill>
              <a:schemeClr val="bg1"/>
            </a:solidFill>
            <a:ln w="317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EB20E0C-2CE0-4CBB-B1BE-DE0F4C791D58}"/>
                </a:ext>
              </a:extLst>
            </p:cNvPr>
            <p:cNvCxnSpPr/>
            <p:nvPr/>
          </p:nvCxnSpPr>
          <p:spPr bwMode="auto">
            <a:xfrm>
              <a:off x="4914209" y="1657893"/>
              <a:ext cx="1351717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2DC4CD7-767B-4447-85EE-CDE952A2C6D6}"/>
                </a:ext>
              </a:extLst>
            </p:cNvPr>
            <p:cNvGrpSpPr/>
            <p:nvPr/>
          </p:nvGrpSpPr>
          <p:grpSpPr>
            <a:xfrm>
              <a:off x="5074725" y="1537645"/>
              <a:ext cx="160516" cy="118628"/>
              <a:chOff x="1943708" y="2347375"/>
              <a:chExt cx="684076" cy="505559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8B399FE-E91D-439E-8F8C-7F2BC3C6DEA6}"/>
                  </a:ext>
                </a:extLst>
              </p:cNvPr>
              <p:cNvCxnSpPr/>
              <p:nvPr/>
            </p:nvCxnSpPr>
            <p:spPr bwMode="auto">
              <a:xfrm flipH="1" flipV="1">
                <a:off x="1943708" y="2662021"/>
                <a:ext cx="612068" cy="190913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F6A93688-F8A8-4347-80B5-1329DC4898B6}"/>
                  </a:ext>
                </a:extLst>
              </p:cNvPr>
              <p:cNvCxnSpPr/>
              <p:nvPr/>
            </p:nvCxnSpPr>
            <p:spPr bwMode="auto">
              <a:xfrm flipV="1">
                <a:off x="1943708" y="2361462"/>
                <a:ext cx="612068" cy="300354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C81CEE30-17B2-4F65-A991-362B37F042B2}"/>
                  </a:ext>
                </a:extLst>
              </p:cNvPr>
              <p:cNvCxnSpPr/>
              <p:nvPr/>
            </p:nvCxnSpPr>
            <p:spPr bwMode="auto">
              <a:xfrm>
                <a:off x="2483768" y="2347375"/>
                <a:ext cx="14401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446C866-39CD-4ACA-B55A-39FCCA843A7C}"/>
                </a:ext>
              </a:extLst>
            </p:cNvPr>
            <p:cNvGrpSpPr/>
            <p:nvPr/>
          </p:nvGrpSpPr>
          <p:grpSpPr>
            <a:xfrm flipH="1">
              <a:off x="5961790" y="1536659"/>
              <a:ext cx="160516" cy="118628"/>
              <a:chOff x="1943708" y="2347375"/>
              <a:chExt cx="684076" cy="505559"/>
            </a:xfrm>
          </p:grpSpPr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54CBDF2-9CD9-41FB-A03D-023CA1438139}"/>
                  </a:ext>
                </a:extLst>
              </p:cNvPr>
              <p:cNvCxnSpPr/>
              <p:nvPr/>
            </p:nvCxnSpPr>
            <p:spPr bwMode="auto">
              <a:xfrm flipH="1" flipV="1">
                <a:off x="1943708" y="2662021"/>
                <a:ext cx="612068" cy="190913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EC06A84B-2895-4B9D-93B5-FC8B746607AE}"/>
                  </a:ext>
                </a:extLst>
              </p:cNvPr>
              <p:cNvCxnSpPr/>
              <p:nvPr/>
            </p:nvCxnSpPr>
            <p:spPr bwMode="auto">
              <a:xfrm flipV="1">
                <a:off x="1943708" y="2361462"/>
                <a:ext cx="612068" cy="300354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FCDC7B64-2AEA-4CED-991F-47C98498B89A}"/>
                  </a:ext>
                </a:extLst>
              </p:cNvPr>
              <p:cNvCxnSpPr/>
              <p:nvPr/>
            </p:nvCxnSpPr>
            <p:spPr bwMode="auto">
              <a:xfrm>
                <a:off x="2483768" y="2347375"/>
                <a:ext cx="14401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54CA843-7EDB-4F71-8588-7BAC3A69AD14}"/>
                </a:ext>
              </a:extLst>
            </p:cNvPr>
            <p:cNvCxnSpPr/>
            <p:nvPr/>
          </p:nvCxnSpPr>
          <p:spPr bwMode="auto">
            <a:xfrm flipV="1">
              <a:off x="5635976" y="1485870"/>
              <a:ext cx="182057" cy="80815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A0A56D3-6B56-4E8D-A8E9-3D487B8A9F12}"/>
                </a:ext>
              </a:extLst>
            </p:cNvPr>
            <p:cNvCxnSpPr/>
            <p:nvPr/>
          </p:nvCxnSpPr>
          <p:spPr bwMode="auto">
            <a:xfrm flipH="1" flipV="1">
              <a:off x="5364545" y="1493388"/>
              <a:ext cx="182057" cy="80815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B1E614A-3887-42D0-A4A1-143D6052696F}"/>
              </a:ext>
            </a:extLst>
          </p:cNvPr>
          <p:cNvGrpSpPr/>
          <p:nvPr/>
        </p:nvGrpSpPr>
        <p:grpSpPr>
          <a:xfrm>
            <a:off x="4063877" y="910411"/>
            <a:ext cx="1442373" cy="1822450"/>
            <a:chOff x="3198983" y="1845689"/>
            <a:chExt cx="1442373" cy="1822450"/>
          </a:xfrm>
        </p:grpSpPr>
        <p:pic>
          <p:nvPicPr>
            <p:cNvPr id="13" name="Picture 3" descr="C:\Users\VBP8501\Qsync\PantoCAT Interaction\EM-201\Voorkant.png">
              <a:extLst>
                <a:ext uri="{FF2B5EF4-FFF2-40B4-BE49-F238E27FC236}">
                  <a16:creationId xmlns:a16="http://schemas.microsoft.com/office/drawing/2014/main" id="{5757D06F-37CA-4EB9-ABCC-07892B17F0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8983" y="1845689"/>
              <a:ext cx="1442373" cy="1822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B5C8B49-B8D8-41D5-BC29-DD786F82229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52677" y="2130964"/>
              <a:ext cx="181251" cy="15775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4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622129-BB0F-4C3A-8C24-35F64392BF3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154468" y="2130964"/>
              <a:ext cx="181251" cy="15775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4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A2521C0-EDB5-4CD3-9ACB-87C1B23F52E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56564" y="1936111"/>
              <a:ext cx="235681" cy="5996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B198AF1-F1F6-4151-B963-FA2A5FA1EC42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22122" y="1936111"/>
              <a:ext cx="235681" cy="5996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arrow" w="sm" len="sm"/>
            </a:ln>
            <a:effectLst/>
          </p:spPr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8A92095-94E0-4819-8FDE-C24816E8FB48}"/>
                </a:ext>
              </a:extLst>
            </p:cNvPr>
            <p:cNvGrpSpPr/>
            <p:nvPr/>
          </p:nvGrpSpPr>
          <p:grpSpPr>
            <a:xfrm>
              <a:off x="4102281" y="2616200"/>
              <a:ext cx="384073" cy="372730"/>
              <a:chOff x="4055533" y="2616200"/>
              <a:chExt cx="384073" cy="37273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52CB8E5-9159-4FE4-BB48-3ACF036CFF3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055533" y="2616200"/>
                <a:ext cx="384073" cy="1703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DB948B08-F996-4E5A-932F-33AAE96388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088943" y="2793229"/>
                <a:ext cx="350663" cy="195701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46D7C6E-BA80-423D-A7BB-269AE0946863}"/>
                </a:ext>
              </a:extLst>
            </p:cNvPr>
            <p:cNvGrpSpPr/>
            <p:nvPr/>
          </p:nvGrpSpPr>
          <p:grpSpPr>
            <a:xfrm flipH="1">
              <a:off x="3335571" y="2616200"/>
              <a:ext cx="384073" cy="372730"/>
              <a:chOff x="4207933" y="2768600"/>
              <a:chExt cx="384073" cy="372730"/>
            </a:xfrm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6072366-A62E-48E0-B8B6-27F1BBF15B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4207933" y="2768600"/>
                <a:ext cx="384073" cy="1703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9ACB927F-4A5E-4CB0-9161-67D799A3A6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241343" y="2945629"/>
                <a:ext cx="350663" cy="195701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accent6"/>
                </a:solidFill>
                <a:prstDash val="solid"/>
                <a:round/>
                <a:headEnd type="none" w="sm" len="sm"/>
                <a:tailEnd type="arrow" w="sm" len="sm"/>
              </a:ln>
              <a:effectLst/>
            </p:spPr>
          </p:cxnSp>
        </p:grp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557C4-B838-4860-A071-BDBA3FF5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78263A-7750-4277-8210-00982C6B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198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2EF20A0-4E07-4546-8157-60E656F1FE51}"/>
              </a:ext>
            </a:extLst>
          </p:cNvPr>
          <p:cNvSpPr txBox="1"/>
          <p:nvPr/>
        </p:nvSpPr>
        <p:spPr>
          <a:xfrm>
            <a:off x="230781" y="4318526"/>
            <a:ext cx="33032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-&gt; target : 4000 switches</a:t>
            </a:r>
          </a:p>
          <a:p>
            <a:r>
              <a:rPr lang="en-GB" dirty="0"/>
              <a:t>-&gt; 1 automated control / year</a:t>
            </a:r>
          </a:p>
          <a:p>
            <a:r>
              <a:rPr lang="en-GB" dirty="0"/>
              <a:t>-&gt; data </a:t>
            </a:r>
            <a:r>
              <a:rPr lang="en-GB" dirty="0" err="1"/>
              <a:t>cel</a:t>
            </a:r>
            <a:r>
              <a:rPr lang="en-GB" dirty="0"/>
              <a:t> defect verification</a:t>
            </a:r>
          </a:p>
          <a:p>
            <a:r>
              <a:rPr lang="en-GB" dirty="0"/>
              <a:t>-&gt; laser measurements</a:t>
            </a:r>
          </a:p>
          <a:p>
            <a:r>
              <a:rPr lang="en-GB" dirty="0"/>
              <a:t>-&gt; HD video from different angles</a:t>
            </a:r>
            <a:endParaRPr lang="en-US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4226E9E3-7EA8-4F2F-8AC0-C161EF4E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5132" y="459050"/>
            <a:ext cx="539238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Measuring train : </a:t>
            </a:r>
            <a:r>
              <a:rPr lang="en-US" altLang="nl-BE" dirty="0"/>
              <a:t>Automated measuring and visual inspection of condition of turnout / railway switch</a:t>
            </a:r>
          </a:p>
          <a:p>
            <a:endParaRPr lang="en-US" altLang="nl-BE" dirty="0"/>
          </a:p>
          <a:p>
            <a:endParaRPr lang="nl-BE" altLang="nl-BE" dirty="0"/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" y="1171330"/>
            <a:ext cx="3581434" cy="239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C:\Users\exh387\AppData\Local\Temp\7zE84654946\IMG_7231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543" y="1183445"/>
            <a:ext cx="3456384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/>
          <p:cNvSpPr/>
          <p:nvPr/>
        </p:nvSpPr>
        <p:spPr bwMode="auto">
          <a:xfrm>
            <a:off x="5139566" y="2335573"/>
            <a:ext cx="1368152" cy="1368152"/>
          </a:xfrm>
          <a:prstGeom prst="ellipse">
            <a:avLst/>
          </a:prstGeom>
          <a:noFill/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1" name="Picture 4" descr="C:\Users\exh387\AppData\Local\Temp\7zE03BA8468\IMG_7213.JP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497" y="3952010"/>
            <a:ext cx="3456383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val 22"/>
          <p:cNvSpPr/>
          <p:nvPr/>
        </p:nvSpPr>
        <p:spPr bwMode="auto">
          <a:xfrm>
            <a:off x="4290521" y="4672095"/>
            <a:ext cx="1008112" cy="983623"/>
          </a:xfrm>
          <a:prstGeom prst="ellipse">
            <a:avLst/>
          </a:prstGeom>
          <a:noFill/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9" name="Content Placeholder 2"/>
          <p:cNvSpPr txBox="1">
            <a:spLocks/>
          </p:cNvSpPr>
          <p:nvPr/>
        </p:nvSpPr>
        <p:spPr bwMode="auto">
          <a:xfrm>
            <a:off x="5730688" y="6076575"/>
            <a:ext cx="2880320" cy="648072"/>
          </a:xfrm>
          <a:prstGeom prst="rect">
            <a:avLst/>
          </a:prstGeom>
          <a:ln>
            <a:solidFill>
              <a:schemeClr val="accent1"/>
            </a:solidFill>
          </a:ln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77800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7188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Font typeface="Arial" charset="0"/>
              <a:buChar char="-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536575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715963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Font typeface="Arial" charset="0"/>
              <a:buChar char="-"/>
              <a:defRPr sz="2000" i="1">
                <a:solidFill>
                  <a:schemeClr val="tx1"/>
                </a:solidFill>
                <a:latin typeface="+mn-lt"/>
                <a:cs typeface="+mn-cs"/>
              </a:defRPr>
            </a:lvl4pPr>
            <a:lvl5pPr marL="895350" indent="-177800" algn="l" rtl="0" eaLnBrk="0" fontAlgn="base" hangingPunct="0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13525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8097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2669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724150" indent="-177800" algn="l" rtl="0" fontAlgn="base">
              <a:spcBef>
                <a:spcPct val="20000"/>
              </a:spcBef>
              <a:spcAft>
                <a:spcPct val="5000"/>
              </a:spcAft>
              <a:buChar char="•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177800" lvl="1" indent="0">
              <a:buNone/>
            </a:pPr>
            <a:r>
              <a:rPr lang="en-GB" sz="2000" kern="0" dirty="0"/>
              <a:t>5 cameras associated with 3 lasers per rail</a:t>
            </a:r>
          </a:p>
          <a:p>
            <a:pPr marL="177800" lvl="1" indent="0"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>
              <a:latin typeface="Calibri"/>
            </a:endParaRPr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  <a:p>
            <a:pPr marL="177800" lvl="1" indent="0">
              <a:buFont typeface="Arial" charset="0"/>
              <a:buNone/>
            </a:pPr>
            <a:endParaRPr lang="en-GB" sz="2000" kern="0" dirty="0"/>
          </a:p>
        </p:txBody>
      </p:sp>
      <p:sp>
        <p:nvSpPr>
          <p:cNvPr id="3" name="Down Arrow 2"/>
          <p:cNvSpPr/>
          <p:nvPr/>
        </p:nvSpPr>
        <p:spPr>
          <a:xfrm>
            <a:off x="5581326" y="381528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C:\Data\EM130\EM130-Notes\Stage\Présentation rapport de stage\Images\analyseaig.PNG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782" y="3895609"/>
            <a:ext cx="3675690" cy="1723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 descr="C:\Data\EM130\EM130-Notes\Stage\Présentation rapport de stage\Images\calibre 2.PNG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518" y="5619161"/>
            <a:ext cx="1753999" cy="110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hlinkClick r:id="" action="ppaction://noaction"/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43002" y="1171194"/>
            <a:ext cx="3833470" cy="2610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586B10-F9ED-4A76-9C13-CE4DE91C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CA9DF-2FA5-4375-A86E-44BF6143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8</a:t>
            </a:fld>
            <a:endParaRPr lang="nl-BE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DF03907-3207-489C-9D6D-CF938E66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67"/>
            <a:ext cx="10515600" cy="1325563"/>
          </a:xfrm>
        </p:spPr>
        <p:txBody>
          <a:bodyPr/>
          <a:lstStyle/>
          <a:p>
            <a:r>
              <a:rPr lang="nl-BE" dirty="0"/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58639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EF88F-1E48-4A48-9787-6B9229C21378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3074" name="Picture 2" descr="C:\Users\EXG744\Downloads\profile_desktop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9" t="25728" r="317" b="80"/>
          <a:stretch/>
        </p:blipFill>
        <p:spPr bwMode="auto">
          <a:xfrm>
            <a:off x="4502150" y="3062696"/>
            <a:ext cx="3295650" cy="310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DA1690F-265C-4EBC-AE41-C6C11E6B071F}"/>
              </a:ext>
            </a:extLst>
          </p:cNvPr>
          <p:cNvSpPr txBox="1">
            <a:spLocks/>
          </p:cNvSpPr>
          <p:nvPr/>
        </p:nvSpPr>
        <p:spPr>
          <a:xfrm>
            <a:off x="838201" y="72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Lidar vegetation detection</a:t>
            </a:r>
            <a:endParaRPr lang="nl-B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942034-00AD-4300-B67F-A033F3308A48}"/>
              </a:ext>
            </a:extLst>
          </p:cNvPr>
          <p:cNvSpPr/>
          <p:nvPr/>
        </p:nvSpPr>
        <p:spPr>
          <a:xfrm>
            <a:off x="8435973" y="1723326"/>
            <a:ext cx="34925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Classify vegetation according to distance and height</a:t>
            </a:r>
            <a:endParaRPr lang="nl-BE" dirty="0"/>
          </a:p>
        </p:txBody>
      </p:sp>
      <p:pic>
        <p:nvPicPr>
          <p:cNvPr id="9" name="Picture 2" descr="C:\Users\EXG744\Downloads\alarms_profile_desktop.PNG">
            <a:extLst>
              <a:ext uri="{FF2B5EF4-FFF2-40B4-BE49-F238E27FC236}">
                <a16:creationId xmlns:a16="http://schemas.microsoft.com/office/drawing/2014/main" id="{9A9E8118-02C6-4AF4-A949-531A1AF9AC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00" t="25111" r="764" b="5977"/>
          <a:stretch/>
        </p:blipFill>
        <p:spPr bwMode="auto">
          <a:xfrm>
            <a:off x="8435973" y="3062696"/>
            <a:ext cx="3492501" cy="310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https://lh3.googleusercontent.com/7m1DFPVGlpblshMT4MH_5uh07mLjIHvoygzuqvnDNRCmkKVUxxS7t8z-wEfD4xpl0Z2kV_-fOAVGpmxOqUZHJq-hCC6OHcuQi99MLp6FWXNRPfl-5jXKT5a0AQtIDU2JzNWPjIpOkvs">
            <a:extLst>
              <a:ext uri="{FF2B5EF4-FFF2-40B4-BE49-F238E27FC236}">
                <a16:creationId xmlns:a16="http://schemas.microsoft.com/office/drawing/2014/main" id="{FD38C525-857A-4688-A6E7-098137CB2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79" y="3062696"/>
            <a:ext cx="3513021" cy="310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43182F-C3DA-4EC5-937C-626DE2AF79B7}"/>
              </a:ext>
            </a:extLst>
          </p:cNvPr>
          <p:cNvSpPr/>
          <p:nvPr/>
        </p:nvSpPr>
        <p:spPr>
          <a:xfrm>
            <a:off x="255707" y="1332857"/>
            <a:ext cx="35003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600" b="1" dirty="0"/>
              <a:t>Raw lidar measurement on train</a:t>
            </a:r>
            <a:endParaRPr lang="en-US" sz="1600" dirty="0"/>
          </a:p>
          <a:p>
            <a:r>
              <a:rPr lang="en-US" sz="1600" dirty="0"/>
              <a:t>4 sweeps / meter</a:t>
            </a:r>
          </a:p>
          <a:p>
            <a:r>
              <a:rPr lang="en-US" sz="1600" dirty="0"/>
              <a:t>1001 measurements / sweep</a:t>
            </a:r>
          </a:p>
          <a:p>
            <a:r>
              <a:rPr lang="en-US" sz="1600" dirty="0"/>
              <a:t>About 2 data collections per year</a:t>
            </a:r>
            <a:br>
              <a:rPr lang="en-US" sz="1600" dirty="0"/>
            </a:br>
            <a:endParaRPr lang="en-GB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D89E7-BD5D-4802-AABF-F16F6A17B78A}"/>
              </a:ext>
            </a:extLst>
          </p:cNvPr>
          <p:cNvSpPr/>
          <p:nvPr/>
        </p:nvSpPr>
        <p:spPr>
          <a:xfrm>
            <a:off x="4835525" y="1723326"/>
            <a:ext cx="2520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Detect vegetation in point cloud</a:t>
            </a:r>
            <a:endParaRPr lang="nl-B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EE8200-6E4C-4A22-BE89-829EACFC3192}"/>
              </a:ext>
            </a:extLst>
          </p:cNvPr>
          <p:cNvCxnSpPr>
            <a:cxnSpLocks/>
          </p:cNvCxnSpPr>
          <p:nvPr/>
        </p:nvCxnSpPr>
        <p:spPr>
          <a:xfrm>
            <a:off x="3867150" y="4614273"/>
            <a:ext cx="5842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2DB6CC-0EB5-4D35-BACA-D3BAE9AF8184}"/>
              </a:ext>
            </a:extLst>
          </p:cNvPr>
          <p:cNvCxnSpPr>
            <a:cxnSpLocks/>
          </p:cNvCxnSpPr>
          <p:nvPr/>
        </p:nvCxnSpPr>
        <p:spPr>
          <a:xfrm>
            <a:off x="7835900" y="4614273"/>
            <a:ext cx="5842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9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B77D-0D7C-45C3-AAED-D9C60CC1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121"/>
            <a:ext cx="10515600" cy="1325563"/>
          </a:xfrm>
        </p:spPr>
        <p:txBody>
          <a:bodyPr/>
          <a:lstStyle/>
          <a:p>
            <a:r>
              <a:rPr lang="en-GB" dirty="0"/>
              <a:t>Train monitoring system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8B363-2B36-438B-956D-B02DA48A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15A46-C532-4490-BF8F-0A48665C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10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AC60E-15D9-424D-A65E-28F3C9954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2" y="862454"/>
            <a:ext cx="2437618" cy="2946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8FF4ED-1617-4753-8DBD-020347B5B4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0" y="3960958"/>
            <a:ext cx="3511693" cy="2653425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C6421D73-F400-40BA-A442-FBBE3437FE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7" b="18666"/>
          <a:stretch/>
        </p:blipFill>
        <p:spPr bwMode="auto">
          <a:xfrm>
            <a:off x="8259520" y="73521"/>
            <a:ext cx="3855668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A1A710-36B3-43C7-AA8B-4A4CF6B1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118" y="4153147"/>
            <a:ext cx="4533705" cy="246123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F81BFB2-828E-4C7E-B270-2F7A42770D4F}"/>
              </a:ext>
            </a:extLst>
          </p:cNvPr>
          <p:cNvSpPr/>
          <p:nvPr/>
        </p:nvSpPr>
        <p:spPr bwMode="auto">
          <a:xfrm>
            <a:off x="9922738" y="1156804"/>
            <a:ext cx="216024" cy="216024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1021F1-006B-4B0D-B044-A83527F0F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899" y="4970601"/>
            <a:ext cx="3821369" cy="1643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8AB95D-B402-44EE-AC4B-18B7C061D4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061" y="1501084"/>
            <a:ext cx="5143606" cy="29922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50225F-8FD0-41C1-B3C0-BA1504E8CDFC}"/>
              </a:ext>
            </a:extLst>
          </p:cNvPr>
          <p:cNvSpPr txBox="1"/>
          <p:nvPr/>
        </p:nvSpPr>
        <p:spPr>
          <a:xfrm>
            <a:off x="3722801" y="3747217"/>
            <a:ext cx="376833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Currently for one type pantograph:</a:t>
            </a:r>
          </a:p>
          <a:p>
            <a:pPr marL="285750" indent="-285750">
              <a:buFontTx/>
              <a:buChar char="-"/>
            </a:pPr>
            <a:r>
              <a:rPr lang="en-GB" dirty="0"/>
              <a:t>3mm accurate carbon thickness</a:t>
            </a:r>
          </a:p>
          <a:p>
            <a:pPr marL="285750" indent="-285750">
              <a:buFontTx/>
              <a:buChar char="-"/>
            </a:pPr>
            <a:r>
              <a:rPr lang="en-GB" dirty="0"/>
              <a:t>10% false/positive &amp; false/negative</a:t>
            </a:r>
          </a:p>
          <a:p>
            <a:pPr marL="285750" indent="-285750">
              <a:buFontTx/>
              <a:buChar char="-"/>
            </a:pPr>
            <a:r>
              <a:rPr lang="en-GB" dirty="0"/>
              <a:t>Deformation check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86969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 err="1"/>
              <a:t>SpadWatch</a:t>
            </a:r>
            <a:endParaRPr lang="nl-BE" dirty="0"/>
          </a:p>
        </p:txBody>
      </p:sp>
      <p:pic>
        <p:nvPicPr>
          <p:cNvPr id="8" name="Picture 4" descr="Afbeeldingsresultaat voor google app store">
            <a:hlinkClick r:id="rId2"/>
            <a:extLst>
              <a:ext uri="{FF2B5EF4-FFF2-40B4-BE49-F238E27FC236}">
                <a16:creationId xmlns:a16="http://schemas.microsoft.com/office/drawing/2014/main" id="{E3802370-C1CA-42C5-94BB-E49815311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184" y="54534"/>
            <a:ext cx="1788288" cy="69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lh3.googleusercontent.com/5sKno6Io4c0e8auWLYY9pvegaYW7wh1cMTiniQux6vViB0LFX0pEiv4KC9iTEM5-VbObl-HFWsxLtN_LClFWgTmrO-Q9e280xppFHpXuU38hMYusCZw6rafGqkN8tdMuJKHC7kc-it36mmUU1WJaTQrcIWoepx-XWu5bC_3eabKjPjiToueIztG-nRo7Eh6vNC-7Bx3g0NhtfkDagL4JTdaIqQpUbmIgR4_ZvQsOioohi02Ij883suJXLWTTLCqpzylrGMOe_OZgKSjhp5DSV_KbvUXtCO_QU2znCWu8htlXDzml9xCVD9BX6hRNkcokYWt0n_g7Z8V4wWM8ftruJleY0Ykgudm8eo5aplBUQxKlFnAjZpDXgb8NQ4iLeBR5g83F_JohmFx7m9nKusaRwDx667Sx2GxKvWchvqsH5As-s4M6C00S5iBEu366I4aOBqleVkTZ5p4PQmQWvKGD2b4fqHLheVmqW_hDBTziJNxEuDJohsZappDQ9hJylfiFn2LiYILTiou9PBdkjDH72-lAvbBcyi8xiH3-_myJ9HLd14G5VczYjC_Owz7O2EhZQgGJJK6xh6JD-IEXLCkTp3vZoPASamM-XusHCM4FPLXdakJEwKmLmTMydItKVuhb=w552-h980-no">
            <a:extLst>
              <a:ext uri="{FF2B5EF4-FFF2-40B4-BE49-F238E27FC236}">
                <a16:creationId xmlns:a16="http://schemas.microsoft.com/office/drawing/2014/main" id="{0756F57A-7AFD-47F0-90ED-B3949BA29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548" y="1690688"/>
            <a:ext cx="2534256" cy="45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894791-33E7-4CC7-8459-CB04F66F4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889" y="5167312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1EE0DE-254E-43C7-B919-865045BFDC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13" y="3230626"/>
            <a:ext cx="6076950" cy="2967261"/>
          </a:xfrm>
          <a:prstGeom prst="rect">
            <a:avLst/>
          </a:prstGeom>
        </p:spPr>
      </p:pic>
      <p:pic>
        <p:nvPicPr>
          <p:cNvPr id="7" name="Picture 2" descr="Afbeeldingsresultaat voor Huawei Watch 2">
            <a:extLst>
              <a:ext uri="{FF2B5EF4-FFF2-40B4-BE49-F238E27FC236}">
                <a16:creationId xmlns:a16="http://schemas.microsoft.com/office/drawing/2014/main" id="{498E1B1D-3C5C-40F9-ADE9-CD87BFD90C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0" r="20272"/>
          <a:stretch/>
        </p:blipFill>
        <p:spPr bwMode="auto">
          <a:xfrm>
            <a:off x="351971" y="1690688"/>
            <a:ext cx="2952328" cy="3603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8CADBC2B-7506-4906-954F-10A53E1CD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369" y="1563667"/>
            <a:ext cx="529013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for </a:t>
            </a:r>
            <a:r>
              <a:rPr lang="en-GB" altLang="nl-BE" dirty="0" err="1"/>
              <a:t>worktrain</a:t>
            </a:r>
            <a:r>
              <a:rPr lang="en-GB" altLang="nl-BE" dirty="0"/>
              <a:t>/crane drivers and guides.</a:t>
            </a:r>
          </a:p>
          <a:p>
            <a:r>
              <a:rPr lang="en-GB" altLang="nl-BE" dirty="0"/>
              <a:t>Improve safety on the network.</a:t>
            </a:r>
          </a:p>
          <a:p>
            <a:endParaRPr lang="en-GB" altLang="nl-BE" dirty="0"/>
          </a:p>
          <a:p>
            <a:r>
              <a:rPr lang="en-GB" altLang="nl-BE" dirty="0"/>
              <a:t>The watch warns the </a:t>
            </a:r>
            <a:r>
              <a:rPr lang="en-GB" altLang="nl-BE" dirty="0" err="1"/>
              <a:t>worktrain</a:t>
            </a:r>
            <a:r>
              <a:rPr lang="en-GB" altLang="nl-BE" dirty="0"/>
              <a:t> driver when he approaches a signal limiting his </a:t>
            </a:r>
            <a:r>
              <a:rPr lang="en-GB" altLang="nl-BE" dirty="0" err="1"/>
              <a:t>workzone</a:t>
            </a:r>
            <a:r>
              <a:rPr lang="en-GB" altLang="nl-BE" dirty="0"/>
              <a:t>. </a:t>
            </a:r>
            <a:endParaRPr lang="nl-BE" alt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3FAB6-B806-4472-BBE2-EFB3F65FB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2C959-8BAF-47D7-A891-D7CEA688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768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Tracking red mobile signals</a:t>
            </a:r>
            <a:endParaRPr lang="nl-BE" dirty="0"/>
          </a:p>
        </p:txBody>
      </p:sp>
      <p:pic>
        <p:nvPicPr>
          <p:cNvPr id="5" name="Picture 4" descr="Afbeeldingsresultaat voor tablet front android wireframe">
            <a:extLst>
              <a:ext uri="{FF2B5EF4-FFF2-40B4-BE49-F238E27FC236}">
                <a16:creationId xmlns:a16="http://schemas.microsoft.com/office/drawing/2014/main" id="{50C49A40-CF73-4B90-97E5-F58AF345E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6" r="9015" b="5981"/>
          <a:stretch/>
        </p:blipFill>
        <p:spPr bwMode="auto">
          <a:xfrm>
            <a:off x="8522971" y="1290414"/>
            <a:ext cx="3614788" cy="242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15FD2D-B79B-4F6D-AA52-23B947E352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25" b="10326"/>
          <a:stretch/>
        </p:blipFill>
        <p:spPr>
          <a:xfrm>
            <a:off x="8788732" y="1490260"/>
            <a:ext cx="3015403" cy="1759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30ADE-4503-4124-83E4-1126F41F04F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199" y="1636530"/>
            <a:ext cx="4865088" cy="2563091"/>
          </a:xfrm>
          <a:prstGeom prst="rect">
            <a:avLst/>
          </a:prstGeom>
        </p:spPr>
      </p:pic>
      <p:pic>
        <p:nvPicPr>
          <p:cNvPr id="8" name="Picture 4" descr="Afbeeldingsresultaat voor google app store">
            <a:hlinkClick r:id="rId5"/>
            <a:extLst>
              <a:ext uri="{FF2B5EF4-FFF2-40B4-BE49-F238E27FC236}">
                <a16:creationId xmlns:a16="http://schemas.microsoft.com/office/drawing/2014/main" id="{98270263-68AB-4D31-9E50-0953830BA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647" y="54672"/>
            <a:ext cx="1788288" cy="69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79EDC0-D28D-421D-9F31-448A553168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49" y="3868514"/>
            <a:ext cx="5437963" cy="2920638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3AFB62A-63A9-4BCB-8AA0-40386D79F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47" y="1490260"/>
            <a:ext cx="2896954" cy="3185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D46CF6E3-6107-415A-AC76-FB6B40323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481" y="5221470"/>
            <a:ext cx="60814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IoT for worksite management and regulation enforcement.</a:t>
            </a:r>
          </a:p>
          <a:p>
            <a:endParaRPr lang="en-GB" alt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82DB5-CD77-482F-BF7C-98817F38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B6474-6244-4666-9A0E-08B879BB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12</a:t>
            </a:fld>
            <a:endParaRPr lang="nl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CAA55-22D8-4248-B70E-E20F46B7AA88}"/>
              </a:ext>
            </a:extLst>
          </p:cNvPr>
          <p:cNvSpPr/>
          <p:nvPr/>
        </p:nvSpPr>
        <p:spPr>
          <a:xfrm>
            <a:off x="3777239" y="1173940"/>
            <a:ext cx="26758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nl-BE" dirty="0"/>
              <a:t>GPS trackers are added to red mobile signals</a:t>
            </a:r>
            <a:endParaRPr lang="nl-BE" altLang="nl-BE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8B4A12A-4BC7-4F20-8CB0-0B5FE6BDD00C}"/>
              </a:ext>
            </a:extLst>
          </p:cNvPr>
          <p:cNvSpPr/>
          <p:nvPr/>
        </p:nvSpPr>
        <p:spPr>
          <a:xfrm>
            <a:off x="3370251" y="1880737"/>
            <a:ext cx="813975" cy="400050"/>
          </a:xfrm>
          <a:prstGeom prst="arc">
            <a:avLst>
              <a:gd name="adj1" fmla="val 12234737"/>
              <a:gd name="adj2" fmla="val 0"/>
            </a:avLst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0230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981"/>
          <a:stretch/>
        </p:blipFill>
        <p:spPr bwMode="auto">
          <a:xfrm>
            <a:off x="8286208" y="292549"/>
            <a:ext cx="3852000" cy="3020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6" descr="Afbeeldingsresultaat voor postgresql icon">
            <a:extLst>
              <a:ext uri="{FF2B5EF4-FFF2-40B4-BE49-F238E27FC236}">
                <a16:creationId xmlns:a16="http://schemas.microsoft.com/office/drawing/2014/main" id="{687EEF8D-CF51-40D6-AD88-22224401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8" y="588802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388" y="1596304"/>
            <a:ext cx="5154001" cy="5154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84204" y="233374"/>
            <a:ext cx="405027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SAM-</a:t>
            </a:r>
            <a:r>
              <a:rPr lang="en-GB" dirty="0" err="1"/>
              <a:t>IoT</a:t>
            </a:r>
            <a:r>
              <a:rPr lang="en-GB" dirty="0"/>
              <a:t> : Incoming data from devices</a:t>
            </a:r>
          </a:p>
          <a:p>
            <a:endParaRPr lang="en-GB" dirty="0"/>
          </a:p>
          <a:p>
            <a:r>
              <a:rPr lang="en-GB" dirty="0"/>
              <a:t>SAM-CEP : Event / time-series correlation</a:t>
            </a:r>
          </a:p>
          <a:p>
            <a:r>
              <a:rPr lang="en-GB" dirty="0"/>
              <a:t>	Measuring train input</a:t>
            </a:r>
          </a:p>
          <a:p>
            <a:endParaRPr lang="en-GB" dirty="0"/>
          </a:p>
          <a:p>
            <a:r>
              <a:rPr lang="en-GB" dirty="0"/>
              <a:t>SAM-P : 	Portal, </a:t>
            </a:r>
            <a:r>
              <a:rPr lang="en-GB" dirty="0" err="1"/>
              <a:t>webservices</a:t>
            </a:r>
            <a:endParaRPr lang="en-GB" dirty="0"/>
          </a:p>
          <a:p>
            <a:endParaRPr lang="en-GB" dirty="0"/>
          </a:p>
          <a:p>
            <a:r>
              <a:rPr lang="en-GB" dirty="0"/>
              <a:t>SAM-DB : Storage and </a:t>
            </a:r>
            <a:r>
              <a:rPr lang="en-GB" dirty="0" err="1"/>
              <a:t>dataservices</a:t>
            </a:r>
            <a:endParaRPr lang="en-GB" dirty="0"/>
          </a:p>
          <a:p>
            <a:endParaRPr lang="en-GB" dirty="0"/>
          </a:p>
          <a:p>
            <a:r>
              <a:rPr lang="en-GB" dirty="0"/>
              <a:t>SAM-AI:	Deep- and </a:t>
            </a:r>
          </a:p>
          <a:p>
            <a:r>
              <a:rPr lang="en-GB" dirty="0"/>
              <a:t>                 machine learning,</a:t>
            </a:r>
          </a:p>
          <a:p>
            <a:r>
              <a:rPr lang="en-GB" dirty="0"/>
              <a:t>	Video recognition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655" y="5888024"/>
            <a:ext cx="1997374" cy="58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4" descr="https://media.licdn.com/mpr/mpr/AAEAAQAAAAAAAAgIAAAAJDVmNDM2NGJhLTk2OWItNDJiNy05OTYxLWRlYTEyNWNhNTU1Mg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8" r="-1143" b="13137"/>
          <a:stretch/>
        </p:blipFill>
        <p:spPr bwMode="auto">
          <a:xfrm>
            <a:off x="8372344" y="4594256"/>
            <a:ext cx="3777878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7241494F-70A8-44D9-A959-0E35904B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34" y="178087"/>
            <a:ext cx="196730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SAM</a:t>
            </a:r>
            <a:br>
              <a:rPr lang="en-GB" dirty="0"/>
            </a:br>
            <a:r>
              <a:rPr lang="en-GB" dirty="0"/>
              <a:t>Platform</a:t>
            </a:r>
            <a:endParaRPr lang="nl-B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DB92E8-8B85-450F-B8BE-25795822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1E0E57-A5C8-41DC-9A97-A97E062E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573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A00A090-EFCC-4063-A858-667B8ADE40C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86681" y="642261"/>
            <a:ext cx="5745338" cy="5739067"/>
          </a:xfrm>
          <a:prstGeom prst="rect">
            <a:avLst/>
          </a:prstGeom>
        </p:spPr>
      </p:pic>
      <p:pic>
        <p:nvPicPr>
          <p:cNvPr id="22" name="Picture 4" descr="Afbeeldingsresultaat voor cloud app icon">
            <a:extLst>
              <a:ext uri="{FF2B5EF4-FFF2-40B4-BE49-F238E27FC236}">
                <a16:creationId xmlns:a16="http://schemas.microsoft.com/office/drawing/2014/main" id="{D3101289-36DB-430D-B204-A4026CFA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62" y="498245"/>
            <a:ext cx="1303795" cy="130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6C15981-1FBD-4ECA-A9E6-5195EF221A88}"/>
              </a:ext>
            </a:extLst>
          </p:cNvPr>
          <p:cNvSpPr txBox="1"/>
          <p:nvPr/>
        </p:nvSpPr>
        <p:spPr>
          <a:xfrm>
            <a:off x="8014641" y="1002301"/>
            <a:ext cx="80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AMDM </a:t>
            </a:r>
          </a:p>
          <a:p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(Mobile)</a:t>
            </a:r>
            <a:endParaRPr lang="nl-BE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" descr="Gerelateerde afbeelding">
            <a:extLst>
              <a:ext uri="{FF2B5EF4-FFF2-40B4-BE49-F238E27FC236}">
                <a16:creationId xmlns:a16="http://schemas.microsoft.com/office/drawing/2014/main" id="{1B68650C-FD3E-4C0F-8D5E-0DFC7C39A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70" y="502628"/>
            <a:ext cx="1143571" cy="114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54A2785-938E-4869-BAD2-252C3C9F717B}"/>
              </a:ext>
            </a:extLst>
          </p:cNvPr>
          <p:cNvSpPr txBox="1"/>
          <p:nvPr/>
        </p:nvSpPr>
        <p:spPr>
          <a:xfrm>
            <a:off x="475903" y="1722381"/>
            <a:ext cx="1469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Intranet </a:t>
            </a:r>
            <a:r>
              <a:rPr lang="en-GB" sz="1400" dirty="0" err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webapps</a:t>
            </a:r>
            <a:endParaRPr lang="nl-BE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183E02-27B1-417B-BC3E-BB05D7C88E29}"/>
              </a:ext>
            </a:extLst>
          </p:cNvPr>
          <p:cNvSpPr txBox="1"/>
          <p:nvPr/>
        </p:nvSpPr>
        <p:spPr>
          <a:xfrm>
            <a:off x="7928107" y="1669537"/>
            <a:ext cx="991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apps</a:t>
            </a:r>
            <a:endParaRPr lang="nl-BE" sz="14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" descr="Afbeeldingsresultaat voor qlikview icon">
            <a:extLst>
              <a:ext uri="{FF2B5EF4-FFF2-40B4-BE49-F238E27FC236}">
                <a16:creationId xmlns:a16="http://schemas.microsoft.com/office/drawing/2014/main" id="{E81C10E3-16FE-4FED-A037-330E5676C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635" y="5822780"/>
            <a:ext cx="72178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Content Placeholder 12">
            <a:extLst>
              <a:ext uri="{FF2B5EF4-FFF2-40B4-BE49-F238E27FC236}">
                <a16:creationId xmlns:a16="http://schemas.microsoft.com/office/drawing/2014/main" id="{FF1F09F4-3DD7-418E-9CE4-CE2B8BF15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077402" y="2064815"/>
            <a:ext cx="356651" cy="3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FB89634-6335-4346-AD3D-5928375E53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264" y="2052971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D5C2388-3E71-4123-A7CA-C24B80A8A5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536" y="2052971"/>
            <a:ext cx="362590" cy="360000"/>
          </a:xfrm>
          <a:prstGeom prst="rect">
            <a:avLst/>
          </a:prstGeom>
        </p:spPr>
      </p:pic>
      <p:pic>
        <p:nvPicPr>
          <p:cNvPr id="31" name="Picture 4" descr="Afbeeldingsresultaat voor qgis icon">
            <a:extLst>
              <a:ext uri="{FF2B5EF4-FFF2-40B4-BE49-F238E27FC236}">
                <a16:creationId xmlns:a16="http://schemas.microsoft.com/office/drawing/2014/main" id="{D8B7F537-7BD1-4E08-9B2B-DE14A1FC8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272" y="5766525"/>
            <a:ext cx="78545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Afbeeldingsresultaat voor .net icon">
            <a:extLst>
              <a:ext uri="{FF2B5EF4-FFF2-40B4-BE49-F238E27FC236}">
                <a16:creationId xmlns:a16="http://schemas.microsoft.com/office/drawing/2014/main" id="{941CD64A-5B40-4A2E-9C0F-A436387B5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24" y="5856525"/>
            <a:ext cx="566434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Afbeeldingsresultaat voor postgresql icon">
            <a:extLst>
              <a:ext uri="{FF2B5EF4-FFF2-40B4-BE49-F238E27FC236}">
                <a16:creationId xmlns:a16="http://schemas.microsoft.com/office/drawing/2014/main" id="{687EEF8D-CF51-40D6-AD88-22224401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98" y="5888024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 Placeholder 10">
            <a:extLst>
              <a:ext uri="{FF2B5EF4-FFF2-40B4-BE49-F238E27FC236}">
                <a16:creationId xmlns:a16="http://schemas.microsoft.com/office/drawing/2014/main" id="{F9FBED58-A002-4B26-A677-F7931F3BA599}"/>
              </a:ext>
            </a:extLst>
          </p:cNvPr>
          <p:cNvSpPr txBox="1">
            <a:spLocks/>
          </p:cNvSpPr>
          <p:nvPr/>
        </p:nvSpPr>
        <p:spPr>
          <a:xfrm>
            <a:off x="7832019" y="4228383"/>
            <a:ext cx="3998888" cy="2629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dirty="0" err="1"/>
              <a:t>AMDx</a:t>
            </a:r>
            <a:r>
              <a:rPr lang="en-GB" sz="1600" dirty="0"/>
              <a:t> is an in-house developed software suite aiming to:</a:t>
            </a:r>
          </a:p>
          <a:p>
            <a:pPr marL="342900" indent="-342900"/>
            <a:r>
              <a:rPr lang="en-GB" sz="1600" dirty="0"/>
              <a:t>Manage linear asset measurement data</a:t>
            </a:r>
          </a:p>
          <a:p>
            <a:pPr marL="342900" indent="-342900"/>
            <a:r>
              <a:rPr lang="en-GB" sz="1600" dirty="0"/>
              <a:t>Automatically check business rules, create alerts and interact with work management system (RIAM…)</a:t>
            </a:r>
          </a:p>
          <a:p>
            <a:pPr marL="342900" indent="-342900"/>
            <a:r>
              <a:rPr lang="en-GB" sz="1600" dirty="0"/>
              <a:t>Offer a user friendly measurement analysis interface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6E1954-B6D9-4656-8ED4-5A406EA5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F7C41-41CE-460E-94E7-38408F43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056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C0CC-F3EC-4AAE-9B60-F8CBD499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AMDM</a:t>
            </a:r>
            <a:endParaRPr lang="nl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A584CD-950C-4462-8E6F-3427BF3EA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41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248CFC-3122-42A0-B3A8-5774631DF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848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33B21F-B7AF-4F6F-A56B-318705632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55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793262-9921-4D11-AE0F-6AB105E9B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279" y="1765968"/>
            <a:ext cx="2632500" cy="468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Picture 4" descr="Afbeeldingsresultaat voor google app store">
            <a:hlinkClick r:id="rId6"/>
            <a:extLst>
              <a:ext uri="{FF2B5EF4-FFF2-40B4-BE49-F238E27FC236}">
                <a16:creationId xmlns:a16="http://schemas.microsoft.com/office/drawing/2014/main" id="{8AC80DD7-7100-4ADA-A018-BE38D8088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326" y="74134"/>
            <a:ext cx="1788288" cy="69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B1F475BE-CB91-45C6-892A-67E9F543E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8394" y="766196"/>
            <a:ext cx="47436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altLang="nl-BE" dirty="0"/>
              <a:t>Cloud app with useful tools for technicians</a:t>
            </a:r>
          </a:p>
          <a:p>
            <a:r>
              <a:rPr lang="en-GB" altLang="nl-BE" dirty="0"/>
              <a:t>&gt;1500 users, estimated 20 men days budget</a:t>
            </a:r>
            <a:endParaRPr lang="nl-BE" altLang="nl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366CB-048B-414C-8428-4A8CDE2F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C4ED-3E96-45EF-BD05-A7033ED48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171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0207-6705-44C9-98C5-535A299E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linear location problem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0CBA4-D540-48DF-ADC3-7972A5CA0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B356E-72D5-4CCC-BF20-C602BA7B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16</a:t>
            </a:fld>
            <a:endParaRPr lang="nl-BE"/>
          </a:p>
        </p:txBody>
      </p:sp>
      <p:grpSp>
        <p:nvGrpSpPr>
          <p:cNvPr id="6" name="Canvas 95">
            <a:extLst>
              <a:ext uri="{FF2B5EF4-FFF2-40B4-BE49-F238E27FC236}">
                <a16:creationId xmlns:a16="http://schemas.microsoft.com/office/drawing/2014/main" id="{BA77E9AB-4989-461C-9085-8605C02D66D3}"/>
              </a:ext>
            </a:extLst>
          </p:cNvPr>
          <p:cNvGrpSpPr/>
          <p:nvPr/>
        </p:nvGrpSpPr>
        <p:grpSpPr>
          <a:xfrm>
            <a:off x="1940682" y="1740376"/>
            <a:ext cx="8607056" cy="4521835"/>
            <a:chOff x="0" y="0"/>
            <a:chExt cx="5550288" cy="29159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6A94F7-13C6-4874-BCBA-B4F83E7F2B68}"/>
                </a:ext>
              </a:extLst>
            </p:cNvPr>
            <p:cNvSpPr/>
            <p:nvPr/>
          </p:nvSpPr>
          <p:spPr>
            <a:xfrm>
              <a:off x="0" y="0"/>
              <a:ext cx="5549900" cy="29159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7F7BD1F-A54E-4139-BC8A-6894F734EF97}"/>
                </a:ext>
              </a:extLst>
            </p:cNvPr>
            <p:cNvSpPr/>
            <p:nvPr/>
          </p:nvSpPr>
          <p:spPr>
            <a:xfrm>
              <a:off x="1963491" y="1068896"/>
              <a:ext cx="85725" cy="9144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9E19A3-2660-4FAE-BEA7-CAFEAFD0493B}"/>
                </a:ext>
              </a:extLst>
            </p:cNvPr>
            <p:cNvSpPr/>
            <p:nvPr/>
          </p:nvSpPr>
          <p:spPr>
            <a:xfrm>
              <a:off x="1264356" y="1238441"/>
              <a:ext cx="85725" cy="9144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FD51D27-F130-4651-85BC-16F12F821CE8}"/>
                </a:ext>
              </a:extLst>
            </p:cNvPr>
            <p:cNvSpPr/>
            <p:nvPr/>
          </p:nvSpPr>
          <p:spPr>
            <a:xfrm>
              <a:off x="2838097" y="1955959"/>
              <a:ext cx="85725" cy="9144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BB8914-F925-472F-B42E-56360A11B6A7}"/>
                </a:ext>
              </a:extLst>
            </p:cNvPr>
            <p:cNvSpPr/>
            <p:nvPr/>
          </p:nvSpPr>
          <p:spPr>
            <a:xfrm>
              <a:off x="2138962" y="2125504"/>
              <a:ext cx="85725" cy="91440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B24CABF-9AE0-4C61-8655-40B3E6BFF6B8}"/>
                </a:ext>
              </a:extLst>
            </p:cNvPr>
            <p:cNvSpPr/>
            <p:nvPr/>
          </p:nvSpPr>
          <p:spPr>
            <a:xfrm>
              <a:off x="2962703" y="2461569"/>
              <a:ext cx="85725" cy="91440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367D2AA-6E11-4DE8-B095-87D3D7AA242C}"/>
                </a:ext>
              </a:extLst>
            </p:cNvPr>
            <p:cNvSpPr/>
            <p:nvPr/>
          </p:nvSpPr>
          <p:spPr>
            <a:xfrm>
              <a:off x="2263568" y="2631114"/>
              <a:ext cx="85725" cy="91440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B4299A9-0E98-4D96-8515-F89183D95D7E}"/>
                </a:ext>
              </a:extLst>
            </p:cNvPr>
            <p:cNvSpPr/>
            <p:nvPr/>
          </p:nvSpPr>
          <p:spPr>
            <a:xfrm>
              <a:off x="1855964" y="565534"/>
              <a:ext cx="85725" cy="914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46D7844-808A-4A6B-A9FE-D1CAF8C45367}"/>
                </a:ext>
              </a:extLst>
            </p:cNvPr>
            <p:cNvCxnSpPr/>
            <p:nvPr/>
          </p:nvCxnSpPr>
          <p:spPr>
            <a:xfrm flipV="1">
              <a:off x="219392" y="928784"/>
              <a:ext cx="3917245" cy="9482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4C31231-AE76-4197-95C6-D818AC1A12E9}"/>
                </a:ext>
              </a:extLst>
            </p:cNvPr>
            <p:cNvGrpSpPr/>
            <p:nvPr/>
          </p:nvGrpSpPr>
          <p:grpSpPr>
            <a:xfrm>
              <a:off x="1087826" y="1440547"/>
              <a:ext cx="567878" cy="260127"/>
              <a:chOff x="1813126" y="1407349"/>
              <a:chExt cx="567878" cy="260127"/>
            </a:xfrm>
          </p:grpSpPr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42810351-E98A-442E-826E-E9E76D18415F}"/>
                  </a:ext>
                </a:extLst>
              </p:cNvPr>
              <p:cNvCxnSpPr/>
              <p:nvPr/>
            </p:nvCxnSpPr>
            <p:spPr>
              <a:xfrm flipV="1">
                <a:off x="2009423" y="1407349"/>
                <a:ext cx="176860" cy="3930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D75FF27-8802-4FF3-9198-971141722BD8}"/>
                  </a:ext>
                </a:extLst>
              </p:cNvPr>
              <p:cNvCxnSpPr/>
              <p:nvPr/>
            </p:nvCxnSpPr>
            <p:spPr>
              <a:xfrm flipV="1">
                <a:off x="1914725" y="1485749"/>
                <a:ext cx="176530" cy="3873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7AEEB4C5-98FF-4CF1-9A01-9380447A2B41}"/>
                  </a:ext>
                </a:extLst>
              </p:cNvPr>
              <p:cNvCxnSpPr/>
              <p:nvPr/>
            </p:nvCxnSpPr>
            <p:spPr>
              <a:xfrm flipV="1">
                <a:off x="2204474" y="1576060"/>
                <a:ext cx="176530" cy="3873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ECEFC195-4697-4C7C-BDE7-54EAB6A226CF}"/>
                  </a:ext>
                </a:extLst>
              </p:cNvPr>
              <p:cNvCxnSpPr/>
              <p:nvPr/>
            </p:nvCxnSpPr>
            <p:spPr>
              <a:xfrm flipV="1">
                <a:off x="1813126" y="1628741"/>
                <a:ext cx="176530" cy="3873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5-Point Star 56">
              <a:extLst>
                <a:ext uri="{FF2B5EF4-FFF2-40B4-BE49-F238E27FC236}">
                  <a16:creationId xmlns:a16="http://schemas.microsoft.com/office/drawing/2014/main" id="{60EE292E-7788-4CE1-BEE4-433B25256D1A}"/>
                </a:ext>
              </a:extLst>
            </p:cNvPr>
            <p:cNvSpPr/>
            <p:nvPr/>
          </p:nvSpPr>
          <p:spPr>
            <a:xfrm>
              <a:off x="1890147" y="1301801"/>
              <a:ext cx="267171" cy="218252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5621C4-F12B-443D-8CDA-503173147DBF}"/>
                </a:ext>
              </a:extLst>
            </p:cNvPr>
            <p:cNvGrpSpPr/>
            <p:nvPr/>
          </p:nvGrpSpPr>
          <p:grpSpPr>
            <a:xfrm>
              <a:off x="2261517" y="1251776"/>
              <a:ext cx="567690" cy="259715"/>
              <a:chOff x="2942014" y="1154607"/>
              <a:chExt cx="567690" cy="259715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E62D08B-6711-4773-B002-6A43AD233629}"/>
                  </a:ext>
                </a:extLst>
              </p:cNvPr>
              <p:cNvCxnSpPr/>
              <p:nvPr/>
            </p:nvCxnSpPr>
            <p:spPr>
              <a:xfrm flipV="1">
                <a:off x="3138229" y="1154607"/>
                <a:ext cx="176530" cy="3873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6B8A093E-2B6D-4055-B3E9-DEC20CEE1B17}"/>
                  </a:ext>
                </a:extLst>
              </p:cNvPr>
              <p:cNvCxnSpPr/>
              <p:nvPr/>
            </p:nvCxnSpPr>
            <p:spPr>
              <a:xfrm flipV="1">
                <a:off x="3043614" y="1232712"/>
                <a:ext cx="176530" cy="3873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9F10DBFF-8BFB-4B3F-AA7B-BBA103F2D6FF}"/>
                  </a:ext>
                </a:extLst>
              </p:cNvPr>
              <p:cNvCxnSpPr/>
              <p:nvPr/>
            </p:nvCxnSpPr>
            <p:spPr>
              <a:xfrm flipV="1">
                <a:off x="3333174" y="1322882"/>
                <a:ext cx="176530" cy="3873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A4489BF-6B00-4424-92D9-3C5B850AE857}"/>
                  </a:ext>
                </a:extLst>
              </p:cNvPr>
              <p:cNvCxnSpPr/>
              <p:nvPr/>
            </p:nvCxnSpPr>
            <p:spPr>
              <a:xfrm flipV="1">
                <a:off x="2942014" y="1375587"/>
                <a:ext cx="176530" cy="38735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228F624-A602-4FB1-B8C5-07AF3079D274}"/>
                </a:ext>
              </a:extLst>
            </p:cNvPr>
            <p:cNvGrpSpPr/>
            <p:nvPr/>
          </p:nvGrpSpPr>
          <p:grpSpPr>
            <a:xfrm rot="10800000">
              <a:off x="2457732" y="1137782"/>
              <a:ext cx="567690" cy="259715"/>
              <a:chOff x="180000" y="180000"/>
              <a:chExt cx="567690" cy="259715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317FE3D-043B-462E-B95C-FFCE8B2C5C02}"/>
                  </a:ext>
                </a:extLst>
              </p:cNvPr>
              <p:cNvCxnSpPr/>
              <p:nvPr/>
            </p:nvCxnSpPr>
            <p:spPr>
              <a:xfrm flipV="1">
                <a:off x="376215" y="180000"/>
                <a:ext cx="176530" cy="38735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ED750BC-2887-4383-8BCB-8917A0C586F9}"/>
                  </a:ext>
                </a:extLst>
              </p:cNvPr>
              <p:cNvCxnSpPr/>
              <p:nvPr/>
            </p:nvCxnSpPr>
            <p:spPr>
              <a:xfrm flipV="1">
                <a:off x="281600" y="258105"/>
                <a:ext cx="176530" cy="38735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9F563C0-310E-4112-8078-371B964312FC}"/>
                  </a:ext>
                </a:extLst>
              </p:cNvPr>
              <p:cNvCxnSpPr/>
              <p:nvPr/>
            </p:nvCxnSpPr>
            <p:spPr>
              <a:xfrm flipV="1">
                <a:off x="571160" y="348275"/>
                <a:ext cx="176530" cy="38735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79D08445-BD13-40D7-A641-6F048184F015}"/>
                  </a:ext>
                </a:extLst>
              </p:cNvPr>
              <p:cNvCxnSpPr/>
              <p:nvPr/>
            </p:nvCxnSpPr>
            <p:spPr>
              <a:xfrm flipV="1">
                <a:off x="180000" y="400980"/>
                <a:ext cx="176530" cy="38735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E47D7D7-5879-4B94-A3BC-3262083422CB}"/>
                </a:ext>
              </a:extLst>
            </p:cNvPr>
            <p:cNvGrpSpPr/>
            <p:nvPr/>
          </p:nvGrpSpPr>
          <p:grpSpPr>
            <a:xfrm rot="10800000">
              <a:off x="1373999" y="1397497"/>
              <a:ext cx="567690" cy="259715"/>
              <a:chOff x="0" y="0"/>
              <a:chExt cx="567690" cy="259715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A930EB0-E3B8-4320-97E4-DBBAEE1836FC}"/>
                  </a:ext>
                </a:extLst>
              </p:cNvPr>
              <p:cNvCxnSpPr/>
              <p:nvPr/>
            </p:nvCxnSpPr>
            <p:spPr>
              <a:xfrm flipV="1">
                <a:off x="196215" y="0"/>
                <a:ext cx="176530" cy="38735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E4B3FBE-AA3E-4986-ABD2-B0A3F984D3C1}"/>
                  </a:ext>
                </a:extLst>
              </p:cNvPr>
              <p:cNvCxnSpPr/>
              <p:nvPr/>
            </p:nvCxnSpPr>
            <p:spPr>
              <a:xfrm flipV="1">
                <a:off x="101600" y="78105"/>
                <a:ext cx="176530" cy="38735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4215195F-9520-48BD-B068-9141FA9D9610}"/>
                  </a:ext>
                </a:extLst>
              </p:cNvPr>
              <p:cNvCxnSpPr/>
              <p:nvPr/>
            </p:nvCxnSpPr>
            <p:spPr>
              <a:xfrm flipV="1">
                <a:off x="391160" y="168275"/>
                <a:ext cx="176530" cy="38735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9967D2D4-B561-4F56-9743-D014FCFF3DF5}"/>
                  </a:ext>
                </a:extLst>
              </p:cNvPr>
              <p:cNvCxnSpPr/>
              <p:nvPr/>
            </p:nvCxnSpPr>
            <p:spPr>
              <a:xfrm flipV="1">
                <a:off x="0" y="220980"/>
                <a:ext cx="176530" cy="38735"/>
              </a:xfrm>
              <a:prstGeom prst="straightConnector1">
                <a:avLst/>
              </a:prstGeom>
              <a:ln>
                <a:solidFill>
                  <a:srgbClr val="7030A0"/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C51C06B-7345-4EC8-AFAA-569CB46DE25F}"/>
                </a:ext>
              </a:extLst>
            </p:cNvPr>
            <p:cNvGrpSpPr/>
            <p:nvPr/>
          </p:nvGrpSpPr>
          <p:grpSpPr>
            <a:xfrm rot="20767985">
              <a:off x="1032194" y="773437"/>
              <a:ext cx="1151467" cy="436505"/>
              <a:chOff x="699911" y="2355615"/>
              <a:chExt cx="1151467" cy="436505"/>
            </a:xfrm>
            <a:solidFill>
              <a:schemeClr val="bg1"/>
            </a:solidFill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7D7EBF7-CC56-413A-BE2F-9F9D46874A33}"/>
                  </a:ext>
                </a:extLst>
              </p:cNvPr>
              <p:cNvSpPr/>
              <p:nvPr/>
            </p:nvSpPr>
            <p:spPr>
              <a:xfrm>
                <a:off x="699911" y="2521186"/>
                <a:ext cx="1151467" cy="270934"/>
              </a:xfrm>
              <a:prstGeom prst="rect">
                <a:avLst/>
              </a:pr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nl-BE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1F774F-32E2-4FFF-BE4D-C7E8C7C5B492}"/>
                  </a:ext>
                </a:extLst>
              </p:cNvPr>
              <p:cNvCxnSpPr/>
              <p:nvPr/>
            </p:nvCxnSpPr>
            <p:spPr>
              <a:xfrm flipV="1">
                <a:off x="1542815" y="2430874"/>
                <a:ext cx="146756" cy="90312"/>
              </a:xfrm>
              <a:prstGeom prst="line">
                <a:avLst/>
              </a:prstGeom>
              <a:grpFill/>
              <a:ln w="190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30A406F-AC95-4A31-B219-0D4D530BE6D8}"/>
                  </a:ext>
                </a:extLst>
              </p:cNvPr>
              <p:cNvCxnSpPr/>
              <p:nvPr/>
            </p:nvCxnSpPr>
            <p:spPr>
              <a:xfrm flipH="1" flipV="1">
                <a:off x="1569156" y="2355615"/>
                <a:ext cx="116652" cy="86549"/>
              </a:xfrm>
              <a:prstGeom prst="line">
                <a:avLst/>
              </a:prstGeom>
              <a:grpFill/>
              <a:ln w="190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A5A779F-53DC-4235-8AA7-58EA0BCBA969}"/>
                  </a:ext>
                </a:extLst>
              </p:cNvPr>
              <p:cNvCxnSpPr/>
              <p:nvPr/>
            </p:nvCxnSpPr>
            <p:spPr>
              <a:xfrm flipV="1">
                <a:off x="1083733" y="2453452"/>
                <a:ext cx="0" cy="67734"/>
              </a:xfrm>
              <a:prstGeom prst="line">
                <a:avLst/>
              </a:prstGeom>
              <a:grpFill/>
              <a:ln>
                <a:solidFill>
                  <a:srgbClr val="7030A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80BB30F-1693-4523-A5EE-00337718543F}"/>
                </a:ext>
              </a:extLst>
            </p:cNvPr>
            <p:cNvGrpSpPr/>
            <p:nvPr/>
          </p:nvGrpSpPr>
          <p:grpSpPr>
            <a:xfrm rot="20746917" flipH="1">
              <a:off x="2004351" y="2166177"/>
              <a:ext cx="1151255" cy="436245"/>
              <a:chOff x="0" y="0"/>
              <a:chExt cx="1151467" cy="436505"/>
            </a:xfrm>
            <a:solidFill>
              <a:schemeClr val="bg1"/>
            </a:solidFill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9914164-8E94-4DB9-A1EA-2670766E0A6B}"/>
                  </a:ext>
                </a:extLst>
              </p:cNvPr>
              <p:cNvSpPr/>
              <p:nvPr/>
            </p:nvSpPr>
            <p:spPr>
              <a:xfrm>
                <a:off x="0" y="165571"/>
                <a:ext cx="1151467" cy="270934"/>
              </a:xfrm>
              <a:prstGeom prst="rect">
                <a:avLst/>
              </a:prstGeom>
              <a:grp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nl-BE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451B443-7355-4917-A4CE-5E76D3337237}"/>
                  </a:ext>
                </a:extLst>
              </p:cNvPr>
              <p:cNvCxnSpPr/>
              <p:nvPr/>
            </p:nvCxnSpPr>
            <p:spPr>
              <a:xfrm flipV="1">
                <a:off x="842904" y="75259"/>
                <a:ext cx="146756" cy="90312"/>
              </a:xfrm>
              <a:prstGeom prst="line">
                <a:avLst/>
              </a:prstGeom>
              <a:grpFill/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B8FC87C-EF37-4209-9A0C-49A88878FCB9}"/>
                  </a:ext>
                </a:extLst>
              </p:cNvPr>
              <p:cNvCxnSpPr/>
              <p:nvPr/>
            </p:nvCxnSpPr>
            <p:spPr>
              <a:xfrm flipH="1" flipV="1">
                <a:off x="869245" y="0"/>
                <a:ext cx="116652" cy="86549"/>
              </a:xfrm>
              <a:prstGeom prst="line">
                <a:avLst/>
              </a:prstGeom>
              <a:grpFill/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547BC81-DFB1-47C8-B674-30D2ACA3C55A}"/>
                  </a:ext>
                </a:extLst>
              </p:cNvPr>
              <p:cNvCxnSpPr/>
              <p:nvPr/>
            </p:nvCxnSpPr>
            <p:spPr>
              <a:xfrm flipV="1">
                <a:off x="383822" y="97837"/>
                <a:ext cx="0" cy="67734"/>
              </a:xfrm>
              <a:prstGeom prst="line">
                <a:avLst/>
              </a:prstGeom>
              <a:grpFill/>
              <a:ln>
                <a:solidFill>
                  <a:srgbClr val="FFC00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1E0A25-97CC-491B-8F98-9322CF43CA20}"/>
                </a:ext>
              </a:extLst>
            </p:cNvPr>
            <p:cNvGrpSpPr/>
            <p:nvPr/>
          </p:nvGrpSpPr>
          <p:grpSpPr>
            <a:xfrm rot="20746917" flipH="1">
              <a:off x="1876517" y="1661939"/>
              <a:ext cx="1151255" cy="436244"/>
              <a:chOff x="0" y="1"/>
              <a:chExt cx="1151467" cy="436504"/>
            </a:xfrm>
            <a:solidFill>
              <a:schemeClr val="bg1"/>
            </a:solidFill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DED9F34-76FE-4A91-A7DF-3812EB1F4931}"/>
                  </a:ext>
                </a:extLst>
              </p:cNvPr>
              <p:cNvSpPr/>
              <p:nvPr/>
            </p:nvSpPr>
            <p:spPr>
              <a:xfrm>
                <a:off x="0" y="165571"/>
                <a:ext cx="1151467" cy="270934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nl-BE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818B1AE-CCC4-4181-AE68-3C47EB528DFD}"/>
                  </a:ext>
                </a:extLst>
              </p:cNvPr>
              <p:cNvCxnSpPr/>
              <p:nvPr/>
            </p:nvCxnSpPr>
            <p:spPr>
              <a:xfrm flipV="1">
                <a:off x="842904" y="75259"/>
                <a:ext cx="146756" cy="90312"/>
              </a:xfrm>
              <a:prstGeom prst="line">
                <a:avLst/>
              </a:prstGeom>
              <a:grpFill/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7CBCF18-125B-45E0-9D79-F1766E5FC0E6}"/>
                  </a:ext>
                </a:extLst>
              </p:cNvPr>
              <p:cNvCxnSpPr/>
              <p:nvPr/>
            </p:nvCxnSpPr>
            <p:spPr>
              <a:xfrm flipH="1" flipV="1">
                <a:off x="869244" y="1"/>
                <a:ext cx="116652" cy="86549"/>
              </a:xfrm>
              <a:prstGeom prst="line">
                <a:avLst/>
              </a:prstGeom>
              <a:grpFill/>
              <a:ln w="1905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2D29840-9458-46DA-8773-CE7DE9A73E81}"/>
                  </a:ext>
                </a:extLst>
              </p:cNvPr>
              <p:cNvCxnSpPr/>
              <p:nvPr/>
            </p:nvCxnSpPr>
            <p:spPr>
              <a:xfrm flipV="1">
                <a:off x="383822" y="97837"/>
                <a:ext cx="0" cy="67734"/>
              </a:xfrm>
              <a:prstGeom prst="line">
                <a:avLst/>
              </a:prstGeom>
              <a:grpFill/>
              <a:ln>
                <a:solidFill>
                  <a:schemeClr val="accent6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33B9EC8-5557-4A6B-A596-D673C1A6A6AD}"/>
                </a:ext>
              </a:extLst>
            </p:cNvPr>
            <p:cNvCxnSpPr/>
            <p:nvPr/>
          </p:nvCxnSpPr>
          <p:spPr>
            <a:xfrm flipH="1">
              <a:off x="810178" y="1210047"/>
              <a:ext cx="258637" cy="6493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8260CBC-01F3-4F4C-9D99-60635CB76A3E}"/>
                </a:ext>
              </a:extLst>
            </p:cNvPr>
            <p:cNvCxnSpPr/>
            <p:nvPr/>
          </p:nvCxnSpPr>
          <p:spPr>
            <a:xfrm flipH="1">
              <a:off x="1655704" y="2094680"/>
              <a:ext cx="258445" cy="64770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9DA9F53-7EBB-4296-B2BB-36B2AFFD9BD2}"/>
                </a:ext>
              </a:extLst>
            </p:cNvPr>
            <p:cNvCxnSpPr/>
            <p:nvPr/>
          </p:nvCxnSpPr>
          <p:spPr>
            <a:xfrm flipV="1">
              <a:off x="2066926" y="349288"/>
              <a:ext cx="278540" cy="713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F570472-5E82-4A3C-9DA0-5C22584609F5}"/>
                </a:ext>
              </a:extLst>
            </p:cNvPr>
            <p:cNvCxnSpPr/>
            <p:nvPr/>
          </p:nvCxnSpPr>
          <p:spPr>
            <a:xfrm flipV="1">
              <a:off x="3157644" y="2248962"/>
              <a:ext cx="278130" cy="7112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F8D2F98-57D3-4373-8ACA-DB8374B9AA67}"/>
                </a:ext>
              </a:extLst>
            </p:cNvPr>
            <p:cNvSpPr/>
            <p:nvPr/>
          </p:nvSpPr>
          <p:spPr>
            <a:xfrm>
              <a:off x="1156846" y="735157"/>
              <a:ext cx="86061" cy="914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12B3EB2-720F-4B91-B8A2-2C9D2A2D3CE5}"/>
                </a:ext>
              </a:extLst>
            </p:cNvPr>
            <p:cNvGrpSpPr/>
            <p:nvPr/>
          </p:nvGrpSpPr>
          <p:grpSpPr>
            <a:xfrm rot="20767985">
              <a:off x="911155" y="273407"/>
              <a:ext cx="1151255" cy="436245"/>
              <a:chOff x="0" y="0"/>
              <a:chExt cx="1151467" cy="436505"/>
            </a:xfrm>
            <a:solidFill>
              <a:schemeClr val="bg1"/>
            </a:solidFill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1294791-1405-4EB6-B64F-0C54C1566F0C}"/>
                  </a:ext>
                </a:extLst>
              </p:cNvPr>
              <p:cNvSpPr/>
              <p:nvPr/>
            </p:nvSpPr>
            <p:spPr>
              <a:xfrm>
                <a:off x="0" y="165571"/>
                <a:ext cx="1151467" cy="27093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nl-BE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3561F9F-5DAE-4FC1-9FD2-F8ADD853D790}"/>
                  </a:ext>
                </a:extLst>
              </p:cNvPr>
              <p:cNvCxnSpPr/>
              <p:nvPr/>
            </p:nvCxnSpPr>
            <p:spPr>
              <a:xfrm flipV="1">
                <a:off x="842904" y="75259"/>
                <a:ext cx="146756" cy="90312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19A1149-A418-49A8-8AD4-F4F596A4D1D0}"/>
                  </a:ext>
                </a:extLst>
              </p:cNvPr>
              <p:cNvCxnSpPr/>
              <p:nvPr/>
            </p:nvCxnSpPr>
            <p:spPr>
              <a:xfrm flipH="1" flipV="1">
                <a:off x="869245" y="0"/>
                <a:ext cx="116652" cy="86549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075A041-099E-4DE8-A326-3602CBBA178F}"/>
                  </a:ext>
                </a:extLst>
              </p:cNvPr>
              <p:cNvCxnSpPr/>
              <p:nvPr/>
            </p:nvCxnSpPr>
            <p:spPr>
              <a:xfrm flipV="1">
                <a:off x="383822" y="97837"/>
                <a:ext cx="0" cy="67734"/>
              </a:xfrm>
              <a:prstGeom prst="line">
                <a:avLst/>
              </a:prstGeom>
              <a:grpFill/>
              <a:ln>
                <a:solidFill>
                  <a:srgbClr val="FF0000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5-Point Star 121">
              <a:extLst>
                <a:ext uri="{FF2B5EF4-FFF2-40B4-BE49-F238E27FC236}">
                  <a16:creationId xmlns:a16="http://schemas.microsoft.com/office/drawing/2014/main" id="{93496072-E028-4A16-A31A-E2B2FA3BCFD2}"/>
                </a:ext>
              </a:extLst>
            </p:cNvPr>
            <p:cNvSpPr/>
            <p:nvPr/>
          </p:nvSpPr>
          <p:spPr>
            <a:xfrm>
              <a:off x="3674158" y="48766"/>
              <a:ext cx="266700" cy="217805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BE"/>
            </a:p>
          </p:txBody>
        </p:sp>
        <p:sp>
          <p:nvSpPr>
            <p:cNvPr id="31" name="Text Box 2">
              <a:extLst>
                <a:ext uri="{FF2B5EF4-FFF2-40B4-BE49-F238E27FC236}">
                  <a16:creationId xmlns:a16="http://schemas.microsoft.com/office/drawing/2014/main" id="{A8D01E09-E23F-4B5B-8824-9D9BD548E80D}"/>
                </a:ext>
              </a:extLst>
            </p:cNvPr>
            <p:cNvSpPr txBox="1"/>
            <p:nvPr/>
          </p:nvSpPr>
          <p:spPr>
            <a:xfrm>
              <a:off x="3957073" y="28779"/>
              <a:ext cx="1593215" cy="25908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Location of OCL problem</a:t>
              </a:r>
              <a:endParaRPr lang="nl-B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1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FDA6-9510-40E6-95A4-624F8739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linear location problem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06657-6CD4-4DF2-B7DC-98C6A099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0BD78-1959-4F52-8EBD-F2C3DF6F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6AF73-1D10-409A-916C-8A76F1E76F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26"/>
          <a:stretch/>
        </p:blipFill>
        <p:spPr>
          <a:xfrm>
            <a:off x="1005197" y="1690688"/>
            <a:ext cx="10181605" cy="45196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767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42DB-9D0E-470D-9A07-88624430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linear location problem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9C273-DAA8-49AA-A728-382F397D7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GB" b="1" dirty="0" err="1"/>
              <a:t>Antenne</a:t>
            </a:r>
            <a:r>
              <a:rPr lang="en-GB" b="1" dirty="0"/>
              <a:t> error</a:t>
            </a:r>
            <a:r>
              <a:rPr lang="en-GB" dirty="0"/>
              <a:t>: difference between pantograph and GPS antenna position</a:t>
            </a:r>
            <a:endParaRPr lang="nl-BE" dirty="0"/>
          </a:p>
          <a:p>
            <a:pPr lvl="1"/>
            <a:r>
              <a:rPr lang="nl-BE" dirty="0"/>
              <a:t>Depends on specific installation, orientation of vehicle and direction of travel </a:t>
            </a:r>
            <a:endParaRPr lang="nl-BE" sz="3600" dirty="0"/>
          </a:p>
          <a:p>
            <a:pPr lvl="1"/>
            <a:r>
              <a:rPr lang="nl-BE" dirty="0"/>
              <a:t>Error ~ 7m </a:t>
            </a:r>
            <a:r>
              <a:rPr lang="en-GB" dirty="0"/>
              <a:t>only in sense of travel</a:t>
            </a:r>
          </a:p>
          <a:p>
            <a:pPr lvl="1"/>
            <a:r>
              <a:rPr lang="en-GB" b="1" dirty="0"/>
              <a:t>How to improve</a:t>
            </a:r>
            <a:r>
              <a:rPr lang="en-GB" dirty="0"/>
              <a:t>: implement an IMU (to know vehicle orientation) and correct for distance (using a time based method)</a:t>
            </a:r>
          </a:p>
          <a:p>
            <a:pPr marL="457200" lvl="1" indent="0">
              <a:buNone/>
            </a:pPr>
            <a:endParaRPr lang="nl-BE" sz="1400" dirty="0"/>
          </a:p>
          <a:p>
            <a:pPr lvl="0"/>
            <a:r>
              <a:rPr lang="en-GB" b="1" dirty="0"/>
              <a:t>GPS error</a:t>
            </a:r>
            <a:r>
              <a:rPr lang="en-GB" dirty="0"/>
              <a:t>: uncertainty of GPS position </a:t>
            </a:r>
            <a:endParaRPr lang="nl-BE" dirty="0"/>
          </a:p>
          <a:p>
            <a:pPr lvl="1"/>
            <a:r>
              <a:rPr lang="en-GB" dirty="0"/>
              <a:t>Depending on environment, weather (variable in time) and antenna position</a:t>
            </a:r>
            <a:endParaRPr lang="nl-BE" sz="3600" dirty="0"/>
          </a:p>
          <a:p>
            <a:pPr lvl="1"/>
            <a:r>
              <a:rPr lang="en-GB" dirty="0"/>
              <a:t>Error ~3m</a:t>
            </a:r>
            <a:r>
              <a:rPr lang="nl-BE" dirty="0"/>
              <a:t> over all direction</a:t>
            </a:r>
          </a:p>
          <a:p>
            <a:pPr lvl="1"/>
            <a:r>
              <a:rPr lang="en-GB" b="1" dirty="0"/>
              <a:t>How to improve:</a:t>
            </a:r>
            <a:r>
              <a:rPr lang="en-GB" dirty="0"/>
              <a:t> implement an IMU to form a INS.</a:t>
            </a:r>
          </a:p>
          <a:p>
            <a:pPr lvl="1"/>
            <a:endParaRPr lang="nl-BE" sz="1400" dirty="0"/>
          </a:p>
          <a:p>
            <a:pPr lvl="0"/>
            <a:r>
              <a:rPr lang="en-GB" b="1" dirty="0"/>
              <a:t>Sync error</a:t>
            </a:r>
            <a:r>
              <a:rPr lang="en-GB" dirty="0"/>
              <a:t>: synchronisation between GPS position and shock measurement</a:t>
            </a:r>
            <a:endParaRPr lang="nl-BE" dirty="0"/>
          </a:p>
          <a:p>
            <a:pPr lvl="1"/>
            <a:r>
              <a:rPr lang="en-GB" dirty="0"/>
              <a:t>Depending on travel speed </a:t>
            </a:r>
            <a:endParaRPr lang="nl-BE" sz="3600" dirty="0"/>
          </a:p>
          <a:p>
            <a:pPr lvl="1"/>
            <a:r>
              <a:rPr lang="en-GB" dirty="0"/>
              <a:t>Error ~ 4m (~100ms sync error) in approximate direction of travel</a:t>
            </a:r>
          </a:p>
          <a:p>
            <a:pPr lvl="1"/>
            <a:r>
              <a:rPr lang="en-GB" b="1" dirty="0"/>
              <a:t>How to improve</a:t>
            </a:r>
            <a:r>
              <a:rPr lang="en-GB" dirty="0"/>
              <a:t>: improve synchronisation algorithm</a:t>
            </a:r>
            <a:endParaRPr lang="nl-BE" sz="4000" dirty="0"/>
          </a:p>
          <a:p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0ED05-FCD4-421E-8930-A45400AB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CBB55-FE66-4C2B-AA3F-A0B38CC8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01669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A90B-F9BB-412B-9802-782892BE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linear location problem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8EAE-4CA8-4389-8217-69013C094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Then multiply this by the number of vehicle equipped with the  measurement system..</a:t>
            </a:r>
          </a:p>
          <a:p>
            <a:endParaRPr lang="en-GB" dirty="0"/>
          </a:p>
          <a:p>
            <a:r>
              <a:rPr lang="en-GB" dirty="0"/>
              <a:t>Simplified location algorithms are OK for simple track layout where 27m uncertainty is fine (no switches, single track, …). But..</a:t>
            </a:r>
          </a:p>
          <a:p>
            <a:endParaRPr lang="en-GB" dirty="0"/>
          </a:p>
          <a:p>
            <a:r>
              <a:rPr lang="en-GB" dirty="0"/>
              <a:t>Advise:</a:t>
            </a:r>
          </a:p>
          <a:p>
            <a:pPr lvl="1"/>
            <a:r>
              <a:rPr lang="en-GB" dirty="0"/>
              <a:t>Determine alert groups based on possible error margins for a unique vehicle</a:t>
            </a:r>
          </a:p>
          <a:p>
            <a:pPr lvl="1"/>
            <a:r>
              <a:rPr lang="en-GB" dirty="0"/>
              <a:t>Then group the groups and take a smart average</a:t>
            </a:r>
            <a:endParaRPr lang="nl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DBAE7-2C17-4E50-ABDC-453E9B7A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A185A-D17A-4B88-801B-C5F83EA0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3B077-9CBD-4B9E-A10D-4113A265B3AE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1219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E4FE-9D9D-46E3-9DA1-DA9E7370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Questions?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C4DDF-59B4-4717-96BE-22F07660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B4E5C-C0BB-4F4D-A803-181F28B695C9}" type="slidenum">
              <a:rPr lang="nl-BE" smtClean="0"/>
              <a:t>20</a:t>
            </a:fld>
            <a:endParaRPr lang="nl-BE"/>
          </a:p>
        </p:txBody>
      </p:sp>
      <p:pic>
        <p:nvPicPr>
          <p:cNvPr id="18434" name="Picture 2" descr="Afbeeldingsresultaat voor come talk to me icon">
            <a:extLst>
              <a:ext uri="{FF2B5EF4-FFF2-40B4-BE49-F238E27FC236}">
                <a16:creationId xmlns:a16="http://schemas.microsoft.com/office/drawing/2014/main" id="{D377C65E-9B1E-45C8-9E14-D0F4581AA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55" y="816497"/>
            <a:ext cx="5450724" cy="3296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Afbeeldingsresultaat voor conference booth pictogram">
            <a:extLst>
              <a:ext uri="{FF2B5EF4-FFF2-40B4-BE49-F238E27FC236}">
                <a16:creationId xmlns:a16="http://schemas.microsoft.com/office/drawing/2014/main" id="{B22A333C-AF41-42A5-9657-0E34C5ECA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216" y="3536950"/>
            <a:ext cx="37814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9B1DE-3415-46EF-8A42-ECFE1F88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7006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689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ＭＳ Ｐゴシック</vt:lpstr>
      <vt:lpstr>Arial</vt:lpstr>
      <vt:lpstr>Calibri</vt:lpstr>
      <vt:lpstr>Calibri Light</vt:lpstr>
      <vt:lpstr>Times New Roman</vt:lpstr>
      <vt:lpstr>Office Theme</vt:lpstr>
      <vt:lpstr>Level up Asset Management at Infrabel</vt:lpstr>
      <vt:lpstr>Overview</vt:lpstr>
      <vt:lpstr>Infrabel</vt:lpstr>
      <vt:lpstr>Switch</vt:lpstr>
      <vt:lpstr>PowerPoint Presentation</vt:lpstr>
      <vt:lpstr>Pantograph shock detection</vt:lpstr>
      <vt:lpstr>CatVision</vt:lpstr>
      <vt:lpstr>Switch</vt:lpstr>
      <vt:lpstr>PowerPoint Presentation</vt:lpstr>
      <vt:lpstr>Train monitoring system</vt:lpstr>
      <vt:lpstr>SpadWatch</vt:lpstr>
      <vt:lpstr>Tracking red mobile signals</vt:lpstr>
      <vt:lpstr>SAM Platform</vt:lpstr>
      <vt:lpstr>PowerPoint Presentation</vt:lpstr>
      <vt:lpstr>AMDM</vt:lpstr>
      <vt:lpstr>The linear location problem</vt:lpstr>
      <vt:lpstr>The linear location problem</vt:lpstr>
      <vt:lpstr>The linear location problem</vt:lpstr>
      <vt:lpstr>The linear location problem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Vanden Auweele Mathias</dc:creator>
  <cp:lastModifiedBy>Vanden Auweele Mathias</cp:lastModifiedBy>
  <cp:revision>48</cp:revision>
  <dcterms:created xsi:type="dcterms:W3CDTF">2017-12-13T09:19:51Z</dcterms:created>
  <dcterms:modified xsi:type="dcterms:W3CDTF">2019-03-04T12:47:50Z</dcterms:modified>
</cp:coreProperties>
</file>