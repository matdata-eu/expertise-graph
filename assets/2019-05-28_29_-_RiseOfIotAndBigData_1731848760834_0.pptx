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8" r:id="rId2"/>
    <p:sldId id="329" r:id="rId3"/>
    <p:sldId id="330" r:id="rId4"/>
    <p:sldId id="331" r:id="rId5"/>
    <p:sldId id="332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39" r:id="rId14"/>
    <p:sldId id="340" r:id="rId15"/>
    <p:sldId id="341" r:id="rId16"/>
    <p:sldId id="342" r:id="rId17"/>
    <p:sldId id="343" r:id="rId18"/>
    <p:sldId id="344" r:id="rId1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1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132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60EEC-0994-4913-9982-1D8135F70AC6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BDB38-F98A-4DFB-9CBC-2CB5CD7C5B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26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369320-BB0E-4A12-92EA-8BFD92FDF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515EA12-B064-410D-B000-0E9271C37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99B5A7-3B24-4A57-A492-403135B8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43A1BA-4AB6-402D-97F0-3145D44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6DE6D9-57D3-42EE-A1C2-D8877AF0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24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52AF9E-DED3-40D0-AD92-4A5A51C2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2DEFFF-3593-4877-9EA1-699254859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B97898-6804-417A-8898-B832E486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C5DEB2-17C6-4754-ACB0-960BF696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93A05C-FD12-4DB7-83AA-DB5533A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59408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A8FBEE-28B7-4536-85F6-2820F330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989A81-228B-4197-BB02-C4AC3F7D1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B40875-81B2-40D8-80C8-4FEC0FA6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42AEC0-1FAE-409B-94D3-92A1C17D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1B1A25-4A9E-4C54-A122-CA1B0C93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26721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A5439-BB98-46B7-A714-CBB13CEC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E15748-5B3D-4E63-9EF8-8AA6296FC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93C86B-416C-4B74-A700-07D6BC6B1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4D4479E-49E0-4921-9DC5-2B1D1602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5E3687C-CCB2-40CC-8E08-F92CD285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8EE7F6-017E-457A-AA99-27DA7DBF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1883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1180AE-76D4-4857-A7DC-8B458449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B646A5-54BD-4067-A3E4-1BEB6E44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495F0A6-5A33-498C-8B8B-9E1A07186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BDF16AA-2040-49E4-871E-D47BFBFE8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52E7217-2B16-46F5-AE16-DCEF5980E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738AE22-D830-470C-8C78-7C9EDB54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ED0C88E-C01B-49B1-B1DD-9FD7C715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CCDC87C-0C67-44F9-ADCA-346C194D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53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544F5B-8019-40EC-BE96-BB18E033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2A8326C-416A-4A27-8DC5-1C51DD44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B0B9927-3604-4656-8911-87856769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1E996F7-9C2E-4388-837B-AECB0889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357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FE4E556-59E1-4C2A-8968-363D35593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7AB49E8-D16D-435D-A830-050BEC3D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579DCCC-6286-4A16-916A-48E839F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874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7724CB-89BF-48C8-8AA9-83C7514D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AC372F-0310-4F0F-AB73-2F6AA315C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677D195-F992-4C94-BAB0-73CD24923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B260B2-06DC-4092-B148-D9DF1CB3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F36AEB6-F15A-4EF2-A5EF-88448625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81CA75-4A55-4934-9FB4-121B9E4F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134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752957-E73A-47F5-8A77-0C72F0AA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D80F9BB-7547-4450-817B-C2A26E4E2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49C6DDA-579C-4077-8BC7-C6BDB093C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CB1C86C-9934-4598-9537-6B3B98F5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BBAF401-B6AB-467D-BF36-B6881998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B707D8-D2DB-4710-B28F-AAD65922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345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1CA4CA-7AF7-4E3A-A3B0-1E45E84C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6828ADB-7708-4983-AC8E-B94239A86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0633CB-D82D-4588-845A-641E1D4A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84E1F8-B488-47A2-A1B2-A3FBDA0C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C52F9E-7EEA-4EC7-9F6D-0FFE9448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825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AD14A12-8618-4005-9A33-5CC8C18B7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E1FACF3-7DA8-48CC-BC10-4BF35E994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652152-1D08-44A0-9349-265EE637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82624F1-C9EB-47B4-BA60-749F9B06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05F972-B85C-4265-91EC-30089725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0061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Data\My Pictures\2011-02-08 - Bezoek OC BVL Tournai\P1100225.JPG">
            <a:extLst>
              <a:ext uri="{FF2B5EF4-FFF2-40B4-BE49-F238E27FC236}">
                <a16:creationId xmlns:a16="http://schemas.microsoft.com/office/drawing/2014/main" xmlns="" id="{76E67E88-2961-4702-9F8E-2A76C7A503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256" y="0"/>
            <a:ext cx="6696744" cy="6858000"/>
          </a:xfrm>
          <a:prstGeom prst="rect">
            <a:avLst/>
          </a:prstGeom>
          <a:noFill/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xmlns="" id="{8BF900A0-F268-4076-8CFE-1ED8E8B76AB6}"/>
              </a:ext>
            </a:extLst>
          </p:cNvPr>
          <p:cNvSpPr>
            <a:spLocks/>
          </p:cNvSpPr>
          <p:nvPr userDrawn="1"/>
        </p:nvSpPr>
        <p:spPr bwMode="auto">
          <a:xfrm>
            <a:off x="1863827" y="-1588"/>
            <a:ext cx="5789845" cy="6859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354"/>
              </a:cxn>
              <a:cxn ang="0">
                <a:pos x="2359" y="4354"/>
              </a:cxn>
              <a:cxn ang="0">
                <a:pos x="3674" y="0"/>
              </a:cxn>
              <a:cxn ang="0">
                <a:pos x="0" y="0"/>
              </a:cxn>
            </a:cxnLst>
            <a:rect l="0" t="0" r="r" b="b"/>
            <a:pathLst>
              <a:path w="3674" h="4354">
                <a:moveTo>
                  <a:pt x="0" y="0"/>
                </a:moveTo>
                <a:lnTo>
                  <a:pt x="0" y="4354"/>
                </a:lnTo>
                <a:lnTo>
                  <a:pt x="2359" y="4354"/>
                </a:lnTo>
                <a:lnTo>
                  <a:pt x="36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46D3AC-0A1D-44A4-BD22-DDEE35FAB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122363"/>
            <a:ext cx="6569765" cy="2387600"/>
          </a:xfrm>
        </p:spPr>
        <p:txBody>
          <a:bodyPr anchor="b"/>
          <a:lstStyle>
            <a:lvl1pPr algn="l">
              <a:defRPr sz="6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44625E-8E47-407B-A258-F72C3A18C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809" y="3602038"/>
            <a:ext cx="6052930" cy="80099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B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E3F92655-94D6-480C-B010-463D330EDF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940" y="4866300"/>
            <a:ext cx="5495832" cy="121664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nl-B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C74AB1B-A315-4C11-8B83-A6C643295783}"/>
              </a:ext>
            </a:extLst>
          </p:cNvPr>
          <p:cNvSpPr txBox="1"/>
          <p:nvPr userDrawn="1"/>
        </p:nvSpPr>
        <p:spPr>
          <a:xfrm>
            <a:off x="357809" y="617688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2717047-A0EB-4B12-88AE-355292B242FF}" type="datetime1">
              <a:rPr lang="en-GB" smtClean="0"/>
              <a:t>11/03/2019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0718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B4D60E5-A921-4FCD-8667-066B4BDF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9CA311-0E01-4F78-9F95-48BE5FA72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2E7E8B-3220-469A-AFF1-2F2323A6A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7E4A9-AAAC-42B3-8EC6-52A3F465CF3F}" type="datetimeFigureOut">
              <a:rPr lang="nl-BE" smtClean="0"/>
              <a:t>11/03/2019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4526B2-1CF4-4FB2-8B0B-A075CC807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A638E1-019C-45A0-A76F-2B06FA5F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547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7" Type="http://schemas.openxmlformats.org/officeDocument/2006/relationships/image" Target="../media/image5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jpe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jpeg"/><Relationship Id="rId2" Type="http://schemas.openxmlformats.org/officeDocument/2006/relationships/hyperlink" Target="https://play.google.com/store/apps/details?id=com.infrabel.spadwat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jpg"/><Relationship Id="rId5" Type="http://schemas.openxmlformats.org/officeDocument/2006/relationships/image" Target="../media/image72.png"/><Relationship Id="rId4" Type="http://schemas.openxmlformats.org/officeDocument/2006/relationships/image" Target="../media/image7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7" Type="http://schemas.openxmlformats.org/officeDocument/2006/relationships/image" Target="../media/image70.pn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.google.com/store/apps/details?id=be.infrabel.amdm" TargetMode="External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E933A9-6129-4F75-97CA-9E9AFB773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10" y="1122363"/>
            <a:ext cx="6569765" cy="2387600"/>
          </a:xfrm>
        </p:spPr>
        <p:txBody>
          <a:bodyPr>
            <a:normAutofit/>
          </a:bodyPr>
          <a:lstStyle/>
          <a:p>
            <a:r>
              <a:rPr lang="en-US" sz="4000" dirty="0" err="1"/>
              <a:t>Digitalisation</a:t>
            </a:r>
            <a:r>
              <a:rPr lang="en-US" sz="4000" dirty="0"/>
              <a:t> in maintenance (Big Data) @ Infrabel</a:t>
            </a:r>
            <a:endParaRPr lang="nl-B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D79F63-3D93-4D86-A53E-34E9FF34E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Image recognition, AI &amp; IOT projects</a:t>
            </a:r>
            <a:endParaRPr lang="nl-BE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6F576535-1931-41BF-B65F-8DE490E5E9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940" y="4578351"/>
            <a:ext cx="5495832" cy="1504597"/>
          </a:xfrm>
        </p:spPr>
        <p:txBody>
          <a:bodyPr>
            <a:normAutofit/>
          </a:bodyPr>
          <a:lstStyle/>
          <a:p>
            <a:r>
              <a:rPr lang="en-GB" dirty="0" smtClean="0"/>
              <a:t>Pieter Verlinden</a:t>
            </a:r>
            <a:endParaRPr lang="en-GB" dirty="0"/>
          </a:p>
          <a:p>
            <a:r>
              <a:rPr lang="en-GB" dirty="0" smtClean="0"/>
              <a:t>Lead Of Data Science@Infrabel.be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3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3A5C60-662D-42AB-B5BD-50A1A200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044CE3-072C-4E14-A232-D1CB413A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38" indent="-514338">
              <a:buFont typeface="+mj-lt"/>
              <a:buAutoNum type="arabicPeriod"/>
            </a:pPr>
            <a:r>
              <a:rPr lang="en-GB" dirty="0" smtClean="0"/>
              <a:t>Infrabel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Asset management information flow @ Infrabel</a:t>
            </a:r>
            <a:endParaRPr lang="en-GB" dirty="0"/>
          </a:p>
          <a:p>
            <a:pPr marL="514338" indent="-514338">
              <a:buFont typeface="+mj-lt"/>
              <a:buAutoNum type="arabicPeriod"/>
            </a:pPr>
            <a:r>
              <a:rPr lang="en-GB" dirty="0"/>
              <a:t>Smart projects </a:t>
            </a:r>
            <a:r>
              <a:rPr lang="en-GB" dirty="0" smtClean="0"/>
              <a:t>overview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79E9320-7E53-4F7D-9030-B73E0D67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9F1C915-83A8-4872-85AC-2D78C3E1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166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6">
            <a:extLst>
              <a:ext uri="{FF2B5EF4-FFF2-40B4-BE49-F238E27FC236}">
                <a16:creationId xmlns:a16="http://schemas.microsoft.com/office/drawing/2014/main" xmlns="" id="{CDF324BB-8D67-43C0-A610-6272FC28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32" indent="-285744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ct val="0"/>
              </a:spcAft>
            </a:pPr>
            <a:fld id="{0397B6B0-4B5A-47F0-8C32-39DF0C4D126D}" type="slidenum">
              <a:rPr lang="en-GB" altLang="en-US" sz="1100"/>
              <a:pPr eaLnBrk="1" hangingPunct="1">
                <a:spcAft>
                  <a:spcPct val="0"/>
                </a:spcAft>
              </a:pPr>
              <a:t>3</a:t>
            </a:fld>
            <a:endParaRPr lang="en-GB" altLang="en-US" sz="1100"/>
          </a:p>
        </p:txBody>
      </p:sp>
      <p:sp>
        <p:nvSpPr>
          <p:cNvPr id="9228" name="ZoneTexte 24">
            <a:extLst>
              <a:ext uri="{FF2B5EF4-FFF2-40B4-BE49-F238E27FC236}">
                <a16:creationId xmlns:a16="http://schemas.microsoft.com/office/drawing/2014/main" xmlns="" id="{09C20319-2A0E-49FD-97A8-722501DF9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2" y="2374901"/>
            <a:ext cx="8081963" cy="157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>
            <a:spAutoFit/>
          </a:bodyPr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We manage, maintain and modernise </a:t>
            </a:r>
          </a:p>
          <a:p>
            <a:pPr algn="ctr" eaLnBrk="1" hangingPunct="1"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the Belgian railway infrastructure </a:t>
            </a:r>
          </a:p>
          <a:p>
            <a:pPr algn="ctr" eaLnBrk="1" hangingPunct="1">
              <a:spcAft>
                <a:spcPct val="0"/>
              </a:spcAft>
            </a:pPr>
            <a:endParaRPr lang="fr-FR" altLang="en-US" sz="3200">
              <a:latin typeface="Calibri" panose="020F0502020204030204" pitchFamily="34" charset="0"/>
            </a:endParaRPr>
          </a:p>
        </p:txBody>
      </p:sp>
      <p:sp>
        <p:nvSpPr>
          <p:cNvPr id="9229" name="ZoneTexte 25">
            <a:extLst>
              <a:ext uri="{FF2B5EF4-FFF2-40B4-BE49-F238E27FC236}">
                <a16:creationId xmlns:a16="http://schemas.microsoft.com/office/drawing/2014/main" xmlns="" id="{6A069CF8-A905-4F18-81E2-25E80853E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2" y="4365626"/>
            <a:ext cx="8081963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>
            <a:spAutoFit/>
          </a:bodyPr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3300"/>
              </a:lnSpc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We coordinate rail traffic </a:t>
            </a:r>
          </a:p>
          <a:p>
            <a:pPr algn="ctr" eaLnBrk="1" hangingPunct="1">
              <a:lnSpc>
                <a:spcPts val="3300"/>
              </a:lnSpc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on the Belgian network</a:t>
            </a:r>
            <a:endParaRPr lang="fr-BE" altLang="en-US" sz="3200">
              <a:latin typeface="Calibri" panose="020F0502020204030204" pitchFamily="34" charset="0"/>
            </a:endParaRPr>
          </a:p>
        </p:txBody>
      </p:sp>
      <p:cxnSp>
        <p:nvCxnSpPr>
          <p:cNvPr id="9230" name="Straight Connector 35">
            <a:extLst>
              <a:ext uri="{FF2B5EF4-FFF2-40B4-BE49-F238E27FC236}">
                <a16:creationId xmlns:a16="http://schemas.microsoft.com/office/drawing/2014/main" xmlns="" id="{F145A4BF-EE78-4D94-8590-F24C5DE079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9538" y="3567113"/>
            <a:ext cx="6875463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1" name="Right Triangle 5">
            <a:extLst>
              <a:ext uri="{FF2B5EF4-FFF2-40B4-BE49-F238E27FC236}">
                <a16:creationId xmlns:a16="http://schemas.microsoft.com/office/drawing/2014/main" xmlns="" id="{508E99B8-5FFE-4D83-ABA9-BA94792F1AD0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5853115" y="3395664"/>
            <a:ext cx="485775" cy="484187"/>
          </a:xfrm>
          <a:prstGeom prst="rtTriangl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8" tIns="45719" rIns="91438" bIns="45719" anchor="ctr"/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</a:pPr>
            <a:endParaRPr lang="en-US" altLang="en-US" sz="1900">
              <a:latin typeface="Calibri Light" panose="020F030202020403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D4700304-CEFC-42D1-9E37-AD86BF0F5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Infrabel</a:t>
            </a:r>
            <a:endParaRPr lang="nl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A3761BE-34C0-4974-B844-0975588F43B1}"/>
              </a:ext>
            </a:extLst>
          </p:cNvPr>
          <p:cNvSpPr txBox="1"/>
          <p:nvPr/>
        </p:nvSpPr>
        <p:spPr>
          <a:xfrm>
            <a:off x="9447213" y="4759327"/>
            <a:ext cx="2427076" cy="152862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dirty="0"/>
              <a:t>~11k employees FTE</a:t>
            </a:r>
          </a:p>
          <a:p>
            <a:r>
              <a:rPr lang="en-GB" dirty="0"/>
              <a:t>~800k passengers daily</a:t>
            </a:r>
          </a:p>
          <a:p>
            <a:r>
              <a:rPr lang="en-GB" dirty="0"/>
              <a:t>~6500 km main track</a:t>
            </a:r>
          </a:p>
          <a:p>
            <a:r>
              <a:rPr lang="en-GB" dirty="0"/>
              <a:t>~5800 km electrified</a:t>
            </a:r>
          </a:p>
          <a:p>
            <a:r>
              <a:rPr lang="en-GB" dirty="0"/>
              <a:t>~4k switches</a:t>
            </a:r>
            <a:endParaRPr 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34BA8C0-EC29-4613-A757-66704EA9C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CDAFB8A-8F4A-472F-B947-50F1545BECFE}"/>
              </a:ext>
            </a:extLst>
          </p:cNvPr>
          <p:cNvSpPr txBox="1"/>
          <p:nvPr/>
        </p:nvSpPr>
        <p:spPr>
          <a:xfrm>
            <a:off x="403569" y="5727701"/>
            <a:ext cx="2507952" cy="37959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dirty="0"/>
              <a:t>And we do it ourselves..</a:t>
            </a:r>
            <a:endParaRPr lang="nl-BE" dirty="0"/>
          </a:p>
        </p:txBody>
      </p:sp>
      <p:pic>
        <p:nvPicPr>
          <p:cNvPr id="1026" name="Picture 2" descr="Afbeeldingsresultaat voor infrabel logo">
            <a:extLst>
              <a:ext uri="{FF2B5EF4-FFF2-40B4-BE49-F238E27FC236}">
                <a16:creationId xmlns:a16="http://schemas.microsoft.com/office/drawing/2014/main" xmlns="" id="{1FCA49C6-0DAC-4926-834C-9E809625E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4" t="33926" r="12223" b="37129"/>
          <a:stretch/>
        </p:blipFill>
        <p:spPr bwMode="auto">
          <a:xfrm>
            <a:off x="7654580" y="354361"/>
            <a:ext cx="4133851" cy="12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24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981"/>
          <a:stretch/>
        </p:blipFill>
        <p:spPr bwMode="auto">
          <a:xfrm>
            <a:off x="8286208" y="292550"/>
            <a:ext cx="3852000" cy="3020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6" descr="Afbeeldingsresultaat voor postgresql icon">
            <a:extLst>
              <a:ext uri="{FF2B5EF4-FFF2-40B4-BE49-F238E27FC236}">
                <a16:creationId xmlns:a16="http://schemas.microsoft.com/office/drawing/2014/main" xmlns="" id="{687EEF8D-CF51-40D6-AD88-22224401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9" y="588802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389" y="1596304"/>
            <a:ext cx="5154001" cy="5154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84204" y="233375"/>
            <a:ext cx="4196363" cy="353943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dirty="0"/>
              <a:t>SAM-</a:t>
            </a:r>
            <a:r>
              <a:rPr lang="en-GB" dirty="0" err="1"/>
              <a:t>IoT</a:t>
            </a:r>
            <a:r>
              <a:rPr lang="en-GB" dirty="0"/>
              <a:t> : Incoming data from devices</a:t>
            </a:r>
          </a:p>
          <a:p>
            <a:endParaRPr lang="en-GB" dirty="0"/>
          </a:p>
          <a:p>
            <a:r>
              <a:rPr lang="en-GB" dirty="0"/>
              <a:t>SAM-CEP : Event / time-series correlation</a:t>
            </a:r>
          </a:p>
          <a:p>
            <a:r>
              <a:rPr lang="en-GB" dirty="0"/>
              <a:t>	Measuring train input</a:t>
            </a:r>
          </a:p>
          <a:p>
            <a:endParaRPr lang="en-GB" dirty="0"/>
          </a:p>
          <a:p>
            <a:r>
              <a:rPr lang="en-GB" dirty="0"/>
              <a:t>SAM-P : 	Portal, </a:t>
            </a:r>
            <a:r>
              <a:rPr lang="en-GB" dirty="0" err="1"/>
              <a:t>webservices</a:t>
            </a:r>
            <a:endParaRPr lang="en-GB" dirty="0"/>
          </a:p>
          <a:p>
            <a:endParaRPr lang="en-GB" dirty="0"/>
          </a:p>
          <a:p>
            <a:r>
              <a:rPr lang="en-GB" dirty="0"/>
              <a:t>SAM-DB : Storage and </a:t>
            </a:r>
            <a:r>
              <a:rPr lang="en-GB" dirty="0" err="1"/>
              <a:t>dataservices</a:t>
            </a:r>
            <a:endParaRPr lang="en-GB" dirty="0"/>
          </a:p>
          <a:p>
            <a:endParaRPr lang="en-GB" dirty="0"/>
          </a:p>
          <a:p>
            <a:r>
              <a:rPr lang="en-GB" dirty="0"/>
              <a:t>SAM-AI:	Deep- and </a:t>
            </a:r>
          </a:p>
          <a:p>
            <a:r>
              <a:rPr lang="en-GB" dirty="0"/>
              <a:t>                 machine learning,</a:t>
            </a:r>
          </a:p>
          <a:p>
            <a:r>
              <a:rPr lang="en-GB" dirty="0"/>
              <a:t>	Video recognition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655" y="5888025"/>
            <a:ext cx="1997375" cy="58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4" descr="https://media.licdn.com/mpr/mpr/AAEAAQAAAAAAAAgIAAAAJDVmNDM2NGJhLTk2OWItNDJiNy05OTYxLWRlYTEyNWNhNTU1Mg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8" r="-1143" b="13137"/>
          <a:stretch/>
        </p:blipFill>
        <p:spPr bwMode="auto">
          <a:xfrm>
            <a:off x="8372345" y="4594256"/>
            <a:ext cx="377787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35" y="178088"/>
            <a:ext cx="196730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SAM</a:t>
            </a:r>
            <a:br>
              <a:rPr lang="en-GB" dirty="0"/>
            </a:br>
            <a:r>
              <a:rPr lang="en-GB" dirty="0"/>
              <a:t>Platform</a:t>
            </a:r>
            <a:endParaRPr lang="nl-B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CDB92E8-8B85-450F-B8BE-25795822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31E0E57-A5C8-41DC-9A97-A97E062E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810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A00A090-EFCC-4063-A858-667B8ADE40C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6681" y="642261"/>
            <a:ext cx="5745339" cy="5739067"/>
          </a:xfrm>
          <a:prstGeom prst="rect">
            <a:avLst/>
          </a:prstGeom>
        </p:spPr>
      </p:pic>
      <p:pic>
        <p:nvPicPr>
          <p:cNvPr id="22" name="Picture 4" descr="Afbeeldingsresultaat voor cloud app icon">
            <a:extLst>
              <a:ext uri="{FF2B5EF4-FFF2-40B4-BE49-F238E27FC236}">
                <a16:creationId xmlns:a16="http://schemas.microsoft.com/office/drawing/2014/main" xmlns="" id="{D3101289-36DB-430D-B204-A4026CFA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63" y="498245"/>
            <a:ext cx="1303795" cy="130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6C15981-1FBD-4ECA-A9E6-5195EF221A88}"/>
              </a:ext>
            </a:extLst>
          </p:cNvPr>
          <p:cNvSpPr txBox="1"/>
          <p:nvPr/>
        </p:nvSpPr>
        <p:spPr>
          <a:xfrm>
            <a:off x="8014641" y="1002301"/>
            <a:ext cx="853115" cy="553996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AMDM </a:t>
            </a:r>
          </a:p>
          <a:p>
            <a:r>
              <a:rPr lang="en-GB" sz="15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(Mobile)</a:t>
            </a:r>
            <a:endParaRPr lang="nl-BE" sz="15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" descr="Gerelateerde afbeelding">
            <a:extLst>
              <a:ext uri="{FF2B5EF4-FFF2-40B4-BE49-F238E27FC236}">
                <a16:creationId xmlns:a16="http://schemas.microsoft.com/office/drawing/2014/main" xmlns="" id="{1B68650C-FD3E-4C0F-8D5E-0DFC7C39A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71" y="502629"/>
            <a:ext cx="1143571" cy="114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54A2785-938E-4869-BAD2-252C3C9F717B}"/>
              </a:ext>
            </a:extLst>
          </p:cNvPr>
          <p:cNvSpPr txBox="1"/>
          <p:nvPr/>
        </p:nvSpPr>
        <p:spPr>
          <a:xfrm>
            <a:off x="475905" y="1722382"/>
            <a:ext cx="1555422" cy="323163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sz="15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Intranet </a:t>
            </a:r>
            <a:r>
              <a:rPr lang="en-GB" sz="1500" dirty="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webapps</a:t>
            </a:r>
            <a:endParaRPr lang="nl-BE" sz="15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A183E02-27B1-417B-BC3E-BB05D7C88E29}"/>
              </a:ext>
            </a:extLst>
          </p:cNvPr>
          <p:cNvSpPr txBox="1"/>
          <p:nvPr/>
        </p:nvSpPr>
        <p:spPr>
          <a:xfrm>
            <a:off x="7928108" y="1669538"/>
            <a:ext cx="1046116" cy="323163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sz="15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apps</a:t>
            </a:r>
            <a:endParaRPr lang="nl-BE" sz="15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" descr="Afbeeldingsresultaat voor qlikview icon">
            <a:extLst>
              <a:ext uri="{FF2B5EF4-FFF2-40B4-BE49-F238E27FC236}">
                <a16:creationId xmlns:a16="http://schemas.microsoft.com/office/drawing/2014/main" xmlns="" id="{E81C10E3-16FE-4FED-A037-330E5676C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637" y="5822780"/>
            <a:ext cx="72178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Content Placeholder 12">
            <a:extLst>
              <a:ext uri="{FF2B5EF4-FFF2-40B4-BE49-F238E27FC236}">
                <a16:creationId xmlns:a16="http://schemas.microsoft.com/office/drawing/2014/main" xmlns="" id="{FF1F09F4-3DD7-418E-9CE4-CE2B8BF15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77403" y="2064815"/>
            <a:ext cx="356651" cy="3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1FB89634-6335-4346-AD3D-5928375E53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264" y="2052971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5D5C2388-3E71-4123-A7CA-C24B80A8A5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537" y="2052971"/>
            <a:ext cx="362591" cy="360000"/>
          </a:xfrm>
          <a:prstGeom prst="rect">
            <a:avLst/>
          </a:prstGeom>
        </p:spPr>
      </p:pic>
      <p:pic>
        <p:nvPicPr>
          <p:cNvPr id="31" name="Picture 4" descr="Afbeeldingsresultaat voor qgis icon">
            <a:extLst>
              <a:ext uri="{FF2B5EF4-FFF2-40B4-BE49-F238E27FC236}">
                <a16:creationId xmlns:a16="http://schemas.microsoft.com/office/drawing/2014/main" xmlns="" id="{D8B7F537-7BD1-4E08-9B2B-DE14A1FC8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274" y="5766525"/>
            <a:ext cx="78545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Afbeeldingsresultaat voor .net icon">
            <a:extLst>
              <a:ext uri="{FF2B5EF4-FFF2-40B4-BE49-F238E27FC236}">
                <a16:creationId xmlns:a16="http://schemas.microsoft.com/office/drawing/2014/main" xmlns="" id="{941CD64A-5B40-4A2E-9C0F-A436387B5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24" y="5856525"/>
            <a:ext cx="566435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Afbeeldingsresultaat voor postgresql icon">
            <a:extLst>
              <a:ext uri="{FF2B5EF4-FFF2-40B4-BE49-F238E27FC236}">
                <a16:creationId xmlns:a16="http://schemas.microsoft.com/office/drawing/2014/main" xmlns="" id="{687EEF8D-CF51-40D6-AD88-22224401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9" y="588802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 Placeholder 10">
            <a:extLst>
              <a:ext uri="{FF2B5EF4-FFF2-40B4-BE49-F238E27FC236}">
                <a16:creationId xmlns:a16="http://schemas.microsoft.com/office/drawing/2014/main" xmlns="" id="{F9FBED58-A002-4B26-A677-F7931F3BA599}"/>
              </a:ext>
            </a:extLst>
          </p:cNvPr>
          <p:cNvSpPr txBox="1">
            <a:spLocks/>
          </p:cNvSpPr>
          <p:nvPr/>
        </p:nvSpPr>
        <p:spPr>
          <a:xfrm>
            <a:off x="7832019" y="4228384"/>
            <a:ext cx="3998888" cy="2629617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 err="1"/>
              <a:t>AMDx</a:t>
            </a:r>
            <a:r>
              <a:rPr lang="en-GB" sz="1600" dirty="0"/>
              <a:t> is an in-house developed software suite aiming to:</a:t>
            </a:r>
          </a:p>
          <a:p>
            <a:pPr marL="342891" indent="-342891"/>
            <a:r>
              <a:rPr lang="en-GB" sz="1600" dirty="0"/>
              <a:t>Manage linear asset measurement data</a:t>
            </a:r>
          </a:p>
          <a:p>
            <a:pPr marL="342891" indent="-342891"/>
            <a:r>
              <a:rPr lang="en-GB" sz="1600" dirty="0"/>
              <a:t>Automatically check business rules, create alerts and interact with work management system (RIAM…)</a:t>
            </a:r>
          </a:p>
          <a:p>
            <a:pPr marL="342891" indent="-342891"/>
            <a:r>
              <a:rPr lang="en-GB" sz="1600" dirty="0"/>
              <a:t>Offer a user friendly measurement analysis interface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F6E1954-B6D9-4656-8ED4-5A406EA5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28F7C41-41CE-460E-94E7-38408F43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1388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 bwMode="auto">
          <a:xfrm>
            <a:off x="4726240" y="3947969"/>
            <a:ext cx="1756229" cy="576943"/>
          </a:xfrm>
          <a:prstGeom prst="rec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Big data platform</a:t>
            </a:r>
          </a:p>
        </p:txBody>
      </p:sp>
      <p:sp>
        <p:nvSpPr>
          <p:cNvPr id="40" name="Flowchart: Document 39"/>
          <p:cNvSpPr/>
          <p:nvPr/>
        </p:nvSpPr>
        <p:spPr bwMode="auto">
          <a:xfrm>
            <a:off x="1873530" y="1694557"/>
            <a:ext cx="1384940" cy="740295"/>
          </a:xfrm>
          <a:prstGeom prst="flowChartDocumen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Measurement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9017306" y="3058905"/>
            <a:ext cx="1182916" cy="576943"/>
          </a:xfrm>
          <a:prstGeom prst="rec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Incident</a:t>
            </a: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42" name="Elbow Connector 41"/>
          <p:cNvCxnSpPr/>
          <p:nvPr/>
        </p:nvCxnSpPr>
        <p:spPr bwMode="auto">
          <a:xfrm>
            <a:off x="7632172" y="4364734"/>
            <a:ext cx="1418923" cy="364108"/>
          </a:xfrm>
          <a:prstGeom prst="bentConnector2">
            <a:avLst/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Elbow Connector 42"/>
          <p:cNvCxnSpPr>
            <a:stCxn id="63" idx="3"/>
            <a:endCxn id="41" idx="1"/>
          </p:cNvCxnSpPr>
          <p:nvPr/>
        </p:nvCxnSpPr>
        <p:spPr bwMode="auto">
          <a:xfrm flipV="1">
            <a:off x="7839942" y="3347368"/>
            <a:ext cx="1177364" cy="874875"/>
          </a:xfrm>
          <a:prstGeom prst="bentConnector3">
            <a:avLst>
              <a:gd name="adj1" fmla="val 50000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Elbow Connector 43"/>
          <p:cNvCxnSpPr>
            <a:endCxn id="39" idx="1"/>
          </p:cNvCxnSpPr>
          <p:nvPr/>
        </p:nvCxnSpPr>
        <p:spPr bwMode="auto">
          <a:xfrm flipV="1">
            <a:off x="1433900" y="4236435"/>
            <a:ext cx="3292341" cy="1439739"/>
          </a:xfrm>
          <a:prstGeom prst="bentConnector3">
            <a:avLst>
              <a:gd name="adj1" fmla="val 62858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Elbow Connector 44"/>
          <p:cNvCxnSpPr>
            <a:stCxn id="40" idx="3"/>
            <a:endCxn id="39" idx="1"/>
          </p:cNvCxnSpPr>
          <p:nvPr/>
        </p:nvCxnSpPr>
        <p:spPr bwMode="auto">
          <a:xfrm>
            <a:off x="3258456" y="2064702"/>
            <a:ext cx="1467784" cy="2171733"/>
          </a:xfrm>
          <a:prstGeom prst="bentConnector3">
            <a:avLst>
              <a:gd name="adj1" fmla="val 15390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Elbow Connector 45"/>
          <p:cNvCxnSpPr>
            <a:stCxn id="39" idx="0"/>
            <a:endCxn id="71" idx="2"/>
          </p:cNvCxnSpPr>
          <p:nvPr/>
        </p:nvCxnSpPr>
        <p:spPr bwMode="auto">
          <a:xfrm rot="16200000" flipV="1">
            <a:off x="4837661" y="3181262"/>
            <a:ext cx="1533415" cy="1"/>
          </a:xfrm>
          <a:prstGeom prst="bentConnector3">
            <a:avLst>
              <a:gd name="adj1" fmla="val 50000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7" name="Picture 7" descr="C:\Users\exh387\AppData\Local\Microsoft\Windows\Temporary Internet Files\Content.IE5\872PG5H6\MC900433932[1]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618" y="1340508"/>
            <a:ext cx="1374335" cy="103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8" descr="C:\Users\exh387\AppData\Local\Microsoft\Windows\Temporary Internet Files\Content.IE5\8ME34K00\MC900434874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479" y="2650626"/>
            <a:ext cx="1601580" cy="120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9" descr="C:\Users\exh387\AppData\Local\Microsoft\Windows\Temporary Internet Files\Content.IE5\7HUX5XG1\MC900433944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35" y="1615048"/>
            <a:ext cx="1473197" cy="110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8331898" y="2405349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smtClean="0">
                <a:solidFill>
                  <a:srgbClr val="005DA4"/>
                </a:solidFill>
                <a:latin typeface="Arial"/>
                <a:cs typeface="Arial"/>
              </a:rPr>
              <a:t>Intervention</a:t>
            </a:r>
            <a:endParaRPr lang="en-GB" sz="1200" dirty="0">
              <a:solidFill>
                <a:srgbClr val="005DA4"/>
              </a:solidFill>
              <a:latin typeface="Arial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74105" y="2972327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smtClean="0">
                <a:solidFill>
                  <a:srgbClr val="005DA4"/>
                </a:solidFill>
                <a:latin typeface="Arial"/>
                <a:cs typeface="Arial"/>
              </a:rPr>
              <a:t>Malfunction</a:t>
            </a:r>
            <a:endParaRPr lang="en-GB" sz="1200" dirty="0" smtClean="0">
              <a:solidFill>
                <a:srgbClr val="005DA4"/>
              </a:solidFill>
              <a:latin typeface="Arial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790280" y="5689220"/>
            <a:ext cx="1423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smtClean="0">
                <a:solidFill>
                  <a:srgbClr val="005DA4"/>
                </a:solidFill>
                <a:latin typeface="Arial"/>
                <a:cs typeface="Arial"/>
              </a:rPr>
              <a:t>Asset Master </a:t>
            </a:r>
            <a:r>
              <a:rPr lang="en-GB" sz="1200" dirty="0" smtClean="0">
                <a:solidFill>
                  <a:srgbClr val="005DA4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5032" y="4089473"/>
            <a:ext cx="2215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srgbClr val="005DA4"/>
                </a:solidFill>
                <a:latin typeface="Arial"/>
                <a:cs typeface="Arial"/>
              </a:rPr>
              <a:t>Verified  measurement results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srgbClr val="005DA4"/>
                </a:solidFill>
                <a:latin typeface="Arial"/>
                <a:cs typeface="Arial"/>
              </a:rPr>
              <a:t>Predictive notifications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21140" y="1351565"/>
            <a:ext cx="2674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srgbClr val="005DA4"/>
                </a:solidFill>
                <a:latin typeface="Arial"/>
                <a:cs typeface="Arial"/>
              </a:rPr>
              <a:t>Asset owner (expert) + </a:t>
            </a:r>
            <a:r>
              <a:rPr lang="en-GB" sz="1200" smtClean="0">
                <a:solidFill>
                  <a:srgbClr val="005DA4"/>
                </a:solidFill>
                <a:latin typeface="Arial"/>
                <a:cs typeface="Arial"/>
              </a:rPr>
              <a:t>data scientist</a:t>
            </a:r>
            <a:endParaRPr lang="en-GB" sz="1200" dirty="0" smtClean="0">
              <a:solidFill>
                <a:srgbClr val="005DA4"/>
              </a:solidFill>
              <a:latin typeface="Arial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424689" y="1248735"/>
            <a:ext cx="908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smtClean="0">
                <a:solidFill>
                  <a:srgbClr val="005DA4"/>
                </a:solidFill>
                <a:latin typeface="Arial"/>
                <a:cs typeface="Arial"/>
              </a:rPr>
              <a:t>Technician</a:t>
            </a:r>
            <a:endParaRPr lang="en-GB" sz="1200" dirty="0" smtClean="0">
              <a:solidFill>
                <a:srgbClr val="005DA4"/>
              </a:solidFill>
              <a:latin typeface="Arial"/>
              <a:cs typeface="Arial"/>
            </a:endParaRPr>
          </a:p>
        </p:txBody>
      </p:sp>
      <p:pic>
        <p:nvPicPr>
          <p:cNvPr id="56" name="Picture 4" descr="Image result for iot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5" y="4029198"/>
            <a:ext cx="3264000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angle 56"/>
          <p:cNvSpPr/>
          <p:nvPr/>
        </p:nvSpPr>
        <p:spPr bwMode="auto">
          <a:xfrm>
            <a:off x="7982817" y="4728846"/>
            <a:ext cx="2337657" cy="1748357"/>
          </a:xfrm>
          <a:prstGeom prst="rec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SAP EAM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Assets checked by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Measurement trains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Assets to be maintained</a:t>
            </a:r>
          </a:p>
        </p:txBody>
      </p:sp>
      <p:cxnSp>
        <p:nvCxnSpPr>
          <p:cNvPr id="58" name="Elbow Connector 57"/>
          <p:cNvCxnSpPr>
            <a:stCxn id="41" idx="0"/>
            <a:endCxn id="47" idx="2"/>
          </p:cNvCxnSpPr>
          <p:nvPr/>
        </p:nvCxnSpPr>
        <p:spPr bwMode="auto">
          <a:xfrm rot="5400000" flipH="1" flipV="1">
            <a:off x="9524953" y="2455065"/>
            <a:ext cx="687647" cy="520021"/>
          </a:xfrm>
          <a:prstGeom prst="bentConnector3">
            <a:avLst>
              <a:gd name="adj1" fmla="val 50000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Elbow Connector 58"/>
          <p:cNvCxnSpPr>
            <a:endCxn id="39" idx="2"/>
          </p:cNvCxnSpPr>
          <p:nvPr/>
        </p:nvCxnSpPr>
        <p:spPr bwMode="auto">
          <a:xfrm rot="10800000">
            <a:off x="5604356" y="4524906"/>
            <a:ext cx="2270237" cy="1131132"/>
          </a:xfrm>
          <a:prstGeom prst="bentConnector2">
            <a:avLst/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60" name="Picture 2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872" y="1300155"/>
            <a:ext cx="1659731" cy="740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6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04" y="2061111"/>
            <a:ext cx="1654507" cy="674715"/>
          </a:xfrm>
          <a:prstGeom prst="rect">
            <a:avLst/>
          </a:prstGeom>
        </p:spPr>
      </p:pic>
      <p:cxnSp>
        <p:nvCxnSpPr>
          <p:cNvPr id="62" name="Straight Arrow Connector 61"/>
          <p:cNvCxnSpPr/>
          <p:nvPr/>
        </p:nvCxnSpPr>
        <p:spPr bwMode="auto">
          <a:xfrm>
            <a:off x="1584600" y="2052936"/>
            <a:ext cx="290017" cy="0"/>
          </a:xfrm>
          <a:prstGeom prst="straightConnector1">
            <a:avLst/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Rectangle 62"/>
          <p:cNvSpPr/>
          <p:nvPr/>
        </p:nvSpPr>
        <p:spPr bwMode="auto">
          <a:xfrm>
            <a:off x="6872290" y="3919583"/>
            <a:ext cx="967644" cy="605320"/>
          </a:xfrm>
          <a:prstGeom prst="rec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endParaRPr kumimoji="0" lang="en-GB" sz="1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64" name="Straight Arrow Connector 63"/>
          <p:cNvCxnSpPr>
            <a:endCxn id="63" idx="1"/>
          </p:cNvCxnSpPr>
          <p:nvPr/>
        </p:nvCxnSpPr>
        <p:spPr bwMode="auto">
          <a:xfrm flipV="1">
            <a:off x="6469627" y="4222247"/>
            <a:ext cx="402671" cy="9659"/>
          </a:xfrm>
          <a:prstGeom prst="straightConnector1">
            <a:avLst/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Rectangle 64"/>
          <p:cNvSpPr/>
          <p:nvPr/>
        </p:nvSpPr>
        <p:spPr bwMode="auto">
          <a:xfrm>
            <a:off x="62051" y="3182656"/>
            <a:ext cx="1329245" cy="674127"/>
          </a:xfrm>
          <a:prstGeom prst="rec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Train Control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Computer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Interlocking</a:t>
            </a:r>
          </a:p>
        </p:txBody>
      </p:sp>
      <p:cxnSp>
        <p:nvCxnSpPr>
          <p:cNvPr id="66" name="Elbow Connector 65"/>
          <p:cNvCxnSpPr>
            <a:stCxn id="67" idx="3"/>
            <a:endCxn id="39" idx="1"/>
          </p:cNvCxnSpPr>
          <p:nvPr/>
        </p:nvCxnSpPr>
        <p:spPr bwMode="auto">
          <a:xfrm>
            <a:off x="3256484" y="3519712"/>
            <a:ext cx="1469769" cy="716723"/>
          </a:xfrm>
          <a:prstGeom prst="bentConnector3">
            <a:avLst>
              <a:gd name="adj1" fmla="val 16973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Flowchart: Document 66"/>
          <p:cNvSpPr/>
          <p:nvPr/>
        </p:nvSpPr>
        <p:spPr bwMode="auto">
          <a:xfrm>
            <a:off x="1871543" y="3182647"/>
            <a:ext cx="1384940" cy="674128"/>
          </a:xfrm>
          <a:prstGeom prst="flowChartDocumen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Computer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logs</a:t>
            </a:r>
          </a:p>
        </p:txBody>
      </p:sp>
      <p:cxnSp>
        <p:nvCxnSpPr>
          <p:cNvPr id="68" name="Elbow Connector 67"/>
          <p:cNvCxnSpPr>
            <a:stCxn id="65" idx="3"/>
            <a:endCxn id="67" idx="1"/>
          </p:cNvCxnSpPr>
          <p:nvPr/>
        </p:nvCxnSpPr>
        <p:spPr bwMode="auto">
          <a:xfrm>
            <a:off x="1391307" y="3519714"/>
            <a:ext cx="480236" cy="12700"/>
          </a:xfrm>
          <a:prstGeom prst="bentConnector3">
            <a:avLst>
              <a:gd name="adj1" fmla="val 50000"/>
            </a:avLst>
          </a:prstGeom>
          <a:solidFill>
            <a:srgbClr val="00B0F0"/>
          </a:solidFill>
          <a:ln w="317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9" name="Rectangle 68"/>
          <p:cNvSpPr/>
          <p:nvPr/>
        </p:nvSpPr>
        <p:spPr bwMode="auto">
          <a:xfrm>
            <a:off x="4392415" y="3341434"/>
            <a:ext cx="3527796" cy="1387411"/>
          </a:xfrm>
          <a:prstGeom prst="rect">
            <a:avLst/>
          </a:prstGeom>
          <a:noFill/>
          <a:ln w="31750" cap="flat" cmpd="sng" algn="ctr">
            <a:solidFill>
              <a:srgbClr val="005DA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5DA4"/>
                </a:solidFill>
                <a:effectLst/>
                <a:uLnTx/>
                <a:uFillTx/>
                <a:latin typeface="Arial"/>
                <a:cs typeface="Arial"/>
              </a:rPr>
              <a:t>SAMx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rgbClr val="005DA4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5DA4"/>
                </a:solidFill>
                <a:effectLst/>
                <a:uLnTx/>
                <a:uFillTx/>
                <a:latin typeface="Arial"/>
                <a:cs typeface="Arial"/>
              </a:rPr>
              <a:t>AMDx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rgbClr val="005DA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70" name="Elbow Connector 69"/>
          <p:cNvCxnSpPr>
            <a:stCxn id="63" idx="0"/>
          </p:cNvCxnSpPr>
          <p:nvPr/>
        </p:nvCxnSpPr>
        <p:spPr bwMode="auto">
          <a:xfrm rot="16200000" flipH="1" flipV="1">
            <a:off x="6604080" y="3195928"/>
            <a:ext cx="28379" cy="1475691"/>
          </a:xfrm>
          <a:prstGeom prst="bentConnector4">
            <a:avLst>
              <a:gd name="adj1" fmla="val -805525"/>
              <a:gd name="adj2" fmla="val 100052"/>
            </a:avLst>
          </a:prstGeom>
          <a:solidFill>
            <a:srgbClr val="00B0F0"/>
          </a:solidFill>
          <a:ln w="31750" cap="flat" cmpd="sng" algn="ctr">
            <a:solidFill>
              <a:srgbClr val="005DA4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1" name="Rectangle 70"/>
          <p:cNvSpPr/>
          <p:nvPr/>
        </p:nvSpPr>
        <p:spPr bwMode="auto">
          <a:xfrm>
            <a:off x="5065716" y="1958514"/>
            <a:ext cx="1077277" cy="456035"/>
          </a:xfrm>
          <a:prstGeom prst="rect">
            <a:avLst/>
          </a:prstGeom>
          <a:solidFill>
            <a:srgbClr val="005DA4"/>
          </a:solidFill>
          <a:ln w="31750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Portal</a:t>
            </a:r>
          </a:p>
        </p:txBody>
      </p:sp>
      <p:pic>
        <p:nvPicPr>
          <p:cNvPr id="7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453" y="4623328"/>
            <a:ext cx="1875367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TextBox 72"/>
          <p:cNvSpPr txBox="1"/>
          <p:nvPr/>
        </p:nvSpPr>
        <p:spPr>
          <a:xfrm>
            <a:off x="10444443" y="5537680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 smtClean="0">
                <a:solidFill>
                  <a:srgbClr val="005DA4"/>
                </a:solidFill>
                <a:latin typeface="Arial"/>
                <a:cs typeface="Arial"/>
              </a:rPr>
              <a:t>Planner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 txBox="1">
            <a:spLocks/>
          </p:cNvSpPr>
          <p:nvPr/>
        </p:nvSpPr>
        <p:spPr>
          <a:xfrm>
            <a:off x="838200" y="-131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dirty="0" smtClean="0"/>
              <a:t>Asset Management Information Flow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4215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2706"/>
          <a:stretch/>
        </p:blipFill>
        <p:spPr bwMode="auto">
          <a:xfrm>
            <a:off x="7784524" y="3162272"/>
            <a:ext cx="3959878" cy="320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7"/>
            <a:ext cx="10515600" cy="1325563"/>
          </a:xfrm>
        </p:spPr>
        <p:txBody>
          <a:bodyPr/>
          <a:lstStyle/>
          <a:p>
            <a:r>
              <a:rPr lang="en-GB" dirty="0"/>
              <a:t>OBMT</a:t>
            </a:r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82131" y="4762675"/>
            <a:ext cx="333367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For 2018: </a:t>
            </a:r>
          </a:p>
          <a:p>
            <a:r>
              <a:rPr lang="en-GB" dirty="0"/>
              <a:t>-&gt; 3 commercial vehicles </a:t>
            </a:r>
          </a:p>
          <a:p>
            <a:r>
              <a:rPr lang="en-GB" dirty="0"/>
              <a:t>-&gt; 25000/30000 </a:t>
            </a:r>
            <a:r>
              <a:rPr lang="en-GB" dirty="0" err="1"/>
              <a:t>balises</a:t>
            </a:r>
            <a:r>
              <a:rPr lang="en-GB" dirty="0"/>
              <a:t> inspected</a:t>
            </a:r>
          </a:p>
          <a:p>
            <a:r>
              <a:rPr lang="en-GB" dirty="0"/>
              <a:t>-&gt; saves 25000 man hours / year</a:t>
            </a:r>
          </a:p>
          <a:p>
            <a:r>
              <a:rPr lang="en-GB" dirty="0"/>
              <a:t>For 2019:</a:t>
            </a:r>
          </a:p>
          <a:p>
            <a:r>
              <a:rPr lang="en-GB" dirty="0"/>
              <a:t>-&gt; 20 commercial vehicles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commercial trains. </a:t>
            </a:r>
            <a:r>
              <a:rPr lang="en-US" altLang="nl-BE" dirty="0"/>
              <a:t>Real time detection of ETCS equipment (LEU and </a:t>
            </a:r>
            <a:r>
              <a:rPr lang="en-US" altLang="nl-BE" dirty="0" err="1"/>
              <a:t>eurobalise</a:t>
            </a:r>
            <a:r>
              <a:rPr lang="en-US" altLang="nl-BE" dirty="0"/>
              <a:t>)</a:t>
            </a:r>
          </a:p>
          <a:p>
            <a:endParaRPr lang="nl-BE" altLang="nl-BE" dirty="0"/>
          </a:p>
        </p:txBody>
      </p:sp>
      <p:pic>
        <p:nvPicPr>
          <p:cNvPr id="17" name="Picture 2" descr="C:\Users\exh387\AppData\Local\Microsoft\Windows\Temporary Internet Files\Content.Outlook\BL32LKFS\nmbs-desiro-ml-08037-aufgenommen-70279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801" y="4290437"/>
            <a:ext cx="3570761" cy="207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/>
          <p:cNvGrpSpPr/>
          <p:nvPr/>
        </p:nvGrpSpPr>
        <p:grpSpPr>
          <a:xfrm>
            <a:off x="7221375" y="1349873"/>
            <a:ext cx="3055196" cy="1584176"/>
            <a:chOff x="1691680" y="2276872"/>
            <a:chExt cx="7392590" cy="3672408"/>
          </a:xfrm>
        </p:grpSpPr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4005064"/>
              <a:ext cx="3055196" cy="1944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2276872"/>
              <a:ext cx="4080222" cy="2875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1" name="Straight Connector 20"/>
            <p:cNvCxnSpPr/>
            <p:nvPr/>
          </p:nvCxnSpPr>
          <p:spPr bwMode="auto">
            <a:xfrm flipV="1">
              <a:off x="3779912" y="4581128"/>
              <a:ext cx="1728192" cy="100811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427" y="1251466"/>
            <a:ext cx="1547605" cy="168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290" y="1917281"/>
            <a:ext cx="2520280" cy="1689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8" name="Rectangle 7"/>
          <p:cNvSpPr/>
          <p:nvPr/>
        </p:nvSpPr>
        <p:spPr>
          <a:xfrm>
            <a:off x="4781738" y="6311335"/>
            <a:ext cx="6962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nl-BE" dirty="0"/>
              <a:t>Real-time data to diagnostics system and processing by Operation Center</a:t>
            </a:r>
          </a:p>
        </p:txBody>
      </p:sp>
      <p:pic>
        <p:nvPicPr>
          <p:cNvPr id="26" name="Picture 3" descr="X:\I-AM.2\I-AM.21\I-AM.213\3_Tools\OBMT\Foto's 14_11_17\IMG_2912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94" y="1312454"/>
            <a:ext cx="3816417" cy="286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Arrow Connector 26"/>
          <p:cNvCxnSpPr>
            <a:endCxn id="29" idx="0"/>
          </p:cNvCxnSpPr>
          <p:nvPr/>
        </p:nvCxnSpPr>
        <p:spPr bwMode="auto">
          <a:xfrm flipH="1">
            <a:off x="1748965" y="2673880"/>
            <a:ext cx="1334477" cy="157664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endCxn id="30" idx="0"/>
          </p:cNvCxnSpPr>
          <p:nvPr/>
        </p:nvCxnSpPr>
        <p:spPr bwMode="auto">
          <a:xfrm flipH="1">
            <a:off x="546187" y="3071313"/>
            <a:ext cx="676558" cy="1179214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1115475" y="4250527"/>
            <a:ext cx="1266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GPS </a:t>
            </a:r>
          </a:p>
          <a:p>
            <a:pPr algn="l"/>
            <a:r>
              <a:rPr lang="en-GB" sz="1600" dirty="0"/>
              <a:t>antenna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994" y="4250527"/>
            <a:ext cx="596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MVB bus</a:t>
            </a:r>
          </a:p>
        </p:txBody>
      </p:sp>
      <p:cxnSp>
        <p:nvCxnSpPr>
          <p:cNvPr id="31" name="Straight Arrow Connector 30"/>
          <p:cNvCxnSpPr>
            <a:endCxn id="32" idx="0"/>
          </p:cNvCxnSpPr>
          <p:nvPr/>
        </p:nvCxnSpPr>
        <p:spPr bwMode="auto">
          <a:xfrm flipH="1">
            <a:off x="2693319" y="2913321"/>
            <a:ext cx="390123" cy="1324053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2203792" y="4237374"/>
            <a:ext cx="979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/>
              <a:t>GSM antenna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84143" y="1350610"/>
            <a:ext cx="18061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nl-BE" dirty="0"/>
              <a:t>Damaged </a:t>
            </a:r>
            <a:r>
              <a:rPr lang="en-US" altLang="nl-BE" dirty="0" err="1"/>
              <a:t>balise</a:t>
            </a:r>
            <a:endParaRPr lang="en-US" altLang="nl-BE" dirty="0"/>
          </a:p>
        </p:txBody>
      </p:sp>
      <p:sp>
        <p:nvSpPr>
          <p:cNvPr id="50" name="Rectangle 49"/>
          <p:cNvSpPr/>
          <p:nvPr/>
        </p:nvSpPr>
        <p:spPr>
          <a:xfrm>
            <a:off x="10615026" y="576554"/>
            <a:ext cx="12615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nl-BE" dirty="0"/>
              <a:t>Connection</a:t>
            </a:r>
          </a:p>
          <a:p>
            <a:r>
              <a:rPr lang="en-GB" altLang="nl-BE" dirty="0"/>
              <a:t>problem</a:t>
            </a:r>
            <a:endParaRPr lang="en-US" altLang="nl-BE" dirty="0"/>
          </a:p>
        </p:txBody>
      </p:sp>
    </p:spTree>
    <p:extLst>
      <p:ext uri="{BB962C8B-B14F-4D97-AF65-F5344CB8AC3E}">
        <p14:creationId xmlns:p14="http://schemas.microsoft.com/office/powerpoint/2010/main" val="206942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801" y="4386470"/>
            <a:ext cx="3013367" cy="199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82131" y="5375744"/>
            <a:ext cx="38758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400 switches equipped</a:t>
            </a:r>
          </a:p>
          <a:p>
            <a:r>
              <a:rPr lang="en-GB" dirty="0"/>
              <a:t>-&gt; Predictive maintenance</a:t>
            </a:r>
          </a:p>
          <a:p>
            <a:r>
              <a:rPr lang="en-GB" dirty="0"/>
              <a:t>-&gt; 75% of forecasts fail</a:t>
            </a:r>
          </a:p>
          <a:p>
            <a:r>
              <a:rPr lang="en-GB" dirty="0"/>
              <a:t>-&gt; Link with train routes traffic control</a:t>
            </a:r>
          </a:p>
          <a:p>
            <a:r>
              <a:rPr lang="en-GB" dirty="0"/>
              <a:t>-&gt; 50% of mechanical failures predicted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point machines. </a:t>
            </a:r>
            <a:r>
              <a:rPr lang="en-US" altLang="nl-BE" dirty="0"/>
              <a:t>Real time monitoring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sp>
        <p:nvSpPr>
          <p:cNvPr id="8" name="Rectangle 7"/>
          <p:cNvSpPr/>
          <p:nvPr/>
        </p:nvSpPr>
        <p:spPr>
          <a:xfrm>
            <a:off x="4781738" y="6311335"/>
            <a:ext cx="6962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nl-BE" dirty="0"/>
              <a:t>Real-time data to diagnostics system and processing by Operation Center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32152" y="1141118"/>
            <a:ext cx="1537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Worm gear</a:t>
            </a:r>
          </a:p>
          <a:p>
            <a:r>
              <a:rPr lang="en-GB" altLang="nl-BE" dirty="0"/>
              <a:t>Bad alignment</a:t>
            </a:r>
            <a:endParaRPr lang="en-US" altLang="nl-B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578" y="3078258"/>
            <a:ext cx="2476146" cy="115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" y="1171330"/>
            <a:ext cx="3581434" cy="239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976" y="1322858"/>
            <a:ext cx="2476146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7" y="3615611"/>
            <a:ext cx="2772000" cy="170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793" y="4413510"/>
            <a:ext cx="1722824" cy="136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9319489" y="4329968"/>
            <a:ext cx="498763" cy="104969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492" y="1787449"/>
            <a:ext cx="3801113" cy="1866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Up-Down Arrow 4"/>
          <p:cNvSpPr/>
          <p:nvPr/>
        </p:nvSpPr>
        <p:spPr>
          <a:xfrm>
            <a:off x="10604058" y="1956550"/>
            <a:ext cx="124691" cy="121615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own Arrow 1"/>
          <p:cNvSpPr/>
          <p:nvPr/>
        </p:nvSpPr>
        <p:spPr>
          <a:xfrm>
            <a:off x="9264135" y="3251977"/>
            <a:ext cx="273661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2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801" y="4386470"/>
            <a:ext cx="3013367" cy="199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82131" y="5375744"/>
            <a:ext cx="38758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400 switches equipped</a:t>
            </a:r>
          </a:p>
          <a:p>
            <a:r>
              <a:rPr lang="en-GB" dirty="0"/>
              <a:t>-&gt; Predictive maintenance</a:t>
            </a:r>
          </a:p>
          <a:p>
            <a:r>
              <a:rPr lang="en-GB" dirty="0"/>
              <a:t>-&gt; 75% of forecasts fail</a:t>
            </a:r>
          </a:p>
          <a:p>
            <a:r>
              <a:rPr lang="en-GB" dirty="0"/>
              <a:t>-&gt; Link with train routes traffic control</a:t>
            </a:r>
          </a:p>
          <a:p>
            <a:r>
              <a:rPr lang="en-GB" dirty="0"/>
              <a:t>-&gt; 50% of mechanical failures predicted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point machines. </a:t>
            </a:r>
            <a:r>
              <a:rPr lang="en-US" altLang="nl-BE" dirty="0"/>
              <a:t>Real time monitoring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sp>
        <p:nvSpPr>
          <p:cNvPr id="8" name="Rectangle 7"/>
          <p:cNvSpPr/>
          <p:nvPr/>
        </p:nvSpPr>
        <p:spPr>
          <a:xfrm>
            <a:off x="4781738" y="6311335"/>
            <a:ext cx="6962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nl-BE" dirty="0"/>
              <a:t>Real-time data to diagnostics system and processing by Operation Center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578" y="3078258"/>
            <a:ext cx="2476146" cy="115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" y="1171330"/>
            <a:ext cx="3581434" cy="239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976" y="1322858"/>
            <a:ext cx="2476146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7" y="3615611"/>
            <a:ext cx="2772000" cy="170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979" y="906131"/>
            <a:ext cx="3816423" cy="288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672" y="3922245"/>
            <a:ext cx="3499293" cy="242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Oval 43"/>
          <p:cNvSpPr/>
          <p:nvPr/>
        </p:nvSpPr>
        <p:spPr bwMode="auto">
          <a:xfrm>
            <a:off x="8970542" y="1643692"/>
            <a:ext cx="332500" cy="303938"/>
          </a:xfrm>
          <a:prstGeom prst="ellipse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9030444" y="2099850"/>
            <a:ext cx="242316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0813398" y="999692"/>
            <a:ext cx="1010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Wear on</a:t>
            </a:r>
          </a:p>
          <a:p>
            <a:r>
              <a:rPr lang="en-GB" altLang="nl-BE" dirty="0"/>
              <a:t>Sliders</a:t>
            </a:r>
            <a:endParaRPr lang="en-US" altLang="nl-BE" dirty="0"/>
          </a:p>
        </p:txBody>
      </p:sp>
      <p:sp>
        <p:nvSpPr>
          <p:cNvPr id="22" name="Down Arrow 21"/>
          <p:cNvSpPr/>
          <p:nvPr/>
        </p:nvSpPr>
        <p:spPr>
          <a:xfrm rot="19567170">
            <a:off x="9480362" y="3505772"/>
            <a:ext cx="242316" cy="15183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0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82131" y="5500436"/>
            <a:ext cx="4906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AI</a:t>
            </a:r>
          </a:p>
          <a:p>
            <a:r>
              <a:rPr lang="en-GB" dirty="0"/>
              <a:t>-&gt; Deep learning / machine learning</a:t>
            </a:r>
          </a:p>
          <a:p>
            <a:r>
              <a:rPr lang="en-GB" dirty="0"/>
              <a:t>-&gt; </a:t>
            </a:r>
            <a:r>
              <a:rPr lang="en-US" dirty="0"/>
              <a:t>Unsupervised-learning</a:t>
            </a:r>
            <a:br>
              <a:rPr lang="en-US" dirty="0"/>
            </a:br>
            <a:r>
              <a:rPr lang="en-US" dirty="0"/>
              <a:t>-&gt; Dimensionality reduction using neural networks</a:t>
            </a:r>
            <a:endParaRPr lang="en-GB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  <p:pic>
        <p:nvPicPr>
          <p:cNvPr id="37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44" y="1197669"/>
            <a:ext cx="3013367" cy="199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point machines. </a:t>
            </a:r>
            <a:r>
              <a:rPr lang="en-US" altLang="nl-BE" dirty="0"/>
              <a:t>Real time monitoring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pic>
        <p:nvPicPr>
          <p:cNvPr id="23" name="Picture 2" descr="https://upload.wikimedia.org/wikipedia/commons/2/28/Autoencoder_structu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62" y="3193857"/>
            <a:ext cx="3161644" cy="232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756" y="1536953"/>
            <a:ext cx="5999555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Oval 25"/>
          <p:cNvSpPr/>
          <p:nvPr/>
        </p:nvSpPr>
        <p:spPr bwMode="auto">
          <a:xfrm>
            <a:off x="8938564" y="4057952"/>
            <a:ext cx="1008112" cy="1000968"/>
          </a:xfrm>
          <a:prstGeom prst="ellipse">
            <a:avLst/>
          </a:prstGeom>
          <a:noFill/>
          <a:ln w="317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46676" y="4386328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2060"/>
                </a:solidFill>
              </a:rPr>
              <a:t>Normal data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78124" y="1609683"/>
            <a:ext cx="3816424" cy="3909892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9" name="Oval 28"/>
          <p:cNvSpPr/>
          <p:nvPr/>
        </p:nvSpPr>
        <p:spPr bwMode="auto">
          <a:xfrm>
            <a:off x="9517276" y="3193857"/>
            <a:ext cx="1008112" cy="1019291"/>
          </a:xfrm>
          <a:prstGeom prst="ellipse">
            <a:avLst/>
          </a:prstGeom>
          <a:noFill/>
          <a:ln w="317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25388" y="3338923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2060"/>
                </a:solidFill>
              </a:rPr>
              <a:t>Over Current</a:t>
            </a:r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63676" y="1609683"/>
            <a:ext cx="3857546" cy="3909892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2" name="Oval 31"/>
          <p:cNvSpPr/>
          <p:nvPr/>
        </p:nvSpPr>
        <p:spPr bwMode="auto">
          <a:xfrm>
            <a:off x="6562300" y="3611063"/>
            <a:ext cx="1253880" cy="1216860"/>
          </a:xfrm>
          <a:prstGeom prst="ellipse">
            <a:avLst/>
          </a:prstGeom>
          <a:noFill/>
          <a:ln w="317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02260" y="4837734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2060"/>
                </a:solidFill>
              </a:rPr>
              <a:t>Not locking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55082" y="1609680"/>
            <a:ext cx="4006524" cy="406800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66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9" grpId="0" animBg="1"/>
      <p:bldP spid="30" grpId="0"/>
      <p:bldP spid="32" grpId="0" animBg="1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04709" y="1125074"/>
            <a:ext cx="4988164" cy="337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116480" y="3815288"/>
            <a:ext cx="30217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</a:t>
            </a:r>
            <a:r>
              <a:rPr lang="en-US" dirty="0"/>
              <a:t>70 weather stations</a:t>
            </a:r>
            <a:endParaRPr lang="en-GB" dirty="0"/>
          </a:p>
          <a:p>
            <a:r>
              <a:rPr lang="en-GB" dirty="0"/>
              <a:t>-&gt; </a:t>
            </a:r>
            <a:r>
              <a:rPr lang="en-US" dirty="0"/>
              <a:t>Measuring weather</a:t>
            </a:r>
          </a:p>
          <a:p>
            <a:r>
              <a:rPr lang="en-US" dirty="0"/>
              <a:t>-&gt; Environment characteristics</a:t>
            </a:r>
          </a:p>
          <a:p>
            <a:r>
              <a:rPr lang="en-US" dirty="0"/>
              <a:t>     air and rail temperature</a:t>
            </a:r>
          </a:p>
          <a:p>
            <a:r>
              <a:rPr lang="en-US" dirty="0"/>
              <a:t>     humidity and precipitation </a:t>
            </a:r>
          </a:p>
          <a:p>
            <a:r>
              <a:rPr lang="en-US" dirty="0"/>
              <a:t>     (also the type , </a:t>
            </a:r>
            <a:r>
              <a:rPr lang="en-US" dirty="0" err="1"/>
              <a:t>eg</a:t>
            </a:r>
            <a:r>
              <a:rPr lang="en-US" dirty="0"/>
              <a:t>: snow)</a:t>
            </a:r>
          </a:p>
          <a:p>
            <a:r>
              <a:rPr lang="en-US" dirty="0"/>
              <a:t>     predictions</a:t>
            </a:r>
          </a:p>
          <a:p>
            <a:r>
              <a:rPr lang="en-US" dirty="0"/>
              <a:t>Estimated savings</a:t>
            </a:r>
          </a:p>
          <a:p>
            <a:r>
              <a:rPr lang="en-US" dirty="0"/>
              <a:t>20 % on turnout energy bill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point machines. </a:t>
            </a:r>
            <a:r>
              <a:rPr lang="en-US" altLang="nl-BE" dirty="0"/>
              <a:t>Real time monitoring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" y="1171330"/>
            <a:ext cx="3581434" cy="239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 descr="C:\Users\xpv7100\AppData\Local\Microsoft\Windows\Temporary Internet Files\Content.Outlook\JZHXMCHB\DSC_073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074" y="1473400"/>
            <a:ext cx="1395314" cy="432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942" y="4622040"/>
            <a:ext cx="3238301" cy="1756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7172981" y="6412948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Off          Medium	    High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6812942" y="4622043"/>
            <a:ext cx="3238301" cy="2126124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8" name="Straight Connector 27"/>
          <p:cNvCxnSpPr/>
          <p:nvPr/>
        </p:nvCxnSpPr>
        <p:spPr bwMode="auto">
          <a:xfrm flipV="1">
            <a:off x="6812942" y="6422240"/>
            <a:ext cx="3238301" cy="21704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Down Arrow 1"/>
          <p:cNvSpPr/>
          <p:nvPr/>
        </p:nvSpPr>
        <p:spPr>
          <a:xfrm>
            <a:off x="8480478" y="4683840"/>
            <a:ext cx="263026" cy="7169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245432" y="5398468"/>
            <a:ext cx="1537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20% less</a:t>
            </a:r>
          </a:p>
          <a:p>
            <a:r>
              <a:rPr lang="en-GB" altLang="nl-BE" dirty="0"/>
              <a:t>heating </a:t>
            </a:r>
            <a:endParaRPr lang="en-US" altLang="nl-BE" dirty="0"/>
          </a:p>
        </p:txBody>
      </p:sp>
      <p:sp>
        <p:nvSpPr>
          <p:cNvPr id="32" name="Rectangle 31"/>
          <p:cNvSpPr/>
          <p:nvPr/>
        </p:nvSpPr>
        <p:spPr>
          <a:xfrm>
            <a:off x="3397827" y="5951283"/>
            <a:ext cx="31068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AI : Automatic change heating level by trained neural network</a:t>
            </a:r>
            <a:endParaRPr lang="en-US" altLang="nl-BE" dirty="0"/>
          </a:p>
        </p:txBody>
      </p:sp>
    </p:spTree>
    <p:extLst>
      <p:ext uri="{BB962C8B-B14F-4D97-AF65-F5344CB8AC3E}">
        <p14:creationId xmlns:p14="http://schemas.microsoft.com/office/powerpoint/2010/main" val="28462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230781" y="4318526"/>
            <a:ext cx="33032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target : 4000 switches</a:t>
            </a:r>
          </a:p>
          <a:p>
            <a:r>
              <a:rPr lang="en-GB" dirty="0"/>
              <a:t>-&gt; 1 automated control / year</a:t>
            </a:r>
          </a:p>
          <a:p>
            <a:r>
              <a:rPr lang="en-GB" dirty="0"/>
              <a:t>-&gt; data </a:t>
            </a:r>
            <a:r>
              <a:rPr lang="en-GB" dirty="0" err="1"/>
              <a:t>cel</a:t>
            </a:r>
            <a:r>
              <a:rPr lang="en-GB" dirty="0"/>
              <a:t> defect verification</a:t>
            </a:r>
          </a:p>
          <a:p>
            <a:r>
              <a:rPr lang="en-GB" dirty="0"/>
              <a:t>-&gt; laser measurements</a:t>
            </a:r>
          </a:p>
          <a:p>
            <a:r>
              <a:rPr lang="en-GB" dirty="0"/>
              <a:t>-&gt; HD video from different </a:t>
            </a:r>
            <a:r>
              <a:rPr lang="en-GB" dirty="0" smtClean="0"/>
              <a:t>angles</a:t>
            </a:r>
          </a:p>
          <a:p>
            <a:r>
              <a:rPr lang="en-GB" dirty="0" smtClean="0"/>
              <a:t>-&gt; </a:t>
            </a:r>
            <a:r>
              <a:rPr lang="en-GB" dirty="0"/>
              <a:t>saves </a:t>
            </a:r>
            <a:r>
              <a:rPr lang="en-GB" dirty="0" smtClean="0"/>
              <a:t>20000 </a:t>
            </a:r>
            <a:r>
              <a:rPr lang="en-GB" dirty="0"/>
              <a:t>man hours / year</a:t>
            </a:r>
            <a:endParaRPr lang="en-US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539238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Measuring train : </a:t>
            </a:r>
            <a:r>
              <a:rPr lang="en-US" altLang="nl-BE" dirty="0"/>
              <a:t>Automated measuring and visual inspection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" y="1171330"/>
            <a:ext cx="3581434" cy="239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C:\Users\exh387\AppData\Local\Temp\7zE84654946\IMG_7231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543" y="1183445"/>
            <a:ext cx="3456384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/>
          <p:cNvSpPr/>
          <p:nvPr/>
        </p:nvSpPr>
        <p:spPr bwMode="auto">
          <a:xfrm>
            <a:off x="5139566" y="2335573"/>
            <a:ext cx="1368152" cy="1368152"/>
          </a:xfrm>
          <a:prstGeom prst="ellipse">
            <a:avLst/>
          </a:prstGeom>
          <a:noFill/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1" name="Picture 4" descr="C:\Users\exh387\AppData\Local\Temp\7zE03BA8468\IMG_7213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497" y="3952010"/>
            <a:ext cx="3456383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val 22"/>
          <p:cNvSpPr/>
          <p:nvPr/>
        </p:nvSpPr>
        <p:spPr bwMode="auto">
          <a:xfrm>
            <a:off x="4290521" y="4672095"/>
            <a:ext cx="1008112" cy="983623"/>
          </a:xfrm>
          <a:prstGeom prst="ellipse">
            <a:avLst/>
          </a:prstGeom>
          <a:noFill/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9" name="Content Placeholder 2"/>
          <p:cNvSpPr txBox="1">
            <a:spLocks/>
          </p:cNvSpPr>
          <p:nvPr/>
        </p:nvSpPr>
        <p:spPr bwMode="auto">
          <a:xfrm>
            <a:off x="5730688" y="6076575"/>
            <a:ext cx="2880320" cy="648072"/>
          </a:xfrm>
          <a:prstGeom prst="rect">
            <a:avLst/>
          </a:prstGeom>
          <a:ln>
            <a:solidFill>
              <a:schemeClr val="accent1"/>
            </a:solidFill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7800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7188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Font typeface="Arial" charset="0"/>
              <a:buChar char="-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536575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15963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Font typeface="Arial" charset="0"/>
              <a:buChar char="-"/>
              <a:defRPr sz="2000" i="1">
                <a:solidFill>
                  <a:schemeClr val="tx1"/>
                </a:solidFill>
                <a:latin typeface="+mn-lt"/>
                <a:cs typeface="+mn-cs"/>
              </a:defRPr>
            </a:lvl4pPr>
            <a:lvl5pPr marL="895350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13525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8097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2669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7241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177800" lvl="1" indent="0">
              <a:buNone/>
            </a:pPr>
            <a:r>
              <a:rPr lang="en-GB" sz="2000" kern="0" dirty="0"/>
              <a:t>5 cameras associated with 3 lasers per rail</a:t>
            </a:r>
          </a:p>
          <a:p>
            <a:pPr marL="177800" lvl="1" indent="0"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>
              <a:latin typeface="Calibri"/>
            </a:endParaRPr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</p:txBody>
      </p:sp>
      <p:sp>
        <p:nvSpPr>
          <p:cNvPr id="3" name="Down Arrow 2"/>
          <p:cNvSpPr/>
          <p:nvPr/>
        </p:nvSpPr>
        <p:spPr>
          <a:xfrm>
            <a:off x="5581326" y="381528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:\Data\EM130\EM130-Notes\Stage\Présentation rapport de stage\Images\analyseaig.PNG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782" y="3895609"/>
            <a:ext cx="3675690" cy="1723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C:\Data\EM130\EM130-Notes\Stage\Présentation rapport de stage\Images\calibre 2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518" y="5619161"/>
            <a:ext cx="1753999" cy="110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hlinkClick r:id="" action="ppaction://noaction"/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43002" y="1171194"/>
            <a:ext cx="3833470" cy="2610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767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524"/>
            <a:ext cx="10515600" cy="1325563"/>
          </a:xfrm>
        </p:spPr>
        <p:txBody>
          <a:bodyPr/>
          <a:lstStyle/>
          <a:p>
            <a:r>
              <a:rPr lang="en-GB" dirty="0"/>
              <a:t>Pantograph shock detection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1BE2168-6242-4EDC-ABEA-26D48C21C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137" y="178520"/>
            <a:ext cx="4032448" cy="3024336"/>
          </a:xfrm>
          <a:prstGeom prst="rect">
            <a:avLst/>
          </a:prstGeom>
        </p:spPr>
      </p:pic>
      <p:pic>
        <p:nvPicPr>
          <p:cNvPr id="7" name="Picture 3" descr="C:\Users\VBP8501\AppData\Local\Microsoft\Windows\Temporary Internet Files\Content.Outlook\V24B2B33\IMG_20160411_132539.jpg">
            <a:extLst>
              <a:ext uri="{FF2B5EF4-FFF2-40B4-BE49-F238E27FC236}">
                <a16:creationId xmlns:a16="http://schemas.microsoft.com/office/drawing/2014/main" xmlns="" id="{32A1E587-0145-4AF8-82B9-0B90D2676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72137" y="3224757"/>
            <a:ext cx="4032448" cy="151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59760E5-A5D7-4BC5-9573-714BC92F739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303393" y="1268570"/>
            <a:ext cx="4491243" cy="3127565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xmlns="" id="{39C2FD60-E174-4F4E-AB60-30ADE6BCB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1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82"/>
          <a:stretch/>
        </p:blipFill>
        <p:spPr bwMode="auto">
          <a:xfrm>
            <a:off x="82131" y="1336010"/>
            <a:ext cx="3043760" cy="2673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544ED20-E2C5-4AD8-934D-5FFD7515B8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2006" y="4777349"/>
            <a:ext cx="2580007" cy="20806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EF20A0-4E07-4546-8157-60E656F1FE51}"/>
              </a:ext>
            </a:extLst>
          </p:cNvPr>
          <p:cNvSpPr txBox="1"/>
          <p:nvPr/>
        </p:nvSpPr>
        <p:spPr>
          <a:xfrm>
            <a:off x="82133" y="4699999"/>
            <a:ext cx="2762231" cy="1600439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sz="1600" dirty="0"/>
              <a:t>For 2018: </a:t>
            </a:r>
          </a:p>
          <a:p>
            <a:r>
              <a:rPr lang="en-GB" sz="1600" dirty="0"/>
              <a:t>-&gt; 11 commercial vehicles </a:t>
            </a:r>
          </a:p>
          <a:p>
            <a:r>
              <a:rPr lang="en-GB" sz="1600" dirty="0"/>
              <a:t>-&gt; More than 1M km inspected</a:t>
            </a:r>
          </a:p>
          <a:p>
            <a:r>
              <a:rPr lang="en-GB" sz="1600" dirty="0"/>
              <a:t>-&gt; 261k shock alerts received</a:t>
            </a:r>
          </a:p>
          <a:p>
            <a:r>
              <a:rPr lang="en-GB" sz="1600" dirty="0"/>
              <a:t>-&gt; Grouped to 22k locations </a:t>
            </a:r>
          </a:p>
          <a:p>
            <a:r>
              <a:rPr lang="en-GB" sz="1600" dirty="0"/>
              <a:t>-&gt; 472 </a:t>
            </a:r>
            <a:r>
              <a:rPr lang="en-GB" sz="1600" dirty="0" err="1"/>
              <a:t>workorders</a:t>
            </a:r>
            <a:r>
              <a:rPr lang="en-GB" sz="1600" dirty="0"/>
              <a:t> created</a:t>
            </a:r>
            <a:endParaRPr lang="nl-BE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2C6AF28E-7C8D-45FA-87F8-EBE4A47FFD8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300" t="16845" r="7647" b="5811"/>
          <a:stretch/>
        </p:blipFill>
        <p:spPr>
          <a:xfrm>
            <a:off x="4066041" y="3760394"/>
            <a:ext cx="3768899" cy="3015117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xmlns="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2" y="3999726"/>
            <a:ext cx="4210717" cy="66684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91438" tIns="45719" rIns="91438" bIns="45719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commercial trains. Real time detection of catenary problems.</a:t>
            </a:r>
            <a:endParaRPr lang="nl-BE" altLang="nl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7D241CA-3A26-4C2B-ADEC-ABC276DE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A5F58101-8B7A-48B5-B9C0-E6FBFED5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13</a:t>
            </a:fld>
            <a:endParaRPr lang="nl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53BC4A8-F05F-4FB0-980E-FB96B3349DA5}"/>
              </a:ext>
            </a:extLst>
          </p:cNvPr>
          <p:cNvSpPr txBox="1"/>
          <p:nvPr/>
        </p:nvSpPr>
        <p:spPr>
          <a:xfrm>
            <a:off x="82132" y="6354382"/>
            <a:ext cx="4212777" cy="37959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en-GB" b="1" dirty="0"/>
              <a:t>Fully automated from alert to </a:t>
            </a:r>
            <a:r>
              <a:rPr lang="en-GB" b="1" dirty="0" err="1"/>
              <a:t>workorder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31001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-4990"/>
            <a:ext cx="10515600" cy="1325563"/>
          </a:xfrm>
        </p:spPr>
        <p:txBody>
          <a:bodyPr/>
          <a:lstStyle/>
          <a:p>
            <a:r>
              <a:rPr lang="en-GB" dirty="0" err="1"/>
              <a:t>CatVision</a:t>
            </a:r>
            <a:endParaRPr lang="nl-BE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xmlns="" id="{01BD8CD9-0F77-410A-B78D-C9C4FE4112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57" y="1489077"/>
            <a:ext cx="2671505" cy="52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790E074D-B6FD-48D8-819D-EBDCAA1C5C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6" y="2238377"/>
            <a:ext cx="609917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xmlns="" id="{0B50A9BC-5B0B-44A4-B3E3-712D3456F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489" y="1123951"/>
            <a:ext cx="5756705" cy="37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Home made vision systems for catenary applications</a:t>
            </a:r>
            <a:endParaRPr lang="nl-BE" altLang="nl-BE" dirty="0"/>
          </a:p>
        </p:txBody>
      </p:sp>
      <p:pic>
        <p:nvPicPr>
          <p:cNvPr id="7" name="Picture 2" descr="C:\Users\BDV8700\AppData\Local\Temp\SNAGHTML11f5ef4.PNG">
            <a:extLst>
              <a:ext uri="{FF2B5EF4-FFF2-40B4-BE49-F238E27FC236}">
                <a16:creationId xmlns:a16="http://schemas.microsoft.com/office/drawing/2014/main" xmlns="" id="{33A9608D-F1B7-43E0-AAC1-E84C673E2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575" y="1606551"/>
            <a:ext cx="2508251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5">
            <a:extLst>
              <a:ext uri="{FF2B5EF4-FFF2-40B4-BE49-F238E27FC236}">
                <a16:creationId xmlns:a16="http://schemas.microsoft.com/office/drawing/2014/main" xmlns="" id="{BFC66459-F7FA-4FE4-82E2-97795FC1C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700" y="5743575"/>
            <a:ext cx="573088" cy="573088"/>
          </a:xfrm>
          <a:prstGeom prst="ellipse">
            <a:avLst/>
          </a:prstGeom>
          <a:noFill/>
          <a:ln w="317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8" tIns="45719" rIns="91438" b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nl-BE" altLang="nl-BE"/>
          </a:p>
        </p:txBody>
      </p:sp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xmlns="" id="{47969E8C-E80C-4A4F-A760-04325645B748}"/>
              </a:ext>
            </a:extLst>
          </p:cNvPr>
          <p:cNvCxnSpPr>
            <a:cxnSpLocks noChangeShapeType="1"/>
            <a:stCxn id="8" idx="2"/>
          </p:cNvCxnSpPr>
          <p:nvPr/>
        </p:nvCxnSpPr>
        <p:spPr bwMode="auto">
          <a:xfrm flipH="1" flipV="1">
            <a:off x="9377365" y="3232151"/>
            <a:ext cx="1049337" cy="2797175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/>
            <a:tailEnd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8E988475-67A8-4750-A026-4E98F0E408CE}"/>
              </a:ext>
            </a:extLst>
          </p:cNvPr>
          <p:cNvCxnSpPr>
            <a:endCxn id="8" idx="6"/>
          </p:cNvCxnSpPr>
          <p:nvPr/>
        </p:nvCxnSpPr>
        <p:spPr bwMode="auto">
          <a:xfrm flipH="1">
            <a:off x="10999789" y="3092451"/>
            <a:ext cx="498475" cy="2936875"/>
          </a:xfrm>
          <a:prstGeom prst="line">
            <a:avLst/>
          </a:prstGeom>
          <a:ln w="317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3">
            <a:extLst>
              <a:ext uri="{FF2B5EF4-FFF2-40B4-BE49-F238E27FC236}">
                <a16:creationId xmlns:a16="http://schemas.microsoft.com/office/drawing/2014/main" xmlns="" id="{0DD6FDC8-D2A6-4CB0-BFD1-30BCBD24F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2113" y="1679575"/>
            <a:ext cx="2262187" cy="2260600"/>
          </a:xfrm>
          <a:prstGeom prst="ellipse">
            <a:avLst/>
          </a:prstGeom>
          <a:noFill/>
          <a:ln w="762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8" tIns="45719" rIns="91438" b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nl-BE" altLang="nl-BE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xmlns="" id="{CDC40E5D-1437-4B2D-8913-50D73A513B0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8" t="13736" r="19866" b="26130"/>
          <a:stretch/>
        </p:blipFill>
        <p:spPr bwMode="auto">
          <a:xfrm>
            <a:off x="2509195" y="3823141"/>
            <a:ext cx="3706019" cy="2882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4DEF045E-4D97-41EB-A387-C0925AFBA3FC}"/>
              </a:ext>
            </a:extLst>
          </p:cNvPr>
          <p:cNvGrpSpPr/>
          <p:nvPr/>
        </p:nvGrpSpPr>
        <p:grpSpPr>
          <a:xfrm>
            <a:off x="3147623" y="2941528"/>
            <a:ext cx="1689647" cy="668849"/>
            <a:chOff x="4745244" y="1485870"/>
            <a:chExt cx="1689647" cy="66884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xmlns="" id="{98F95691-12C5-44C4-8933-313248592474}"/>
                </a:ext>
              </a:extLst>
            </p:cNvPr>
            <p:cNvGrpSpPr/>
            <p:nvPr/>
          </p:nvGrpSpPr>
          <p:grpSpPr>
            <a:xfrm>
              <a:off x="4745244" y="1656273"/>
              <a:ext cx="168965" cy="405515"/>
              <a:chOff x="2195736" y="2852935"/>
              <a:chExt cx="720080" cy="172819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xmlns="" id="{F8E35BDA-A90A-4558-919E-7F09B59B0D70}"/>
                  </a:ext>
                </a:extLst>
              </p:cNvPr>
              <p:cNvCxnSpPr/>
              <p:nvPr/>
            </p:nvCxnSpPr>
            <p:spPr bwMode="auto">
              <a:xfrm flipH="1">
                <a:off x="2195736" y="2852935"/>
                <a:ext cx="720080" cy="122413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xmlns="" id="{BAE93E7C-6975-47EF-9900-70023532DF06}"/>
                  </a:ext>
                </a:extLst>
              </p:cNvPr>
              <p:cNvCxnSpPr/>
              <p:nvPr/>
            </p:nvCxnSpPr>
            <p:spPr bwMode="auto">
              <a:xfrm>
                <a:off x="2195736" y="4077072"/>
                <a:ext cx="0" cy="50405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xmlns="" id="{479CA9F6-1652-403B-89F7-8FB31AC359A1}"/>
                </a:ext>
              </a:extLst>
            </p:cNvPr>
            <p:cNvSpPr/>
            <p:nvPr/>
          </p:nvSpPr>
          <p:spPr bwMode="auto">
            <a:xfrm>
              <a:off x="4931105" y="1968858"/>
              <a:ext cx="185861" cy="185861"/>
            </a:xfrm>
            <a:prstGeom prst="ellipse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noFill/>
                <a:latin typeface="Arial" charset="0"/>
                <a:cs typeface="Arial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xmlns="" id="{DCDB07DD-7BA8-440D-B639-1C475340AEEB}"/>
                </a:ext>
              </a:extLst>
            </p:cNvPr>
            <p:cNvSpPr/>
            <p:nvPr/>
          </p:nvSpPr>
          <p:spPr bwMode="auto">
            <a:xfrm>
              <a:off x="4914209" y="1943513"/>
              <a:ext cx="236551" cy="118275"/>
            </a:xfrm>
            <a:prstGeom prst="rect">
              <a:avLst/>
            </a:prstGeom>
            <a:solidFill>
              <a:schemeClr val="bg1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latin typeface="Arial" charset="0"/>
                <a:cs typeface="Arial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xmlns="" id="{2D23E25D-7B24-4123-8C6E-E40E205953D9}"/>
                </a:ext>
              </a:extLst>
            </p:cNvPr>
            <p:cNvSpPr/>
            <p:nvPr/>
          </p:nvSpPr>
          <p:spPr bwMode="auto">
            <a:xfrm>
              <a:off x="6063169" y="1968858"/>
              <a:ext cx="185861" cy="185861"/>
            </a:xfrm>
            <a:prstGeom prst="ellipse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noFill/>
                <a:latin typeface="Arial" charset="0"/>
                <a:cs typeface="Arial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16A5B2F5-57D7-472F-B37A-71B2D05179FB}"/>
                </a:ext>
              </a:extLst>
            </p:cNvPr>
            <p:cNvSpPr/>
            <p:nvPr/>
          </p:nvSpPr>
          <p:spPr bwMode="auto">
            <a:xfrm>
              <a:off x="6046272" y="1943513"/>
              <a:ext cx="236551" cy="118275"/>
            </a:xfrm>
            <a:prstGeom prst="rect">
              <a:avLst/>
            </a:prstGeom>
            <a:solidFill>
              <a:schemeClr val="bg1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latin typeface="Arial" charset="0"/>
                <a:cs typeface="Arial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xmlns="" id="{FF6A06E9-18C2-48CA-967E-568145D41D3F}"/>
                </a:ext>
              </a:extLst>
            </p:cNvPr>
            <p:cNvCxnSpPr/>
            <p:nvPr/>
          </p:nvCxnSpPr>
          <p:spPr bwMode="auto">
            <a:xfrm>
              <a:off x="4745244" y="2061788"/>
              <a:ext cx="1689647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xmlns="" id="{5680A3C3-564B-4F14-8B4B-E0462683D3EF}"/>
                </a:ext>
              </a:extLst>
            </p:cNvPr>
            <p:cNvGrpSpPr/>
            <p:nvPr/>
          </p:nvGrpSpPr>
          <p:grpSpPr>
            <a:xfrm flipH="1">
              <a:off x="6265926" y="1656273"/>
              <a:ext cx="168965" cy="405515"/>
              <a:chOff x="2195736" y="2852935"/>
              <a:chExt cx="720080" cy="1728193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xmlns="" id="{648AB71A-C75D-4B86-BF1B-C9FCE04FF015}"/>
                  </a:ext>
                </a:extLst>
              </p:cNvPr>
              <p:cNvCxnSpPr/>
              <p:nvPr/>
            </p:nvCxnSpPr>
            <p:spPr bwMode="auto">
              <a:xfrm flipH="1">
                <a:off x="2195736" y="2852935"/>
                <a:ext cx="720080" cy="122413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xmlns="" id="{E4E7C45F-DE49-4174-B052-1B435ED15BB5}"/>
                  </a:ext>
                </a:extLst>
              </p:cNvPr>
              <p:cNvCxnSpPr/>
              <p:nvPr/>
            </p:nvCxnSpPr>
            <p:spPr bwMode="auto">
              <a:xfrm>
                <a:off x="2195736" y="4077072"/>
                <a:ext cx="0" cy="50405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xmlns="" id="{FC0E0B2D-546E-4BB8-93EA-80D42B5C5344}"/>
                </a:ext>
              </a:extLst>
            </p:cNvPr>
            <p:cNvSpPr/>
            <p:nvPr/>
          </p:nvSpPr>
          <p:spPr bwMode="auto">
            <a:xfrm>
              <a:off x="5437999" y="1611476"/>
              <a:ext cx="270344" cy="152068"/>
            </a:xfrm>
            <a:prstGeom prst="ellipse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latin typeface="Arial" charset="0"/>
                <a:cs typeface="Arial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xmlns="" id="{28185271-160F-4F83-A644-FD67811AE254}"/>
                </a:ext>
              </a:extLst>
            </p:cNvPr>
            <p:cNvSpPr/>
            <p:nvPr/>
          </p:nvSpPr>
          <p:spPr bwMode="auto">
            <a:xfrm>
              <a:off x="5391603" y="1656273"/>
              <a:ext cx="333636" cy="143620"/>
            </a:xfrm>
            <a:prstGeom prst="rect">
              <a:avLst/>
            </a:prstGeom>
            <a:solidFill>
              <a:schemeClr val="bg1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latin typeface="Arial" charset="0"/>
                <a:cs typeface="Arial" charset="0"/>
              </a:endParaRP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xmlns="" id="{4EB20E0C-2CE0-4CBB-B1BE-DE0F4C791D58}"/>
                </a:ext>
              </a:extLst>
            </p:cNvPr>
            <p:cNvCxnSpPr/>
            <p:nvPr/>
          </p:nvCxnSpPr>
          <p:spPr bwMode="auto">
            <a:xfrm>
              <a:off x="4914209" y="1657893"/>
              <a:ext cx="1351717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xmlns="" id="{D2DC4CD7-767B-4447-85EE-CDE952A2C6D6}"/>
                </a:ext>
              </a:extLst>
            </p:cNvPr>
            <p:cNvGrpSpPr/>
            <p:nvPr/>
          </p:nvGrpSpPr>
          <p:grpSpPr>
            <a:xfrm>
              <a:off x="5074725" y="1537645"/>
              <a:ext cx="160516" cy="118628"/>
              <a:chOff x="1943708" y="2347375"/>
              <a:chExt cx="684076" cy="505559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xmlns="" id="{58B399FE-E91D-439E-8F8C-7F2BC3C6DEA6}"/>
                  </a:ext>
                </a:extLst>
              </p:cNvPr>
              <p:cNvCxnSpPr/>
              <p:nvPr/>
            </p:nvCxnSpPr>
            <p:spPr bwMode="auto">
              <a:xfrm flipH="1" flipV="1">
                <a:off x="1943708" y="2662021"/>
                <a:ext cx="612068" cy="190913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xmlns="" id="{F6A93688-F8A8-4347-80B5-1329DC4898B6}"/>
                  </a:ext>
                </a:extLst>
              </p:cNvPr>
              <p:cNvCxnSpPr/>
              <p:nvPr/>
            </p:nvCxnSpPr>
            <p:spPr bwMode="auto">
              <a:xfrm flipV="1">
                <a:off x="1943708" y="2361462"/>
                <a:ext cx="612068" cy="300354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xmlns="" id="{C81CEE30-17B2-4F65-A991-362B37F042B2}"/>
                  </a:ext>
                </a:extLst>
              </p:cNvPr>
              <p:cNvCxnSpPr/>
              <p:nvPr/>
            </p:nvCxnSpPr>
            <p:spPr bwMode="auto">
              <a:xfrm>
                <a:off x="2483768" y="2347375"/>
                <a:ext cx="14401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xmlns="" id="{E446C866-39CD-4ACA-B55A-39FCCA843A7C}"/>
                </a:ext>
              </a:extLst>
            </p:cNvPr>
            <p:cNvGrpSpPr/>
            <p:nvPr/>
          </p:nvGrpSpPr>
          <p:grpSpPr>
            <a:xfrm flipH="1">
              <a:off x="5961790" y="1536659"/>
              <a:ext cx="160516" cy="118628"/>
              <a:chOff x="1943708" y="2347375"/>
              <a:chExt cx="684076" cy="505559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xmlns="" id="{654CBDF2-9CD9-41FB-A03D-023CA1438139}"/>
                  </a:ext>
                </a:extLst>
              </p:cNvPr>
              <p:cNvCxnSpPr/>
              <p:nvPr/>
            </p:nvCxnSpPr>
            <p:spPr bwMode="auto">
              <a:xfrm flipH="1" flipV="1">
                <a:off x="1943708" y="2662021"/>
                <a:ext cx="612068" cy="190913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xmlns="" id="{EC06A84B-2895-4B9D-93B5-FC8B746607AE}"/>
                  </a:ext>
                </a:extLst>
              </p:cNvPr>
              <p:cNvCxnSpPr/>
              <p:nvPr/>
            </p:nvCxnSpPr>
            <p:spPr bwMode="auto">
              <a:xfrm flipV="1">
                <a:off x="1943708" y="2361462"/>
                <a:ext cx="612068" cy="300354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xmlns="" id="{FCDC7B64-2AEA-4CED-991F-47C98498B89A}"/>
                  </a:ext>
                </a:extLst>
              </p:cNvPr>
              <p:cNvCxnSpPr/>
              <p:nvPr/>
            </p:nvCxnSpPr>
            <p:spPr bwMode="auto">
              <a:xfrm>
                <a:off x="2483768" y="2347375"/>
                <a:ext cx="14401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xmlns="" id="{554CA843-7EDB-4F71-8588-7BAC3A69AD14}"/>
                </a:ext>
              </a:extLst>
            </p:cNvPr>
            <p:cNvCxnSpPr/>
            <p:nvPr/>
          </p:nvCxnSpPr>
          <p:spPr bwMode="auto">
            <a:xfrm flipV="1">
              <a:off x="5635976" y="1485870"/>
              <a:ext cx="182057" cy="80815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xmlns="" id="{EA0A56D3-6B56-4E8D-A8E9-3D487B8A9F12}"/>
                </a:ext>
              </a:extLst>
            </p:cNvPr>
            <p:cNvCxnSpPr/>
            <p:nvPr/>
          </p:nvCxnSpPr>
          <p:spPr bwMode="auto">
            <a:xfrm flipH="1" flipV="1">
              <a:off x="5364545" y="1493388"/>
              <a:ext cx="182057" cy="80815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xmlns="" id="{2B1E614A-3887-42D0-A4A1-143D6052696F}"/>
              </a:ext>
            </a:extLst>
          </p:cNvPr>
          <p:cNvGrpSpPr/>
          <p:nvPr/>
        </p:nvGrpSpPr>
        <p:grpSpPr>
          <a:xfrm>
            <a:off x="4063878" y="910411"/>
            <a:ext cx="1442373" cy="1822451"/>
            <a:chOff x="3198983" y="1845689"/>
            <a:chExt cx="1442373" cy="1822450"/>
          </a:xfrm>
        </p:grpSpPr>
        <p:pic>
          <p:nvPicPr>
            <p:cNvPr id="13" name="Picture 3" descr="C:\Users\VBP8501\Qsync\PantoCAT Interaction\EM-201\Voorkant.png">
              <a:extLst>
                <a:ext uri="{FF2B5EF4-FFF2-40B4-BE49-F238E27FC236}">
                  <a16:creationId xmlns:a16="http://schemas.microsoft.com/office/drawing/2014/main" xmlns="" id="{5757D06F-37CA-4EB9-ABCC-07892B17F0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983" y="1845689"/>
              <a:ext cx="1442373" cy="1822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EB5C8B49-B8D8-41D5-BC29-DD786F82229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52677" y="2130964"/>
              <a:ext cx="181251" cy="15775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4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xmlns="" id="{B1622129-BB0F-4C3A-8C24-35F64392BF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154468" y="2130964"/>
              <a:ext cx="181251" cy="15775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4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8A2521C0-EDB5-4CD3-9ACB-87C1B23F52E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56564" y="1936111"/>
              <a:ext cx="235681" cy="5996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4B198AF1-F1F6-4151-B963-FA2A5FA1EC4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22122" y="1936111"/>
              <a:ext cx="235681" cy="5996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xmlns="" id="{48A92095-94E0-4819-8FDE-C24816E8FB48}"/>
                </a:ext>
              </a:extLst>
            </p:cNvPr>
            <p:cNvGrpSpPr/>
            <p:nvPr/>
          </p:nvGrpSpPr>
          <p:grpSpPr>
            <a:xfrm>
              <a:off x="4102281" y="2616200"/>
              <a:ext cx="384073" cy="372730"/>
              <a:chOff x="4055533" y="2616200"/>
              <a:chExt cx="384073" cy="37273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xmlns="" id="{352CB8E5-9159-4FE4-BB48-3ACF036CFF3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055533" y="2616200"/>
                <a:ext cx="384073" cy="1703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xmlns="" id="{DB948B08-F996-4E5A-932F-33AAE96388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088943" y="2793229"/>
                <a:ext cx="350663" cy="195701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xmlns="" id="{046D7C6E-BA80-423D-A7BB-269AE0946863}"/>
                </a:ext>
              </a:extLst>
            </p:cNvPr>
            <p:cNvGrpSpPr/>
            <p:nvPr/>
          </p:nvGrpSpPr>
          <p:grpSpPr>
            <a:xfrm flipH="1">
              <a:off x="3335571" y="2616200"/>
              <a:ext cx="384073" cy="372730"/>
              <a:chOff x="4207933" y="2768600"/>
              <a:chExt cx="384073" cy="372730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xmlns="" id="{F6072366-A62E-48E0-B8B6-27F1BBF15B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207933" y="2768600"/>
                <a:ext cx="384073" cy="1703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xmlns="" id="{9ACB927F-4A5E-4CB0-9161-67D799A3A6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241343" y="2945629"/>
                <a:ext cx="350663" cy="195701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</p:grp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C7557C4-B838-4860-A071-BDBA3FF5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xmlns="" id="{FB78263A-7750-4277-8210-00982C6B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153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86B77D-0D7C-45C3-AAED-D9C60CC1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20"/>
            <a:ext cx="10515600" cy="1325563"/>
          </a:xfrm>
        </p:spPr>
        <p:txBody>
          <a:bodyPr/>
          <a:lstStyle/>
          <a:p>
            <a:r>
              <a:rPr lang="en-GB" dirty="0"/>
              <a:t>Train monitoring system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508B363-2B36-438B-956D-B02DA48A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1115A46-C532-4490-BF8F-0A48665C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15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C8AC60E-15D9-424D-A65E-28F3C9954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2" y="862455"/>
            <a:ext cx="2437619" cy="294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A8FF4ED-1617-4753-8DBD-020347B5B4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1" y="3960960"/>
            <a:ext cx="3511693" cy="2653425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xmlns="" id="{C6421D73-F400-40BA-A442-FBBE3437FE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7" b="18666"/>
          <a:stretch/>
        </p:blipFill>
        <p:spPr bwMode="auto">
          <a:xfrm>
            <a:off x="8259521" y="73521"/>
            <a:ext cx="3855668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BA1A710-36B3-43C7-AA8B-4A4CF6B1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120" y="4153147"/>
            <a:ext cx="4533705" cy="246123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xmlns="" id="{FF81BFB2-828E-4C7E-B270-2F7A42770D4F}"/>
              </a:ext>
            </a:extLst>
          </p:cNvPr>
          <p:cNvSpPr/>
          <p:nvPr/>
        </p:nvSpPr>
        <p:spPr bwMode="auto">
          <a:xfrm>
            <a:off x="9922739" y="1156804"/>
            <a:ext cx="216024" cy="21602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38" tIns="45719" rIns="91438" bIns="45719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51021F1-006B-4B0D-B044-A83527F0F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901" y="4970602"/>
            <a:ext cx="3821369" cy="1643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58AB95D-B402-44EE-AC4B-18B7C061D4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062" y="1501084"/>
            <a:ext cx="5143607" cy="29922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950225F-8FD0-41C1-B3C0-BA1504E8CDFC}"/>
              </a:ext>
            </a:extLst>
          </p:cNvPr>
          <p:cNvSpPr txBox="1"/>
          <p:nvPr/>
        </p:nvSpPr>
        <p:spPr>
          <a:xfrm>
            <a:off x="3722802" y="3747218"/>
            <a:ext cx="3896196" cy="1241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91438" tIns="45719" rIns="91438" bIns="45719" rtlCol="0">
            <a:spAutoFit/>
          </a:bodyPr>
          <a:lstStyle/>
          <a:p>
            <a:r>
              <a:rPr lang="en-GB" dirty="0"/>
              <a:t>Currently for one type pantograph:</a:t>
            </a:r>
          </a:p>
          <a:p>
            <a:pPr marL="285744" indent="-285744">
              <a:buFontTx/>
              <a:buChar char="-"/>
            </a:pPr>
            <a:r>
              <a:rPr lang="en-GB" dirty="0"/>
              <a:t>3mm accurate carbon thickness</a:t>
            </a:r>
          </a:p>
          <a:p>
            <a:pPr marL="285744" indent="-285744">
              <a:buFontTx/>
              <a:buChar char="-"/>
            </a:pPr>
            <a:r>
              <a:rPr lang="en-GB" dirty="0"/>
              <a:t>10% false/positive &amp; false/negative</a:t>
            </a:r>
          </a:p>
          <a:p>
            <a:pPr marL="285744" indent="-285744">
              <a:buFontTx/>
              <a:buChar char="-"/>
            </a:pPr>
            <a:r>
              <a:rPr lang="en-GB" dirty="0"/>
              <a:t>Deformation check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0509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25563"/>
          </a:xfrm>
        </p:spPr>
        <p:txBody>
          <a:bodyPr/>
          <a:lstStyle/>
          <a:p>
            <a:r>
              <a:rPr lang="en-GB" dirty="0" err="1"/>
              <a:t>SpadWatch</a:t>
            </a:r>
            <a:endParaRPr lang="nl-BE" dirty="0"/>
          </a:p>
        </p:txBody>
      </p:sp>
      <p:pic>
        <p:nvPicPr>
          <p:cNvPr id="8" name="Picture 4" descr="Afbeeldingsresultaat voor google app store">
            <a:hlinkClick r:id="rId2"/>
            <a:extLst>
              <a:ext uri="{FF2B5EF4-FFF2-40B4-BE49-F238E27FC236}">
                <a16:creationId xmlns:a16="http://schemas.microsoft.com/office/drawing/2014/main" xmlns="" id="{E3802370-C1CA-42C5-94BB-E49815311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84" y="54534"/>
            <a:ext cx="1788288" cy="69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lh3.googleusercontent.com/5sKno6Io4c0e8auWLYY9pvegaYW7wh1cMTiniQux6vViB0LFX0pEiv4KC9iTEM5-VbObl-HFWsxLtN_LClFWgTmrO-Q9e280xppFHpXuU38hMYusCZw6rafGqkN8tdMuJKHC7kc-it36mmUU1WJaTQrcIWoepx-XWu5bC_3eabKjPjiToueIztG-nRo7Eh6vNC-7Bx3g0NhtfkDagL4JTdaIqQpUbmIgR4_ZvQsOioohi02Ij883suJXLWTTLCqpzylrGMOe_OZgKSjhp5DSV_KbvUXtCO_QU2znCWu8htlXDzml9xCVD9BX6hRNkcokYWt0n_g7Z8V4wWM8ftruJleY0Ykgudm8eo5aplBUQxKlFnAjZpDXgb8NQ4iLeBR5g83F_JohmFx7m9nKusaRwDx667Sx2GxKvWchvqsH5As-s4M6C00S5iBEu366I4aOBqleVkTZ5p4PQmQWvKGD2b4fqHLheVmqW_hDBTziJNxEuDJohsZappDQ9hJylfiFn2LiYILTiou9PBdkjDH72-lAvbBcyi8xiH3-_myJ9HLd14G5VczYjC_Owz7O2EhZQgGJJK6xh6JD-IEXLCkTp3vZoPASamM-XusHCM4FPLXdakJEwKmLmTMydItKVuhb=w552-h980-no">
            <a:extLst>
              <a:ext uri="{FF2B5EF4-FFF2-40B4-BE49-F238E27FC236}">
                <a16:creationId xmlns:a16="http://schemas.microsoft.com/office/drawing/2014/main" xmlns="" id="{0756F57A-7AFD-47F0-90ED-B3949BA29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548" y="1690688"/>
            <a:ext cx="2534256" cy="45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D894791-33E7-4CC7-8459-CB04F66F4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889" y="5167312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01EE0DE-254E-43C7-B919-865045BFDC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14" y="3230627"/>
            <a:ext cx="6076951" cy="2967261"/>
          </a:xfrm>
          <a:prstGeom prst="rect">
            <a:avLst/>
          </a:prstGeom>
        </p:spPr>
      </p:pic>
      <p:pic>
        <p:nvPicPr>
          <p:cNvPr id="7" name="Picture 2" descr="Afbeeldingsresultaat voor Huawei Watch 2">
            <a:extLst>
              <a:ext uri="{FF2B5EF4-FFF2-40B4-BE49-F238E27FC236}">
                <a16:creationId xmlns:a16="http://schemas.microsoft.com/office/drawing/2014/main" xmlns="" id="{498E1B1D-3C5C-40F9-ADE9-CD87BFD90C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0" r="20272"/>
          <a:stretch/>
        </p:blipFill>
        <p:spPr bwMode="auto">
          <a:xfrm>
            <a:off x="351971" y="1690688"/>
            <a:ext cx="2952328" cy="360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xmlns="" id="{8CADBC2B-7506-4906-954F-10A53E1CD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370" y="1563667"/>
            <a:ext cx="5290132" cy="152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for </a:t>
            </a:r>
            <a:r>
              <a:rPr lang="en-GB" altLang="nl-BE" dirty="0" err="1"/>
              <a:t>worktrain</a:t>
            </a:r>
            <a:r>
              <a:rPr lang="en-GB" altLang="nl-BE" dirty="0"/>
              <a:t>/crane drivers and guides.</a:t>
            </a:r>
          </a:p>
          <a:p>
            <a:r>
              <a:rPr lang="en-GB" altLang="nl-BE" dirty="0"/>
              <a:t>Improve safety on the network.</a:t>
            </a:r>
          </a:p>
          <a:p>
            <a:endParaRPr lang="en-GB" altLang="nl-BE" dirty="0"/>
          </a:p>
          <a:p>
            <a:r>
              <a:rPr lang="en-GB" altLang="nl-BE" dirty="0"/>
              <a:t>The watch warns the </a:t>
            </a:r>
            <a:r>
              <a:rPr lang="en-GB" altLang="nl-BE" dirty="0" err="1"/>
              <a:t>worktrain</a:t>
            </a:r>
            <a:r>
              <a:rPr lang="en-GB" altLang="nl-BE" dirty="0"/>
              <a:t> driver when he approaches a signal limiting his </a:t>
            </a:r>
            <a:r>
              <a:rPr lang="en-GB" altLang="nl-BE" dirty="0" err="1"/>
              <a:t>workzone</a:t>
            </a:r>
            <a:r>
              <a:rPr lang="en-GB" altLang="nl-BE" dirty="0"/>
              <a:t>. </a:t>
            </a:r>
            <a:endParaRPr lang="nl-BE" alt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4C3FAB6-B806-4472-BBE2-EFB3F65F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642C959-8BAF-47D7-A891-D7CEA688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4192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DAC0CC-F3EC-4AAE-9B60-F8CBD499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AMDM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AA584CD-950C-4462-8E6F-3427BF3EA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42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5248CFC-3122-42A0-B3A8-5774631DF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849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DE33B21F-B7AF-4F6F-A56B-3187056327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55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E2793262-9921-4D11-AE0F-6AB105E9BC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279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4" descr="Afbeeldingsresultaat voor google app store">
            <a:hlinkClick r:id="rId6"/>
            <a:extLst>
              <a:ext uri="{FF2B5EF4-FFF2-40B4-BE49-F238E27FC236}">
                <a16:creationId xmlns:a16="http://schemas.microsoft.com/office/drawing/2014/main" xmlns="" id="{8AC80DD7-7100-4ADA-A018-BE38D8088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327" y="74134"/>
            <a:ext cx="1788288" cy="69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xmlns="" id="{B1F475BE-CB91-45C6-892A-67E9F543E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394" y="766198"/>
            <a:ext cx="4897495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Cloud app with useful tools for technicians</a:t>
            </a:r>
          </a:p>
          <a:p>
            <a:r>
              <a:rPr lang="en-GB" altLang="nl-BE" dirty="0"/>
              <a:t>&gt;1500 users, estimated 20 men days budget</a:t>
            </a:r>
            <a:endParaRPr lang="nl-BE" alt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F366CB-048B-414C-8428-4A8CDE2F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496C4ED-3E96-45EF-BD05-A7033ED4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188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C7E4FE-9D9D-46E3-9DA1-DA9E7370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Questions?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DCC4DDF-59B4-4717-96BE-22F07660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E5C-C0BB-4F4D-A803-181F28B695C9}" type="slidenum">
              <a:rPr lang="nl-BE" smtClean="0"/>
              <a:t>18</a:t>
            </a:fld>
            <a:endParaRPr lang="nl-BE"/>
          </a:p>
        </p:txBody>
      </p:sp>
      <p:pic>
        <p:nvPicPr>
          <p:cNvPr id="18434" name="Picture 2" descr="Afbeeldingsresultaat voor come talk to me icon">
            <a:extLst>
              <a:ext uri="{FF2B5EF4-FFF2-40B4-BE49-F238E27FC236}">
                <a16:creationId xmlns:a16="http://schemas.microsoft.com/office/drawing/2014/main" xmlns="" id="{D377C65E-9B1E-45C8-9E14-D0F4581AA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55" y="816497"/>
            <a:ext cx="5450724" cy="329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Afbeeldingsresultaat voor conference booth pictogram">
            <a:extLst>
              <a:ext uri="{FF2B5EF4-FFF2-40B4-BE49-F238E27FC236}">
                <a16:creationId xmlns:a16="http://schemas.microsoft.com/office/drawing/2014/main" xmlns="" id="{B22A333C-AF41-42A5-9657-0E34C5ECA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217" y="3536951"/>
            <a:ext cx="37814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839B1DE-3415-46EF-8A42-ECFE1F88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270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Microsoft Office PowerPoint</Application>
  <PresentationFormat>Custom</PresentationFormat>
  <Paragraphs>176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Digitalisation in maintenance (Big Data) @ Infrabel</vt:lpstr>
      <vt:lpstr>Overview</vt:lpstr>
      <vt:lpstr>Infrabel</vt:lpstr>
      <vt:lpstr>SAM Platform</vt:lpstr>
      <vt:lpstr>PowerPoint Presentation</vt:lpstr>
      <vt:lpstr>PowerPoint Presentation</vt:lpstr>
      <vt:lpstr>OBMT</vt:lpstr>
      <vt:lpstr>Switch</vt:lpstr>
      <vt:lpstr>Switch</vt:lpstr>
      <vt:lpstr>Switch</vt:lpstr>
      <vt:lpstr>Switch</vt:lpstr>
      <vt:lpstr>Switch</vt:lpstr>
      <vt:lpstr>Pantograph shock detection</vt:lpstr>
      <vt:lpstr>CatVision</vt:lpstr>
      <vt:lpstr>Train monitoring system</vt:lpstr>
      <vt:lpstr>SpadWatch</vt:lpstr>
      <vt:lpstr>AMDM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Vanden Auweele Mathias</dc:creator>
  <cp:lastModifiedBy>Verlinden Pieter</cp:lastModifiedBy>
  <cp:revision>52</cp:revision>
  <dcterms:created xsi:type="dcterms:W3CDTF">2017-12-13T09:19:51Z</dcterms:created>
  <dcterms:modified xsi:type="dcterms:W3CDTF">2019-03-11T12:47:35Z</dcterms:modified>
</cp:coreProperties>
</file>